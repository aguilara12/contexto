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1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7.xml" ContentType="application/vnd.openxmlformats-officedocument.theme+xml"/>
  <Override PartName="/ppt/handoutMasters/handoutMaster1.xml" ContentType="application/vnd.openxmlformats-officedocument.presentationml.handoutMaster+xml"/>
  <Override PartName="/ppt/theme/theme6.xml" ContentType="application/vnd.openxmlformats-officedocument.theme+xml"/>
  <Override PartName="/ppt/theme/theme5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88" r:id="rId3"/>
    <p:sldMasterId id="2147483700" r:id="rId4"/>
    <p:sldMasterId id="2147483739" r:id="rId5"/>
  </p:sldMasterIdLst>
  <p:notesMasterIdLst>
    <p:notesMasterId r:id="rId26"/>
  </p:notesMasterIdLst>
  <p:handoutMasterIdLst>
    <p:handoutMasterId r:id="rId27"/>
  </p:handoutMasterIdLst>
  <p:sldIdLst>
    <p:sldId id="256" r:id="rId6"/>
    <p:sldId id="264" r:id="rId7"/>
    <p:sldId id="257" r:id="rId8"/>
    <p:sldId id="265" r:id="rId9"/>
    <p:sldId id="266" r:id="rId10"/>
    <p:sldId id="267" r:id="rId11"/>
    <p:sldId id="263" r:id="rId12"/>
    <p:sldId id="260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6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CC0000"/>
    <a:srgbClr val="009900"/>
    <a:srgbClr val="CCCC00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7" autoAdjust="0"/>
    <p:restoredTop sz="92346" autoAdjust="0"/>
  </p:normalViewPr>
  <p:slideViewPr>
    <p:cSldViewPr snapToGrid="0">
      <p:cViewPr varScale="1">
        <p:scale>
          <a:sx n="147" d="100"/>
          <a:sy n="147" d="100"/>
        </p:scale>
        <p:origin x="92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1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1086"/>
    </p:cViewPr>
  </p:sorterViewPr>
  <p:notesViewPr>
    <p:cSldViewPr snapToGrid="0">
      <p:cViewPr varScale="1">
        <p:scale>
          <a:sx n="135" d="100"/>
          <a:sy n="135" d="100"/>
        </p:scale>
        <p:origin x="472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customXml" Target="../customXml/item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CB6EE-8D1F-40AD-AC0E-3E6E2416E997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54AE47-DDF8-4620-9AC9-BD08CB75E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24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F387C-85B1-47EF-B432-FCA19460DFE5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FE2F9-AA78-4E14-B53B-A08F6925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82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8FBE4-AB68-400F-8494-85E4E6C24AAE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095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INTEL_LOGO_RGB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774767" y="473075"/>
            <a:ext cx="1667933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328085" y="2741614"/>
            <a:ext cx="11273367" cy="795337"/>
          </a:xfrm>
        </p:spPr>
        <p:txBody>
          <a:bodyPr anchor="b"/>
          <a:lstStyle>
            <a:lvl1pPr algn="r">
              <a:defRPr sz="4000">
                <a:solidFill>
                  <a:srgbClr val="0860A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07485" y="3709989"/>
            <a:ext cx="10957983" cy="1590675"/>
          </a:xfrm>
        </p:spPr>
        <p:txBody>
          <a:bodyPr/>
          <a:lstStyle>
            <a:lvl1pPr marL="0" indent="0" algn="r">
              <a:lnSpc>
                <a:spcPct val="85000"/>
              </a:lnSpc>
              <a:buFontTx/>
              <a:buNone/>
              <a:defRPr sz="1600" b="1">
                <a:solidFill>
                  <a:srgbClr val="080808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60383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371600"/>
            <a:ext cx="10968567" cy="3308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23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0339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684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231900"/>
            <a:ext cx="5382684" cy="3308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231900"/>
            <a:ext cx="5382683" cy="3308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558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3395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2564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279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0206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076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8563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7084" y="330200"/>
            <a:ext cx="2741083" cy="4210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1" y="330200"/>
            <a:ext cx="8024284" cy="4210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2563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2B84-4BEE-4C17-9E34-A3FB22619658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919E-2127-4E72-BB62-E7FF91B4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27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2B84-4BEE-4C17-9E34-A3FB22619658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919E-2127-4E72-BB62-E7FF91B4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44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2B84-4BEE-4C17-9E34-A3FB22619658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919E-2127-4E72-BB62-E7FF91B4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8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2B84-4BEE-4C17-9E34-A3FB22619658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919E-2127-4E72-BB62-E7FF91B4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72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2B84-4BEE-4C17-9E34-A3FB22619658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919E-2127-4E72-BB62-E7FF91B4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64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2B84-4BEE-4C17-9E34-A3FB22619658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919E-2127-4E72-BB62-E7FF91B4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482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2B84-4BEE-4C17-9E34-A3FB22619658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919E-2127-4E72-BB62-E7FF91B4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71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2B84-4BEE-4C17-9E34-A3FB22619658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919E-2127-4E72-BB62-E7FF91B4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6286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2B84-4BEE-4C17-9E34-A3FB22619658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919E-2127-4E72-BB62-E7FF91B4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446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2B84-4BEE-4C17-9E34-A3FB22619658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919E-2127-4E72-BB62-E7FF91B4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730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2B84-4BEE-4C17-9E34-A3FB22619658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919E-2127-4E72-BB62-E7FF91B4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361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2B84-4BEE-4C17-9E34-A3FB22619658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919E-2127-4E72-BB62-E7FF91B4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450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9CD-7337-4D0B-8CEB-19E1C9A8EF67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7120-2931-43EB-AE3A-37CFFF381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6177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9CD-7337-4D0B-8CEB-19E1C9A8EF67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7120-2931-43EB-AE3A-37CFFF381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971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9CD-7337-4D0B-8CEB-19E1C9A8EF67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7120-2931-43EB-AE3A-37CFFF381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94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9CD-7337-4D0B-8CEB-19E1C9A8EF67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7120-2931-43EB-AE3A-37CFFF381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476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9CD-7337-4D0B-8CEB-19E1C9A8EF67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7120-2931-43EB-AE3A-37CFFF381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313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9CD-7337-4D0B-8CEB-19E1C9A8EF67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7120-2931-43EB-AE3A-37CFFF381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03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9CD-7337-4D0B-8CEB-19E1C9A8EF67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7120-2931-43EB-AE3A-37CFFF381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834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9CD-7337-4D0B-8CEB-19E1C9A8EF67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7120-2931-43EB-AE3A-37CFFF381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70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9CD-7337-4D0B-8CEB-19E1C9A8EF67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7120-2931-43EB-AE3A-37CFFF381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061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9CD-7337-4D0B-8CEB-19E1C9A8EF67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7120-2931-43EB-AE3A-37CFFF381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9046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9CD-7337-4D0B-8CEB-19E1C9A8EF67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7120-2931-43EB-AE3A-37CFFF381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bg>
      <p:bgPr>
        <a:gradFill>
          <a:gsLst>
            <a:gs pos="5000">
              <a:srgbClr val="0070C0"/>
            </a:gs>
            <a:gs pos="95000">
              <a:srgbClr val="002060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6185857"/>
            <a:ext cx="12192000" cy="685800"/>
          </a:xfrm>
          <a:prstGeom prst="rect">
            <a:avLst/>
          </a:prstGeom>
          <a:gradFill>
            <a:gsLst>
              <a:gs pos="5000">
                <a:srgbClr val="0070C0"/>
              </a:gs>
              <a:gs pos="95000">
                <a:srgbClr val="002060"/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 descr="intel_rgb_3000.png"/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292970"/>
            <a:ext cx="914400" cy="4624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641" y="6292970"/>
            <a:ext cx="988332" cy="444749"/>
          </a:xfrm>
          <a:prstGeom prst="rect">
            <a:avLst/>
          </a:prstGeom>
          <a:effectLst>
            <a:glow rad="139700">
              <a:schemeClr val="bg1">
                <a:alpha val="40000"/>
              </a:schemeClr>
            </a:glow>
          </a:effec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5367" y="409575"/>
            <a:ext cx="10972800" cy="889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0"/>
          </p:nvPr>
        </p:nvSpPr>
        <p:spPr>
          <a:xfrm>
            <a:off x="660400" y="1676400"/>
            <a:ext cx="10922000" cy="4114800"/>
          </a:xfrm>
          <a:prstGeom prst="rect">
            <a:avLst/>
          </a:prstGeom>
        </p:spPr>
        <p:txBody>
          <a:bodyPr anchor="t" anchorCtr="0"/>
          <a:lstStyle>
            <a:lvl1pPr marL="403225" indent="-403225" algn="just">
              <a:lnSpc>
                <a:spcPct val="110000"/>
              </a:lnSpc>
              <a:spcBef>
                <a:spcPts val="240"/>
              </a:spcBef>
              <a:buSzPct val="80000"/>
              <a:buFont typeface="Wingdings" pitchFamily="2" charset="2"/>
              <a:buChar char="q"/>
              <a:defRPr>
                <a:latin typeface="Arial" pitchFamily="34" charset="0"/>
                <a:cs typeface="Arial" pitchFamily="34" charset="0"/>
              </a:defRPr>
            </a:lvl1pPr>
            <a:lvl2pPr marL="742913" indent="-285736">
              <a:buSzPct val="120000"/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2pPr>
            <a:lvl3pPr marL="1142943" indent="-228589">
              <a:buFont typeface="Arial" pitchFamily="34" charset="0"/>
              <a:buChar char="‒"/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775200" y="6488668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/>
            <a:r>
              <a:rPr lang="en-US" sz="1100" dirty="0">
                <a:solidFill>
                  <a:prstClr val="white"/>
                </a:solidFill>
              </a:rPr>
              <a:t>Intel Confidential  </a:t>
            </a:r>
            <a:fld id="{195ACA75-EF69-4DAA-A38F-20E9860A0A01}" type="slidenum">
              <a:rPr lang="en-US" sz="1100">
                <a:solidFill>
                  <a:prstClr val="white"/>
                </a:solidFill>
              </a:rPr>
              <a:pPr algn="ctr" defTabSz="914354"/>
              <a:t>‹#›</a:t>
            </a:fld>
            <a:endParaRPr lang="en-US" sz="1100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185857"/>
            <a:ext cx="12192000" cy="685800"/>
          </a:xfrm>
          <a:prstGeom prst="rect">
            <a:avLst/>
          </a:prstGeom>
          <a:gradFill>
            <a:gsLst>
              <a:gs pos="5000">
                <a:srgbClr val="0070C0"/>
              </a:gs>
              <a:gs pos="95000">
                <a:srgbClr val="002060"/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9" name="Picture 8" descr="intel_rgb_3000.png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292970"/>
            <a:ext cx="914400" cy="4624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641" y="6292970"/>
            <a:ext cx="988332" cy="444749"/>
          </a:xfrm>
          <a:prstGeom prst="rect">
            <a:avLst/>
          </a:prstGeom>
          <a:effectLst>
            <a:glow rad="139700">
              <a:schemeClr val="bg1">
                <a:alpha val="40000"/>
              </a:schemeClr>
            </a:glow>
          </a:effectLst>
        </p:spPr>
      </p:pic>
      <p:sp>
        <p:nvSpPr>
          <p:cNvPr id="11" name="TextBox 10"/>
          <p:cNvSpPr txBox="1"/>
          <p:nvPr userDrawn="1"/>
        </p:nvSpPr>
        <p:spPr>
          <a:xfrm>
            <a:off x="4775200" y="6488668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/>
            <a:r>
              <a:rPr lang="en-US" sz="1100" dirty="0">
                <a:solidFill>
                  <a:prstClr val="white"/>
                </a:solidFill>
              </a:rPr>
              <a:t>Intel Confidential  </a:t>
            </a:r>
            <a:fld id="{195ACA75-EF69-4DAA-A38F-20E9860A0A01}" type="slidenum">
              <a:rPr lang="en-US" sz="1100">
                <a:solidFill>
                  <a:prstClr val="white"/>
                </a:solidFill>
              </a:rPr>
              <a:pPr algn="ctr" defTabSz="914354"/>
              <a:t>‹#›</a:t>
            </a:fld>
            <a:endParaRPr lang="en-US" sz="11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422027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110260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09602" y="2578833"/>
            <a:ext cx="6187078" cy="677108"/>
          </a:xfrm>
          <a:prstGeom prst="rect">
            <a:avLst/>
          </a:prstGeo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170987" y="4353386"/>
            <a:ext cx="5955651" cy="10054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>
                <a:latin typeface="Verdana" charset="0"/>
              </a:rPr>
              <a:t>Additional Info</a:t>
            </a:r>
            <a:endParaRPr lang="en-US" dirty="0">
              <a:latin typeface="Verdana" charset="0"/>
            </a:endParaRPr>
          </a:p>
          <a:p>
            <a:endParaRPr lang="en-US" dirty="0"/>
          </a:p>
        </p:txBody>
      </p:sp>
      <p:pic>
        <p:nvPicPr>
          <p:cNvPr id="9" name="Picture 8" descr="intel_rgb_3000.png"/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292970"/>
            <a:ext cx="914400" cy="46240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641" y="6292970"/>
            <a:ext cx="988332" cy="444749"/>
          </a:xfrm>
          <a:prstGeom prst="rect">
            <a:avLst/>
          </a:prstGeom>
          <a:effectLst>
            <a:glow rad="139700">
              <a:schemeClr val="bg1">
                <a:alpha val="40000"/>
              </a:schemeClr>
            </a:glow>
          </a:effectLst>
        </p:spPr>
      </p:pic>
      <p:pic>
        <p:nvPicPr>
          <p:cNvPr id="7" name="Picture 6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11026000" cy="3822320"/>
          </a:xfrm>
          <a:prstGeom prst="rect">
            <a:avLst/>
          </a:prstGeom>
        </p:spPr>
      </p:pic>
      <p:pic>
        <p:nvPicPr>
          <p:cNvPr id="8" name="Picture 7" descr="intel_rgb_3000.png"/>
          <p:cNvPicPr>
            <a:picLocks noChangeAspect="1"/>
          </p:cNvPicPr>
          <p:nvPr userDrawn="1"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292970"/>
            <a:ext cx="914400" cy="4624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641" y="6292970"/>
            <a:ext cx="988332" cy="444749"/>
          </a:xfrm>
          <a:prstGeom prst="rect">
            <a:avLst/>
          </a:prstGeom>
          <a:effectLst>
            <a:glow rad="1397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833620947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5"/>
            <a:ext cx="11123539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09601" y="2736388"/>
            <a:ext cx="9005344" cy="677108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13276" y="3750108"/>
            <a:ext cx="5791200" cy="72327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bg1"/>
                </a:solidFill>
                <a:latin typeface="Neo Sans Intel" pitchFamily="34" charset="0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>
                <a:latin typeface="Neo Sans Intel"/>
                <a:cs typeface="Neo Sans Intel"/>
              </a:rPr>
              <a:t>Additional Info</a:t>
            </a:r>
            <a:endParaRPr lang="en-US" sz="1600" dirty="0">
              <a:latin typeface="Verdana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641" y="6292970"/>
            <a:ext cx="988332" cy="444749"/>
          </a:xfrm>
          <a:prstGeom prst="rect">
            <a:avLst/>
          </a:prstGeom>
          <a:effectLst>
            <a:glow rad="139700">
              <a:schemeClr val="bg1">
                <a:alpha val="40000"/>
              </a:schemeClr>
            </a:glow>
          </a:effectLst>
        </p:spPr>
      </p:pic>
      <p:pic>
        <p:nvPicPr>
          <p:cNvPr id="15" name="Picture 14" descr="intel_rgb_3000.png"/>
          <p:cNvPicPr>
            <a:picLocks noChangeAspect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292970"/>
            <a:ext cx="914400" cy="462401"/>
          </a:xfrm>
          <a:prstGeom prst="rect">
            <a:avLst/>
          </a:prstGeom>
        </p:spPr>
      </p:pic>
      <p:pic>
        <p:nvPicPr>
          <p:cNvPr id="7" name="Picture 6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5"/>
            <a:ext cx="11123539" cy="29048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641" y="6292970"/>
            <a:ext cx="988332" cy="444749"/>
          </a:xfrm>
          <a:prstGeom prst="rect">
            <a:avLst/>
          </a:prstGeom>
          <a:effectLst>
            <a:glow rad="139700">
              <a:schemeClr val="bg1">
                <a:alpha val="40000"/>
              </a:schemeClr>
            </a:glow>
          </a:effectLst>
        </p:spPr>
      </p:pic>
      <p:pic>
        <p:nvPicPr>
          <p:cNvPr id="11" name="Picture 10" descr="intel_rgb_3000.png"/>
          <p:cNvPicPr>
            <a:picLocks noChangeAspect="1"/>
          </p:cNvPicPr>
          <p:nvPr userDrawn="1"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292970"/>
            <a:ext cx="914400" cy="46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602541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gradFill>
          <a:gsLst>
            <a:gs pos="5000">
              <a:srgbClr val="0070C0"/>
            </a:gs>
            <a:gs pos="95000">
              <a:srgbClr val="002060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6185857"/>
            <a:ext cx="12192000" cy="685800"/>
          </a:xfrm>
          <a:prstGeom prst="rect">
            <a:avLst/>
          </a:prstGeom>
          <a:gradFill>
            <a:gsLst>
              <a:gs pos="5000">
                <a:srgbClr val="0070C0"/>
              </a:gs>
              <a:gs pos="95000">
                <a:srgbClr val="002060"/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 descr="intel_rgb_3000.png"/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292970"/>
            <a:ext cx="914400" cy="4624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641" y="6292970"/>
            <a:ext cx="988332" cy="444749"/>
          </a:xfrm>
          <a:prstGeom prst="rect">
            <a:avLst/>
          </a:prstGeom>
          <a:effectLst>
            <a:glow rad="139700">
              <a:schemeClr val="bg1">
                <a:alpha val="40000"/>
              </a:schemeClr>
            </a:glow>
          </a:effec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5367" y="409575"/>
            <a:ext cx="10972800" cy="889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latin typeface="Neo Sans Inte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0"/>
          </p:nvPr>
        </p:nvSpPr>
        <p:spPr>
          <a:xfrm>
            <a:off x="660400" y="1676400"/>
            <a:ext cx="10922000" cy="4114800"/>
          </a:xfrm>
          <a:prstGeom prst="rect">
            <a:avLst/>
          </a:prstGeom>
        </p:spPr>
        <p:txBody>
          <a:bodyPr anchor="t" anchorCtr="0"/>
          <a:lstStyle>
            <a:lvl1pPr marL="403225" indent="-403225" algn="just">
              <a:lnSpc>
                <a:spcPct val="110000"/>
              </a:lnSpc>
              <a:spcBef>
                <a:spcPts val="240"/>
              </a:spcBef>
              <a:buSzPct val="80000"/>
              <a:buFont typeface="Wingdings" pitchFamily="2" charset="2"/>
              <a:buChar char="q"/>
              <a:defRPr>
                <a:latin typeface="Neo Sans Intel" pitchFamily="34" charset="0"/>
                <a:cs typeface="Arial" pitchFamily="34" charset="0"/>
              </a:defRPr>
            </a:lvl1pPr>
            <a:lvl2pPr marL="742913" indent="-285736">
              <a:buSzPct val="120000"/>
              <a:buFont typeface="Arial" pitchFamily="34" charset="0"/>
              <a:buChar char="•"/>
              <a:defRPr>
                <a:latin typeface="Neo Sans Intel" pitchFamily="34" charset="0"/>
                <a:cs typeface="Arial" pitchFamily="34" charset="0"/>
              </a:defRPr>
            </a:lvl2pPr>
            <a:lvl3pPr marL="1142943" indent="-228589">
              <a:buFont typeface="Arial" pitchFamily="34" charset="0"/>
              <a:buChar char="‒"/>
              <a:defRPr>
                <a:solidFill>
                  <a:schemeClr val="bg1"/>
                </a:solidFill>
                <a:latin typeface="Neo Sans Intel" pitchFamily="34" charset="0"/>
                <a:cs typeface="Arial" pitchFamily="34" charset="0"/>
              </a:defRPr>
            </a:lvl3pPr>
            <a:lvl4pPr>
              <a:defRPr>
                <a:solidFill>
                  <a:schemeClr val="bg1"/>
                </a:solidFill>
                <a:latin typeface="Neo Sans Intel" pitchFamily="34" charset="0"/>
                <a:cs typeface="Arial" pitchFamily="34" charset="0"/>
              </a:defRPr>
            </a:lvl4pPr>
            <a:lvl5pPr>
              <a:defRPr>
                <a:solidFill>
                  <a:schemeClr val="bg1"/>
                </a:solidFill>
                <a:latin typeface="Neo Sans Inte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775200" y="6488668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/>
            <a:r>
              <a:rPr lang="en-US" sz="1100" dirty="0">
                <a:solidFill>
                  <a:prstClr val="white"/>
                </a:solidFill>
              </a:rPr>
              <a:t>Intel Confidential  </a:t>
            </a:r>
            <a:fld id="{195ACA75-EF69-4DAA-A38F-20E9860A0A01}" type="slidenum">
              <a:rPr lang="en-US" sz="1100">
                <a:solidFill>
                  <a:prstClr val="white"/>
                </a:solidFill>
              </a:rPr>
              <a:pPr algn="ctr" defTabSz="914354"/>
              <a:t>‹#›</a:t>
            </a:fld>
            <a:endParaRPr lang="en-US" sz="1100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185857"/>
            <a:ext cx="12192000" cy="685800"/>
          </a:xfrm>
          <a:prstGeom prst="rect">
            <a:avLst/>
          </a:prstGeom>
          <a:gradFill>
            <a:gsLst>
              <a:gs pos="5000">
                <a:srgbClr val="0070C0"/>
              </a:gs>
              <a:gs pos="95000">
                <a:srgbClr val="002060"/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9" name="Picture 8" descr="intel_rgb_3000.png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292970"/>
            <a:ext cx="914400" cy="4624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641" y="6292970"/>
            <a:ext cx="988332" cy="444749"/>
          </a:xfrm>
          <a:prstGeom prst="rect">
            <a:avLst/>
          </a:prstGeom>
          <a:effectLst>
            <a:glow rad="139700">
              <a:schemeClr val="bg1">
                <a:alpha val="40000"/>
              </a:schemeClr>
            </a:glow>
          </a:effectLst>
        </p:spPr>
      </p:pic>
      <p:sp>
        <p:nvSpPr>
          <p:cNvPr id="11" name="TextBox 10"/>
          <p:cNvSpPr txBox="1"/>
          <p:nvPr userDrawn="1"/>
        </p:nvSpPr>
        <p:spPr>
          <a:xfrm>
            <a:off x="4775200" y="6488668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/>
            <a:r>
              <a:rPr lang="en-US" sz="1100" dirty="0">
                <a:solidFill>
                  <a:prstClr val="white"/>
                </a:solidFill>
              </a:rPr>
              <a:t>Intel Confidential  </a:t>
            </a:r>
            <a:fld id="{195ACA75-EF69-4DAA-A38F-20E9860A0A01}" type="slidenum">
              <a:rPr lang="en-US" sz="1100">
                <a:solidFill>
                  <a:prstClr val="white"/>
                </a:solidFill>
              </a:rPr>
              <a:pPr algn="ctr" defTabSz="914354"/>
              <a:t>‹#›</a:t>
            </a:fld>
            <a:endParaRPr lang="en-US" sz="11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58060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367" y="409575"/>
            <a:ext cx="10972800" cy="889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7484" y="1379540"/>
            <a:ext cx="5382683" cy="4537075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itchFamily="2" charset="2"/>
              <a:buChar char="q"/>
              <a:defRPr sz="2000"/>
            </a:lvl1pPr>
            <a:lvl2pPr marL="742913" indent="-285736">
              <a:buFont typeface="Arial" pitchFamily="34" charset="0"/>
              <a:buChar char="•"/>
              <a:defRPr sz="2000"/>
            </a:lvl2pPr>
            <a:lvl3pPr marL="1142943" indent="-228589">
              <a:buFont typeface="Neo Sans Intel" pitchFamily="34" charset="0"/>
              <a:buChar char="−"/>
              <a:defRPr sz="1800"/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367" y="1379540"/>
            <a:ext cx="5384800" cy="4537075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itchFamily="2" charset="2"/>
              <a:buChar char="q"/>
              <a:defRPr sz="2000"/>
            </a:lvl1pPr>
            <a:lvl2pPr marL="742913" indent="-285736">
              <a:buFont typeface="Arial" pitchFamily="34" charset="0"/>
              <a:buChar char="•"/>
              <a:defRPr sz="2000"/>
            </a:lvl2pPr>
            <a:lvl3pPr marL="1142943" indent="-228589">
              <a:buFont typeface="Neo Sans Intel" pitchFamily="34" charset="0"/>
              <a:buChar char="−"/>
              <a:defRPr sz="1800"/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6185857"/>
            <a:ext cx="12192000" cy="685800"/>
          </a:xfrm>
          <a:prstGeom prst="rect">
            <a:avLst/>
          </a:prstGeom>
          <a:gradFill>
            <a:gsLst>
              <a:gs pos="5000">
                <a:srgbClr val="0070C0"/>
              </a:gs>
              <a:gs pos="95000">
                <a:srgbClr val="002060"/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6" name="Picture 5" descr="intel_rgb_3000.png"/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292970"/>
            <a:ext cx="914400" cy="4624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641" y="6292970"/>
            <a:ext cx="988332" cy="444749"/>
          </a:xfrm>
          <a:prstGeom prst="rect">
            <a:avLst/>
          </a:prstGeom>
          <a:effectLst>
            <a:glow rad="139700">
              <a:schemeClr val="bg1">
                <a:alpha val="40000"/>
              </a:schemeClr>
            </a:glow>
          </a:effectLst>
        </p:spPr>
      </p:pic>
      <p:sp>
        <p:nvSpPr>
          <p:cNvPr id="8" name="TextBox 7"/>
          <p:cNvSpPr txBox="1"/>
          <p:nvPr/>
        </p:nvSpPr>
        <p:spPr>
          <a:xfrm>
            <a:off x="4775200" y="6488668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/>
            <a:r>
              <a:rPr lang="en-US" sz="1100" dirty="0">
                <a:solidFill>
                  <a:prstClr val="white"/>
                </a:solidFill>
              </a:rPr>
              <a:t>Intel Confidential  </a:t>
            </a:r>
            <a:fld id="{195ACA75-EF69-4DAA-A38F-20E9860A0A01}" type="slidenum">
              <a:rPr lang="en-US" sz="1100">
                <a:solidFill>
                  <a:prstClr val="white"/>
                </a:solidFill>
              </a:rPr>
              <a:pPr algn="ctr" defTabSz="914354"/>
              <a:t>‹#›</a:t>
            </a:fld>
            <a:endParaRPr lang="en-US" sz="1100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185857"/>
            <a:ext cx="12192000" cy="685800"/>
          </a:xfrm>
          <a:prstGeom prst="rect">
            <a:avLst/>
          </a:prstGeom>
          <a:gradFill>
            <a:gsLst>
              <a:gs pos="5000">
                <a:srgbClr val="0070C0"/>
              </a:gs>
              <a:gs pos="95000">
                <a:srgbClr val="002060"/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0" name="Picture 9" descr="intel_rgb_3000.png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292970"/>
            <a:ext cx="914400" cy="46240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641" y="6292970"/>
            <a:ext cx="988332" cy="444749"/>
          </a:xfrm>
          <a:prstGeom prst="rect">
            <a:avLst/>
          </a:prstGeom>
          <a:effectLst>
            <a:glow rad="139700">
              <a:schemeClr val="bg1">
                <a:alpha val="40000"/>
              </a:schemeClr>
            </a:glow>
          </a:effectLst>
        </p:spPr>
      </p:pic>
      <p:sp>
        <p:nvSpPr>
          <p:cNvPr id="12" name="TextBox 11"/>
          <p:cNvSpPr txBox="1"/>
          <p:nvPr userDrawn="1"/>
        </p:nvSpPr>
        <p:spPr>
          <a:xfrm>
            <a:off x="4775200" y="6488668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/>
            <a:r>
              <a:rPr lang="en-US" sz="1100" dirty="0">
                <a:solidFill>
                  <a:prstClr val="white"/>
                </a:solidFill>
              </a:rPr>
              <a:t>Intel Confidential  </a:t>
            </a:r>
            <a:fld id="{195ACA75-EF69-4DAA-A38F-20E9860A0A01}" type="slidenum">
              <a:rPr lang="en-US" sz="1100">
                <a:solidFill>
                  <a:prstClr val="white"/>
                </a:solidFill>
              </a:rPr>
              <a:pPr algn="ctr" defTabSz="914354"/>
              <a:t>‹#›</a:t>
            </a:fld>
            <a:endParaRPr lang="en-US" sz="11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9252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el_wht_rgb_300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615" y="1828801"/>
            <a:ext cx="5714005" cy="2825575"/>
          </a:xfrm>
          <a:prstGeom prst="rect">
            <a:avLst/>
          </a:prstGeom>
        </p:spPr>
      </p:pic>
      <p:pic>
        <p:nvPicPr>
          <p:cNvPr id="4" name="Picture 3" descr="intel_wht_rgb_300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615" y="1828801"/>
            <a:ext cx="5714005" cy="282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31560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gradFill>
          <a:gsLst>
            <a:gs pos="5000">
              <a:srgbClr val="0070C0"/>
            </a:gs>
            <a:gs pos="95000">
              <a:srgbClr val="002060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6185857"/>
            <a:ext cx="12192000" cy="685800"/>
          </a:xfrm>
          <a:prstGeom prst="rect">
            <a:avLst/>
          </a:prstGeom>
          <a:gradFill>
            <a:gsLst>
              <a:gs pos="5000">
                <a:srgbClr val="0070C0"/>
              </a:gs>
              <a:gs pos="95000">
                <a:srgbClr val="002060"/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 descr="intel_rgb_3000.png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292970"/>
            <a:ext cx="914400" cy="4624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641" y="6292970"/>
            <a:ext cx="988332" cy="444749"/>
          </a:xfrm>
          <a:prstGeom prst="rect">
            <a:avLst/>
          </a:prstGeom>
          <a:effectLst>
            <a:glow rad="139700">
              <a:schemeClr val="bg1">
                <a:alpha val="40000"/>
              </a:schemeClr>
            </a:glow>
          </a:effec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5367" y="409575"/>
            <a:ext cx="10972800" cy="889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0"/>
          </p:nvPr>
        </p:nvSpPr>
        <p:spPr>
          <a:xfrm>
            <a:off x="660400" y="1676400"/>
            <a:ext cx="10922000" cy="4114800"/>
          </a:xfrm>
          <a:prstGeom prst="rect">
            <a:avLst/>
          </a:prstGeom>
        </p:spPr>
        <p:txBody>
          <a:bodyPr anchor="t" anchorCtr="0"/>
          <a:lstStyle>
            <a:lvl1pPr marL="403225" indent="-403225" algn="just">
              <a:lnSpc>
                <a:spcPct val="110000"/>
              </a:lnSpc>
              <a:spcBef>
                <a:spcPts val="240"/>
              </a:spcBef>
              <a:buSzPct val="80000"/>
              <a:buFont typeface="Wingdings" pitchFamily="2" charset="2"/>
              <a:buChar char="q"/>
              <a:defRPr>
                <a:latin typeface="Arial" pitchFamily="34" charset="0"/>
                <a:cs typeface="Arial" pitchFamily="34" charset="0"/>
              </a:defRPr>
            </a:lvl1pPr>
            <a:lvl2pPr marL="742913" indent="-285736">
              <a:buSzPct val="120000"/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2pPr>
            <a:lvl3pPr marL="1142943" indent="-228589">
              <a:buFont typeface="Arial" pitchFamily="34" charset="0"/>
              <a:buChar char="‒"/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4775200" y="6488668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/>
            <a:r>
              <a:rPr lang="en-US" sz="1100" dirty="0">
                <a:solidFill>
                  <a:prstClr val="white"/>
                </a:solidFill>
              </a:rPr>
              <a:t>Intel Confidential  </a:t>
            </a:r>
            <a:fld id="{195ACA75-EF69-4DAA-A38F-20E9860A0A01}" type="slidenum">
              <a:rPr lang="en-US" sz="1100">
                <a:solidFill>
                  <a:prstClr val="white"/>
                </a:solidFill>
              </a:rPr>
              <a:pPr algn="ctr" defTabSz="914354"/>
              <a:t>‹#›</a:t>
            </a:fld>
            <a:endParaRPr lang="en-US" sz="11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785947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5"/>
            <a:ext cx="11123539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09601" y="2736388"/>
            <a:ext cx="9005344" cy="677108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13276" y="3750108"/>
            <a:ext cx="5791200" cy="72327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bg1"/>
                </a:solidFill>
                <a:latin typeface="Neo Sans Intel" pitchFamily="34" charset="0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>
                <a:latin typeface="Neo Sans Intel"/>
                <a:cs typeface="Neo Sans Intel"/>
              </a:rPr>
              <a:t>Additional Info</a:t>
            </a:r>
            <a:endParaRPr lang="en-US" sz="1600" dirty="0">
              <a:latin typeface="Verdana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641" y="6292970"/>
            <a:ext cx="988332" cy="444749"/>
          </a:xfrm>
          <a:prstGeom prst="rect">
            <a:avLst/>
          </a:prstGeom>
          <a:effectLst>
            <a:glow rad="139700">
              <a:schemeClr val="bg1">
                <a:alpha val="40000"/>
              </a:schemeClr>
            </a:glow>
          </a:effectLst>
        </p:spPr>
      </p:pic>
      <p:pic>
        <p:nvPicPr>
          <p:cNvPr id="15" name="Picture 14" descr="intel_rgb_3000.png"/>
          <p:cNvPicPr>
            <a:picLocks noChangeAspect="1"/>
          </p:cNvPicPr>
          <p:nvPr userDrawn="1"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292970"/>
            <a:ext cx="914400" cy="46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48227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gradFill>
          <a:gsLst>
            <a:gs pos="5000">
              <a:srgbClr val="0070C0"/>
            </a:gs>
            <a:gs pos="95000">
              <a:srgbClr val="002060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6185857"/>
            <a:ext cx="12192000" cy="685800"/>
          </a:xfrm>
          <a:prstGeom prst="rect">
            <a:avLst/>
          </a:prstGeom>
          <a:gradFill>
            <a:gsLst>
              <a:gs pos="5000">
                <a:srgbClr val="0070C0"/>
              </a:gs>
              <a:gs pos="95000">
                <a:srgbClr val="002060"/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 descr="intel_rgb_3000.png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292970"/>
            <a:ext cx="914400" cy="4624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641" y="6292970"/>
            <a:ext cx="988332" cy="444749"/>
          </a:xfrm>
          <a:prstGeom prst="rect">
            <a:avLst/>
          </a:prstGeom>
          <a:effectLst>
            <a:glow rad="139700">
              <a:schemeClr val="bg1">
                <a:alpha val="40000"/>
              </a:schemeClr>
            </a:glow>
          </a:effec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5367" y="409575"/>
            <a:ext cx="10972800" cy="889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latin typeface="Neo Sans Inte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0"/>
          </p:nvPr>
        </p:nvSpPr>
        <p:spPr>
          <a:xfrm>
            <a:off x="660400" y="1676400"/>
            <a:ext cx="10922000" cy="4114800"/>
          </a:xfrm>
          <a:prstGeom prst="rect">
            <a:avLst/>
          </a:prstGeom>
        </p:spPr>
        <p:txBody>
          <a:bodyPr anchor="t" anchorCtr="0"/>
          <a:lstStyle>
            <a:lvl1pPr marL="403225" indent="-403225" algn="just">
              <a:lnSpc>
                <a:spcPct val="110000"/>
              </a:lnSpc>
              <a:spcBef>
                <a:spcPts val="240"/>
              </a:spcBef>
              <a:buSzPct val="80000"/>
              <a:buFont typeface="Wingdings" pitchFamily="2" charset="2"/>
              <a:buChar char="q"/>
              <a:defRPr>
                <a:latin typeface="Neo Sans Intel" pitchFamily="34" charset="0"/>
                <a:cs typeface="Arial" pitchFamily="34" charset="0"/>
              </a:defRPr>
            </a:lvl1pPr>
            <a:lvl2pPr marL="742913" indent="-285736">
              <a:buSzPct val="120000"/>
              <a:buFont typeface="Arial" pitchFamily="34" charset="0"/>
              <a:buChar char="•"/>
              <a:defRPr>
                <a:latin typeface="Neo Sans Intel" pitchFamily="34" charset="0"/>
                <a:cs typeface="Arial" pitchFamily="34" charset="0"/>
              </a:defRPr>
            </a:lvl2pPr>
            <a:lvl3pPr marL="1142943" indent="-228589">
              <a:buFont typeface="Arial" pitchFamily="34" charset="0"/>
              <a:buChar char="‒"/>
              <a:defRPr>
                <a:solidFill>
                  <a:schemeClr val="bg1"/>
                </a:solidFill>
                <a:latin typeface="Neo Sans Intel" pitchFamily="34" charset="0"/>
                <a:cs typeface="Arial" pitchFamily="34" charset="0"/>
              </a:defRPr>
            </a:lvl3pPr>
            <a:lvl4pPr>
              <a:defRPr>
                <a:solidFill>
                  <a:schemeClr val="bg1"/>
                </a:solidFill>
                <a:latin typeface="Neo Sans Intel" pitchFamily="34" charset="0"/>
                <a:cs typeface="Arial" pitchFamily="34" charset="0"/>
              </a:defRPr>
            </a:lvl4pPr>
            <a:lvl5pPr>
              <a:defRPr>
                <a:solidFill>
                  <a:schemeClr val="bg1"/>
                </a:solidFill>
                <a:latin typeface="Neo Sans Inte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4775200" y="6488668"/>
            <a:ext cx="264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/>
            <a:r>
              <a:rPr lang="en-US" sz="1100" dirty="0">
                <a:solidFill>
                  <a:prstClr val="white"/>
                </a:solidFill>
              </a:rPr>
              <a:t>Intel Confidential  </a:t>
            </a:r>
            <a:fld id="{195ACA75-EF69-4DAA-A38F-20E9860A0A01}" type="slidenum">
              <a:rPr lang="en-US" sz="1100">
                <a:solidFill>
                  <a:prstClr val="white"/>
                </a:solidFill>
              </a:rPr>
              <a:pPr algn="ctr" defTabSz="914354"/>
              <a:t>‹#›</a:t>
            </a:fld>
            <a:endParaRPr lang="en-US" sz="11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302307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el_wht_rgb_300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615" y="1828801"/>
            <a:ext cx="5714005" cy="282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9962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INTEL_LOGO_RGB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774768" y="473075"/>
            <a:ext cx="1667933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328091" y="2741624"/>
            <a:ext cx="11273367" cy="795337"/>
          </a:xfrm>
        </p:spPr>
        <p:txBody>
          <a:bodyPr anchor="b"/>
          <a:lstStyle>
            <a:lvl1pPr algn="r">
              <a:defRPr sz="4000">
                <a:solidFill>
                  <a:srgbClr val="0860A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07491" y="3709999"/>
            <a:ext cx="10957983" cy="1590675"/>
          </a:xfrm>
        </p:spPr>
        <p:txBody>
          <a:bodyPr/>
          <a:lstStyle>
            <a:lvl1pPr marL="0" indent="0" algn="r">
              <a:lnSpc>
                <a:spcPct val="85000"/>
              </a:lnSpc>
              <a:buFontTx/>
              <a:buNone/>
              <a:defRPr sz="1600" b="1">
                <a:solidFill>
                  <a:srgbClr val="080808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747762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7" y="1371600"/>
            <a:ext cx="10968567" cy="3308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6737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33267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778110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3" y="1231900"/>
            <a:ext cx="5382684" cy="3308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5" y="1231900"/>
            <a:ext cx="5382683" cy="3308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65217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52853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5180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3886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7775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98590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4822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7085" y="330200"/>
            <a:ext cx="2741083" cy="4210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3" y="330200"/>
            <a:ext cx="8024284" cy="4210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6636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0200"/>
            <a:ext cx="10955867" cy="90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231900"/>
            <a:ext cx="10968567" cy="330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736600" y="1246189"/>
            <a:ext cx="245533" cy="40163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  <a:buSzPct val="130000"/>
              <a:defRPr/>
            </a:pPr>
            <a:endParaRPr lang="en-US" sz="2000" kern="1200" dirty="0">
              <a:solidFill>
                <a:srgbClr val="333333"/>
              </a:solidFill>
              <a:latin typeface="Verdana" pitchFamily="34" charset="0"/>
              <a:ea typeface="+mn-ea"/>
              <a:cs typeface="Arial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0" y="6029326"/>
            <a:ext cx="12192000" cy="828675"/>
            <a:chOff x="0" y="3798"/>
            <a:chExt cx="5760" cy="522"/>
          </a:xfrm>
        </p:grpSpPr>
        <p:sp>
          <p:nvSpPr>
            <p:cNvPr id="10246" name="Rectangle 6"/>
            <p:cNvSpPr>
              <a:spLocks noChangeArrowheads="1"/>
            </p:cNvSpPr>
            <p:nvPr/>
          </p:nvSpPr>
          <p:spPr bwMode="auto">
            <a:xfrm>
              <a:off x="5483" y="3891"/>
              <a:ext cx="277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b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fld id="{B838EF50-1CF2-447B-898D-1D99E2991256}" type="slidenum">
                <a:rPr lang="en-US" sz="1200" b="1" kern="1200">
                  <a:solidFill>
                    <a:srgbClr val="FFFFFF"/>
                  </a:solidFill>
                  <a:latin typeface="Arial" pitchFamily="34" charset="0"/>
                  <a:ea typeface="+mn-ea"/>
                  <a:cs typeface="Arial" charset="0"/>
                </a:rPr>
                <a: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t>‹#›</a:t>
              </a:fld>
              <a:endParaRPr lang="en-US" sz="1200" b="1" kern="1200" dirty="0">
                <a:solidFill>
                  <a:srgbClr val="FFFFFF"/>
                </a:solidFill>
                <a:latin typeface="Arial" pitchFamily="34" charset="0"/>
                <a:ea typeface="+mn-ea"/>
                <a:cs typeface="Arial" charset="0"/>
              </a:endParaRPr>
            </a:p>
          </p:txBody>
        </p:sp>
        <p:grpSp>
          <p:nvGrpSpPr>
            <p:cNvPr id="3" name="Group 7"/>
            <p:cNvGrpSpPr>
              <a:grpSpLocks/>
            </p:cNvGrpSpPr>
            <p:nvPr userDrawn="1"/>
          </p:nvGrpSpPr>
          <p:grpSpPr bwMode="auto">
            <a:xfrm>
              <a:off x="0" y="3798"/>
              <a:ext cx="5760" cy="522"/>
              <a:chOff x="0" y="3178"/>
              <a:chExt cx="5760" cy="522"/>
            </a:xfrm>
          </p:grpSpPr>
          <p:grpSp>
            <p:nvGrpSpPr>
              <p:cNvPr id="4" name="Group 8"/>
              <p:cNvGrpSpPr>
                <a:grpSpLocks/>
              </p:cNvGrpSpPr>
              <p:nvPr userDrawn="1"/>
            </p:nvGrpSpPr>
            <p:grpSpPr bwMode="auto">
              <a:xfrm>
                <a:off x="0" y="3178"/>
                <a:ext cx="5760" cy="522"/>
                <a:chOff x="0" y="3798"/>
                <a:chExt cx="5760" cy="522"/>
              </a:xfrm>
            </p:grpSpPr>
            <p:sp>
              <p:nvSpPr>
                <p:cNvPr id="10249" name="Rectangle 9"/>
                <p:cNvSpPr>
                  <a:spLocks noChangeArrowheads="1"/>
                </p:cNvSpPr>
                <p:nvPr/>
              </p:nvSpPr>
              <p:spPr bwMode="auto">
                <a:xfrm>
                  <a:off x="5483" y="3891"/>
                  <a:ext cx="277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0" tIns="0" rIns="0" bIns="0" anchor="b"/>
                <a:lstStyle/>
                <a:p>
                  <a: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fld id="{B9C1463D-5C0D-4888-8671-79F4F3811B8A}" type="slidenum">
                    <a:rPr lang="en-US" sz="1200" b="1" kern="1200">
                      <a:solidFill>
                        <a:srgbClr val="FFFFFF"/>
                      </a:solidFill>
                      <a:latin typeface="Arial" pitchFamily="34" charset="0"/>
                      <a:ea typeface="+mn-ea"/>
                      <a:cs typeface="Arial" charset="0"/>
                    </a:rPr>
                    <a: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t>‹#›</a:t>
                  </a:fld>
                  <a:endParaRPr lang="en-US" sz="1200" b="1" kern="1200" dirty="0">
                    <a:solidFill>
                      <a:srgbClr val="FFFFFF"/>
                    </a:solidFill>
                    <a:latin typeface="Arial" pitchFamily="34" charset="0"/>
                    <a:ea typeface="+mn-ea"/>
                    <a:cs typeface="Arial" charset="0"/>
                  </a:endParaRPr>
                </a:p>
              </p:txBody>
            </p:sp>
            <p:grpSp>
              <p:nvGrpSpPr>
                <p:cNvPr id="5" name="Group 10"/>
                <p:cNvGrpSpPr>
                  <a:grpSpLocks/>
                </p:cNvGrpSpPr>
                <p:nvPr userDrawn="1"/>
              </p:nvGrpSpPr>
              <p:grpSpPr bwMode="auto">
                <a:xfrm>
                  <a:off x="0" y="3798"/>
                  <a:ext cx="5758" cy="522"/>
                  <a:chOff x="0" y="3798"/>
                  <a:chExt cx="5758" cy="522"/>
                </a:xfrm>
              </p:grpSpPr>
              <p:sp>
                <p:nvSpPr>
                  <p:cNvPr id="10251" name="Rectangle 11"/>
                  <p:cNvSpPr>
                    <a:spLocks noChangeArrowheads="1"/>
                  </p:cNvSpPr>
                  <p:nvPr userDrawn="1"/>
                </p:nvSpPr>
                <p:spPr bwMode="invGray">
                  <a:xfrm>
                    <a:off x="0" y="3798"/>
                    <a:ext cx="5758" cy="522"/>
                  </a:xfrm>
                  <a:prstGeom prst="rect">
                    <a:avLst/>
                  </a:prstGeom>
                  <a:solidFill>
                    <a:srgbClr val="0860A8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rtl="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endParaRPr lang="en-US" sz="2000" kern="1200" dirty="0">
                      <a:solidFill>
                        <a:srgbClr val="333333"/>
                      </a:solidFill>
                      <a:latin typeface="Verdana" pitchFamily="34" charset="0"/>
                      <a:ea typeface="+mn-ea"/>
                      <a:cs typeface="Arial" charset="0"/>
                    </a:endParaRPr>
                  </a:p>
                </p:txBody>
              </p:sp>
              <p:pic>
                <p:nvPicPr>
                  <p:cNvPr id="1037" name="Picture 12" descr="intel_wht_100 [Converted]"/>
                  <p:cNvPicPr>
                    <a:picLocks noChangeAspect="1" noChangeArrowheads="1"/>
                  </p:cNvPicPr>
                  <p:nvPr userDrawn="1"/>
                </p:nvPicPr>
                <p:blipFill>
                  <a:blip r:embed="rId14" cstate="email"/>
                  <a:srcRect/>
                  <a:stretch>
                    <a:fillRect/>
                  </a:stretch>
                </p:blipFill>
                <p:spPr bwMode="auto">
                  <a:xfrm>
                    <a:off x="4968" y="3884"/>
                    <a:ext cx="508" cy="3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10255" name="Rectangle 15"/>
                  <p:cNvSpPr>
                    <a:spLocks noChangeArrowheads="1"/>
                  </p:cNvSpPr>
                  <p:nvPr userDrawn="1"/>
                </p:nvSpPr>
                <p:spPr bwMode="auto">
                  <a:xfrm>
                    <a:off x="5481" y="3891"/>
                    <a:ext cx="277" cy="33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lIns="0" tIns="0" rIns="0" bIns="0" anchor="b"/>
                  <a:lstStyle/>
                  <a:p>
                    <a: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fld id="{D930DB5D-384D-49D4-8D72-65E53CCA9E41}" type="slidenum">
                      <a:rPr lang="en-US" sz="1200" b="1" kern="1200">
                        <a:solidFill>
                          <a:srgbClr val="FFFFFF"/>
                        </a:solidFill>
                        <a:latin typeface="Arial" pitchFamily="34" charset="0"/>
                        <a:ea typeface="+mn-ea"/>
                        <a:cs typeface="Arial" charset="0"/>
                      </a:rPr>
                      <a:pPr algn="ctr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t>‹#›</a:t>
                    </a:fld>
                    <a:endParaRPr lang="en-US" sz="1200" b="1" kern="1200" dirty="0">
                      <a:solidFill>
                        <a:srgbClr val="FFFFFF"/>
                      </a:solidFill>
                      <a:latin typeface="Arial" pitchFamily="34" charset="0"/>
                      <a:ea typeface="+mn-ea"/>
                      <a:cs typeface="Arial" charset="0"/>
                    </a:endParaRPr>
                  </a:p>
                </p:txBody>
              </p:sp>
            </p:grpSp>
          </p:grpSp>
          <p:sp>
            <p:nvSpPr>
              <p:cNvPr id="10256" name="Text Box 16"/>
              <p:cNvSpPr txBox="1">
                <a:spLocks noChangeArrowheads="1"/>
              </p:cNvSpPr>
              <p:nvPr/>
            </p:nvSpPr>
            <p:spPr bwMode="auto">
              <a:xfrm>
                <a:off x="2362" y="3273"/>
                <a:ext cx="662" cy="235"/>
              </a:xfrm>
              <a:prstGeom prst="rect">
                <a:avLst/>
              </a:prstGeom>
              <a:noFill/>
              <a:ln w="508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GB" sz="1000" i="1" u="none" kern="1200" dirty="0">
                    <a:solidFill>
                      <a:srgbClr val="FFFFFF"/>
                    </a:solidFill>
                    <a:latin typeface="Arial" pitchFamily="34" charset="0"/>
                    <a:ea typeface="+mn-ea"/>
                    <a:cs typeface="Arial" pitchFamily="34" charset="0"/>
                  </a:rPr>
                  <a:t>Intel Confidential</a:t>
                </a:r>
                <a:endParaRPr lang="en-US" sz="1000" i="1" u="none" kern="1200" dirty="0">
                  <a:solidFill>
                    <a:srgbClr val="FFFFFF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</p:grpSp>
      <p:pic>
        <p:nvPicPr>
          <p:cNvPr id="17" name="Picture 16" descr="C:\Users\esherer\Documents\Intel\MDO DCD\intel-HTD -3.jp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6126374"/>
            <a:ext cx="1278633" cy="63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854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9pPr>
    </p:titleStyle>
    <p:bodyStyle>
      <a:lvl1pPr marL="171450" indent="-171450" algn="l" rtl="0" eaLnBrk="1" fontAlgn="base" hangingPunct="1">
        <a:spcBef>
          <a:spcPct val="0"/>
        </a:spcBef>
        <a:spcAft>
          <a:spcPct val="40000"/>
        </a:spcAft>
        <a:buSzPct val="130000"/>
        <a:buChar char="•"/>
        <a:defRPr sz="2000">
          <a:solidFill>
            <a:srgbClr val="333333"/>
          </a:solidFill>
          <a:latin typeface="+mn-lt"/>
          <a:ea typeface="+mn-ea"/>
          <a:cs typeface="+mn-cs"/>
        </a:defRPr>
      </a:lvl1pPr>
      <a:lvl2pPr marL="457200" indent="-171450" algn="l" rtl="0" eaLnBrk="1" fontAlgn="base" hangingPunct="1">
        <a:spcBef>
          <a:spcPct val="0"/>
        </a:spcBef>
        <a:spcAft>
          <a:spcPct val="40000"/>
        </a:spcAft>
        <a:buFont typeface="Verdana" pitchFamily="34" charset="0"/>
        <a:buChar char="−"/>
        <a:defRPr>
          <a:solidFill>
            <a:srgbClr val="333333"/>
          </a:solidFill>
          <a:latin typeface="+mn-lt"/>
        </a:defRPr>
      </a:lvl2pPr>
      <a:lvl3pPr marL="742950" indent="-171450" algn="l" rtl="0" eaLnBrk="1" fontAlgn="base" hangingPunct="1">
        <a:spcBef>
          <a:spcPct val="0"/>
        </a:spcBef>
        <a:spcAft>
          <a:spcPct val="40000"/>
        </a:spcAft>
        <a:buFont typeface="Verdana" pitchFamily="34" charset="0"/>
        <a:buChar char="&gt;"/>
        <a:defRPr sz="1600">
          <a:solidFill>
            <a:srgbClr val="333333"/>
          </a:solidFill>
          <a:latin typeface="+mn-lt"/>
        </a:defRPr>
      </a:lvl3pPr>
      <a:lvl4pPr marL="971550" indent="-114300" algn="l" rtl="0" eaLnBrk="1" fontAlgn="base" hangingPunct="1">
        <a:spcBef>
          <a:spcPct val="0"/>
        </a:spcBef>
        <a:spcAft>
          <a:spcPct val="40000"/>
        </a:spcAft>
        <a:buChar char="•"/>
        <a:defRPr sz="1400">
          <a:solidFill>
            <a:srgbClr val="333333"/>
          </a:solidFill>
          <a:latin typeface="+mn-lt"/>
        </a:defRPr>
      </a:lvl4pPr>
      <a:lvl5pPr marL="1200150" indent="-114300" algn="l" rtl="0" eaLnBrk="1" fontAlgn="base" hangingPunct="1">
        <a:spcBef>
          <a:spcPct val="0"/>
        </a:spcBef>
        <a:spcAft>
          <a:spcPct val="40000"/>
        </a:spcAft>
        <a:buSzPct val="130000"/>
        <a:buFont typeface="Wingdings" pitchFamily="2" charset="2"/>
        <a:buChar char="ü"/>
        <a:defRPr sz="1200">
          <a:solidFill>
            <a:srgbClr val="333333"/>
          </a:solidFill>
          <a:latin typeface="+mn-lt"/>
        </a:defRPr>
      </a:lvl5pPr>
      <a:lvl6pPr marL="1657350" indent="-114300" algn="l" rtl="0" eaLnBrk="1" fontAlgn="base" hangingPunct="1">
        <a:spcBef>
          <a:spcPct val="0"/>
        </a:spcBef>
        <a:spcAft>
          <a:spcPct val="40000"/>
        </a:spcAft>
        <a:buSzPct val="130000"/>
        <a:buFont typeface="Wingdings" pitchFamily="2" charset="2"/>
        <a:buChar char="ü"/>
        <a:defRPr sz="1200">
          <a:solidFill>
            <a:srgbClr val="333333"/>
          </a:solidFill>
          <a:latin typeface="+mn-lt"/>
        </a:defRPr>
      </a:lvl6pPr>
      <a:lvl7pPr marL="2114550" indent="-114300" algn="l" rtl="0" eaLnBrk="1" fontAlgn="base" hangingPunct="1">
        <a:spcBef>
          <a:spcPct val="0"/>
        </a:spcBef>
        <a:spcAft>
          <a:spcPct val="40000"/>
        </a:spcAft>
        <a:buSzPct val="130000"/>
        <a:buFont typeface="Wingdings" pitchFamily="2" charset="2"/>
        <a:buChar char="ü"/>
        <a:defRPr sz="1200">
          <a:solidFill>
            <a:srgbClr val="333333"/>
          </a:solidFill>
          <a:latin typeface="+mn-lt"/>
        </a:defRPr>
      </a:lvl7pPr>
      <a:lvl8pPr marL="2571750" indent="-114300" algn="l" rtl="0" eaLnBrk="1" fontAlgn="base" hangingPunct="1">
        <a:spcBef>
          <a:spcPct val="0"/>
        </a:spcBef>
        <a:spcAft>
          <a:spcPct val="40000"/>
        </a:spcAft>
        <a:buSzPct val="130000"/>
        <a:buFont typeface="Wingdings" pitchFamily="2" charset="2"/>
        <a:buChar char="ü"/>
        <a:defRPr sz="1200">
          <a:solidFill>
            <a:srgbClr val="333333"/>
          </a:solidFill>
          <a:latin typeface="+mn-lt"/>
        </a:defRPr>
      </a:lvl8pPr>
      <a:lvl9pPr marL="3028950" indent="-114300" algn="l" rtl="0" eaLnBrk="1" fontAlgn="base" hangingPunct="1">
        <a:spcBef>
          <a:spcPct val="0"/>
        </a:spcBef>
        <a:spcAft>
          <a:spcPct val="40000"/>
        </a:spcAft>
        <a:buSzPct val="130000"/>
        <a:buFont typeface="Wingdings" pitchFamily="2" charset="2"/>
        <a:buChar char="ü"/>
        <a:defRPr sz="1200">
          <a:solidFill>
            <a:srgbClr val="333333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A2B84-4BEE-4C17-9E34-A3FB22619658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4919E-2127-4E72-BB62-E7FF91B4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38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D89CD-7337-4D0B-8CEB-19E1C9A8EF67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D7120-2931-43EB-AE3A-37CFFF381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6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5000">
              <a:srgbClr val="0070C0"/>
            </a:gs>
            <a:gs pos="95000">
              <a:srgbClr val="002060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625600" y="1"/>
            <a:ext cx="10261600" cy="6767145"/>
            <a:chOff x="1219200" y="0"/>
            <a:chExt cx="7696200" cy="6767145"/>
          </a:xfrm>
        </p:grpSpPr>
        <p:pic>
          <p:nvPicPr>
            <p:cNvPr id="3" name="Picture 2" descr="PPTCovers-01.png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19200" y="26096"/>
              <a:ext cx="7010399" cy="609600"/>
            </a:xfrm>
            <a:prstGeom prst="rect">
              <a:avLst/>
            </a:prstGeom>
            <a:effectLst>
              <a:glow rad="228600">
                <a:schemeClr val="bg2">
                  <a:alpha val="40000"/>
                </a:schemeClr>
              </a:glow>
            </a:effectLst>
          </p:spPr>
        </p:pic>
        <p:pic>
          <p:nvPicPr>
            <p:cNvPr id="4" name="Picture 3" descr="intel_rgb_3000.png"/>
            <p:cNvPicPr>
              <a:picLocks noChangeAspect="1"/>
            </p:cNvPicPr>
            <p:nvPr/>
          </p:nvPicPr>
          <p:blipFill>
            <a:blip r:embed="rId1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5800" y="6248400"/>
              <a:ext cx="609600" cy="411023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95400" y="0"/>
              <a:ext cx="7010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54"/>
              <a:r>
                <a:rPr lang="en-US" dirty="0">
                  <a:solidFill>
                    <a:prstClr val="white"/>
                  </a:solidFill>
                </a:rPr>
                <a:t>Manufacturing Development Organization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90999" y="6551701"/>
              <a:ext cx="401321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54"/>
              <a:r>
                <a:rPr lang="en-US" sz="800" dirty="0">
                  <a:solidFill>
                    <a:prstClr val="white"/>
                  </a:solidFill>
                </a:rPr>
                <a:t>Intel Confidential	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368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</p:sldLayoutIdLst>
  <p:transition>
    <p:fade/>
  </p:transition>
  <p:hf sldNum="0" hdr="0"/>
  <p:txStyles>
    <p:titleStyle>
      <a:lvl1pPr algn="ctr" defTabSz="914355" rtl="0" eaLnBrk="1" latinLnBrk="0" hangingPunct="1">
        <a:spcBef>
          <a:spcPct val="0"/>
        </a:spcBef>
        <a:buNone/>
        <a:defRPr sz="3200" kern="1200">
          <a:solidFill>
            <a:schemeClr val="bg1"/>
          </a:solidFill>
          <a:latin typeface="Neo Sans Intel Medium" pitchFamily="34" charset="0"/>
          <a:ea typeface="+mj-ea"/>
          <a:cs typeface="+mj-cs"/>
        </a:defRPr>
      </a:lvl1pPr>
    </p:titleStyle>
    <p:bodyStyle>
      <a:lvl1pPr marL="231764" indent="-231764" algn="l" defTabSz="914355" rtl="0" eaLnBrk="1" latinLnBrk="0" hangingPunct="1">
        <a:spcBef>
          <a:spcPct val="20000"/>
        </a:spcBef>
        <a:buClr>
          <a:schemeClr val="bg1"/>
        </a:buClr>
        <a:buFont typeface="Arial" pitchFamily="34" charset="0"/>
        <a:buChar char="•"/>
        <a:defRPr sz="2400" kern="1200">
          <a:solidFill>
            <a:schemeClr val="bg1"/>
          </a:solidFill>
          <a:latin typeface="Neo Sans Intel" pitchFamily="34" charset="0"/>
          <a:ea typeface="+mn-ea"/>
          <a:cs typeface="+mn-cs"/>
        </a:defRPr>
      </a:lvl1pPr>
      <a:lvl2pPr marL="742913" indent="-285736" algn="l" defTabSz="914355" rtl="0" eaLnBrk="1" latinLnBrk="0" hangingPunct="1">
        <a:spcBef>
          <a:spcPct val="20000"/>
        </a:spcBef>
        <a:buClr>
          <a:schemeClr val="bg1"/>
        </a:buClr>
        <a:buFont typeface="Arial" pitchFamily="34" charset="0"/>
        <a:buChar char="–"/>
        <a:defRPr sz="2000" kern="1200">
          <a:solidFill>
            <a:schemeClr val="bg1"/>
          </a:solidFill>
          <a:latin typeface="Neo Sans Intel" pitchFamily="34" charset="0"/>
          <a:ea typeface="+mn-ea"/>
          <a:cs typeface="+mn-cs"/>
        </a:defRPr>
      </a:lvl2pPr>
      <a:lvl3pPr marL="1142943" indent="-228589" algn="l" defTabSz="914355" rtl="0" eaLnBrk="1" latinLnBrk="0" hangingPunct="1">
        <a:spcBef>
          <a:spcPct val="20000"/>
        </a:spcBef>
        <a:buClr>
          <a:schemeClr val="bg1"/>
        </a:buClr>
        <a:buFont typeface="Arial" pitchFamily="34" charset="0"/>
        <a:buChar char="•"/>
        <a:defRPr sz="1800" kern="1200">
          <a:solidFill>
            <a:schemeClr val="bg1"/>
          </a:solidFill>
          <a:latin typeface="Neo Sans Intel" pitchFamily="34" charset="0"/>
          <a:ea typeface="+mn-ea"/>
          <a:cs typeface="+mn-cs"/>
        </a:defRPr>
      </a:lvl3pPr>
      <a:lvl4pPr marL="1600120" indent="-228589" algn="l" defTabSz="914355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Neo Sans Intel" pitchFamily="34" charset="0"/>
          <a:ea typeface="+mn-ea"/>
          <a:cs typeface="+mn-cs"/>
        </a:defRPr>
      </a:lvl4pPr>
      <a:lvl5pPr marL="2057298" indent="-228589" algn="l" defTabSz="914355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Neo Sans Intel" pitchFamily="34" charset="0"/>
          <a:ea typeface="+mn-ea"/>
          <a:cs typeface="+mn-cs"/>
        </a:defRPr>
      </a:lvl5pPr>
      <a:lvl6pPr marL="2514474" indent="-228589" algn="l" defTabSz="91435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1" indent="-228589" algn="l" defTabSz="91435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8" indent="-228589" algn="l" defTabSz="91435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330200"/>
            <a:ext cx="10955867" cy="90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7" y="1231900"/>
            <a:ext cx="10968567" cy="330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736600" y="1246199"/>
            <a:ext cx="245533" cy="40163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30000"/>
              <a:defRPr/>
            </a:pPr>
            <a:endParaRPr lang="en-US" sz="2000" dirty="0">
              <a:solidFill>
                <a:srgbClr val="333333"/>
              </a:solidFill>
              <a:cs typeface="Arial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0" y="6029336"/>
            <a:ext cx="12192000" cy="828675"/>
            <a:chOff x="0" y="3798"/>
            <a:chExt cx="5760" cy="522"/>
          </a:xfrm>
        </p:grpSpPr>
        <p:sp>
          <p:nvSpPr>
            <p:cNvPr id="10246" name="Rectangle 6"/>
            <p:cNvSpPr>
              <a:spLocks noChangeArrowheads="1"/>
            </p:cNvSpPr>
            <p:nvPr/>
          </p:nvSpPr>
          <p:spPr bwMode="auto">
            <a:xfrm>
              <a:off x="5483" y="3891"/>
              <a:ext cx="277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b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fld id="{B838EF50-1CF2-447B-898D-1D99E2991256}" type="slidenum">
                <a:rPr lang="en-US" sz="1200" b="1">
                  <a:solidFill>
                    <a:srgbClr val="FFFFFF"/>
                  </a:solidFill>
                  <a:latin typeface="Arial" pitchFamily="34" charset="0"/>
                  <a:cs typeface="Arial" charset="0"/>
                </a:rPr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t>‹#›</a:t>
              </a:fld>
              <a:endParaRPr lang="en-US" sz="1200" b="1" dirty="0">
                <a:solidFill>
                  <a:srgbClr val="FFFFFF"/>
                </a:solidFill>
                <a:latin typeface="Arial" pitchFamily="34" charset="0"/>
                <a:cs typeface="Arial" charset="0"/>
              </a:endParaRPr>
            </a:p>
          </p:txBody>
        </p:sp>
        <p:grpSp>
          <p:nvGrpSpPr>
            <p:cNvPr id="3" name="Group 7"/>
            <p:cNvGrpSpPr>
              <a:grpSpLocks/>
            </p:cNvGrpSpPr>
            <p:nvPr userDrawn="1"/>
          </p:nvGrpSpPr>
          <p:grpSpPr bwMode="auto">
            <a:xfrm>
              <a:off x="0" y="3798"/>
              <a:ext cx="5760" cy="522"/>
              <a:chOff x="0" y="3178"/>
              <a:chExt cx="5760" cy="522"/>
            </a:xfrm>
          </p:grpSpPr>
          <p:grpSp>
            <p:nvGrpSpPr>
              <p:cNvPr id="4" name="Group 8"/>
              <p:cNvGrpSpPr>
                <a:grpSpLocks/>
              </p:cNvGrpSpPr>
              <p:nvPr userDrawn="1"/>
            </p:nvGrpSpPr>
            <p:grpSpPr bwMode="auto">
              <a:xfrm>
                <a:off x="0" y="3178"/>
                <a:ext cx="5760" cy="522"/>
                <a:chOff x="0" y="3798"/>
                <a:chExt cx="5760" cy="522"/>
              </a:xfrm>
            </p:grpSpPr>
            <p:sp>
              <p:nvSpPr>
                <p:cNvPr id="10249" name="Rectangle 9"/>
                <p:cNvSpPr>
                  <a:spLocks noChangeArrowheads="1"/>
                </p:cNvSpPr>
                <p:nvPr/>
              </p:nvSpPr>
              <p:spPr bwMode="auto">
                <a:xfrm>
                  <a:off x="5483" y="3891"/>
                  <a:ext cx="277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0" tIns="0" rIns="0" bIns="0" anchor="b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fld id="{B9C1463D-5C0D-4888-8671-79F4F3811B8A}" type="slidenum">
                    <a:rPr lang="en-US" sz="1200" b="1">
                      <a:solidFill>
                        <a:srgbClr val="FFFFFF"/>
                      </a:solidFill>
                      <a:latin typeface="Arial" pitchFamily="34" charset="0"/>
                      <a:cs typeface="Arial" charset="0"/>
                    </a:rPr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t>‹#›</a:t>
                  </a:fld>
                  <a:endParaRPr lang="en-US" sz="1200" b="1" dirty="0">
                    <a:solidFill>
                      <a:srgbClr val="FFFFFF"/>
                    </a:solidFill>
                    <a:latin typeface="Arial" pitchFamily="34" charset="0"/>
                    <a:cs typeface="Arial" charset="0"/>
                  </a:endParaRPr>
                </a:p>
              </p:txBody>
            </p:sp>
            <p:grpSp>
              <p:nvGrpSpPr>
                <p:cNvPr id="5" name="Group 10"/>
                <p:cNvGrpSpPr>
                  <a:grpSpLocks/>
                </p:cNvGrpSpPr>
                <p:nvPr userDrawn="1"/>
              </p:nvGrpSpPr>
              <p:grpSpPr bwMode="auto">
                <a:xfrm>
                  <a:off x="0" y="3798"/>
                  <a:ext cx="5758" cy="522"/>
                  <a:chOff x="0" y="3798"/>
                  <a:chExt cx="5758" cy="522"/>
                </a:xfrm>
              </p:grpSpPr>
              <p:sp>
                <p:nvSpPr>
                  <p:cNvPr id="10251" name="Rectangle 11"/>
                  <p:cNvSpPr>
                    <a:spLocks noChangeArrowheads="1"/>
                  </p:cNvSpPr>
                  <p:nvPr userDrawn="1"/>
                </p:nvSpPr>
                <p:spPr bwMode="invGray">
                  <a:xfrm>
                    <a:off x="0" y="3798"/>
                    <a:ext cx="5758" cy="522"/>
                  </a:xfrm>
                  <a:prstGeom prst="rect">
                    <a:avLst/>
                  </a:prstGeom>
                  <a:solidFill>
                    <a:srgbClr val="0860A8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endParaRPr lang="en-US" sz="2000" dirty="0">
                      <a:solidFill>
                        <a:srgbClr val="333333"/>
                      </a:solidFill>
                      <a:cs typeface="Arial" charset="0"/>
                    </a:endParaRPr>
                  </a:p>
                </p:txBody>
              </p:sp>
              <p:pic>
                <p:nvPicPr>
                  <p:cNvPr id="1037" name="Picture 12" descr="intel_wht_100 [Converted]"/>
                  <p:cNvPicPr>
                    <a:picLocks noChangeAspect="1" noChangeArrowheads="1"/>
                  </p:cNvPicPr>
                  <p:nvPr userDrawn="1"/>
                </p:nvPicPr>
                <p:blipFill>
                  <a:blip r:embed="rId14" cstate="email"/>
                  <a:srcRect/>
                  <a:stretch>
                    <a:fillRect/>
                  </a:stretch>
                </p:blipFill>
                <p:spPr bwMode="auto">
                  <a:xfrm>
                    <a:off x="4968" y="3884"/>
                    <a:ext cx="508" cy="3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10255" name="Rectangle 15"/>
                  <p:cNvSpPr>
                    <a:spLocks noChangeArrowheads="1"/>
                  </p:cNvSpPr>
                  <p:nvPr userDrawn="1"/>
                </p:nvSpPr>
                <p:spPr bwMode="auto">
                  <a:xfrm>
                    <a:off x="5481" y="3891"/>
                    <a:ext cx="277" cy="33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lIns="0" tIns="0" rIns="0" bIns="0" anchor="b"/>
                  <a:lstStyle/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fld id="{D930DB5D-384D-49D4-8D72-65E53CCA9E41}" type="slidenum">
                      <a:rPr lang="en-US" sz="1200" b="1">
                        <a:solidFill>
                          <a:srgbClr val="FFFFFF"/>
                        </a:solidFill>
                        <a:latin typeface="Arial" pitchFamily="34" charset="0"/>
                        <a:cs typeface="Arial" charset="0"/>
                      </a:rPr>
                      <a:pPr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t>‹#›</a:t>
                    </a:fld>
                    <a:endParaRPr lang="en-US" sz="1200" b="1" dirty="0">
                      <a:solidFill>
                        <a:srgbClr val="FFFFFF"/>
                      </a:solidFill>
                      <a:latin typeface="Arial" pitchFamily="34" charset="0"/>
                      <a:cs typeface="Arial" charset="0"/>
                    </a:endParaRPr>
                  </a:p>
                </p:txBody>
              </p:sp>
            </p:grpSp>
          </p:grpSp>
          <p:sp>
            <p:nvSpPr>
              <p:cNvPr id="10256" name="Text Box 16"/>
              <p:cNvSpPr txBox="1">
                <a:spLocks noChangeArrowheads="1"/>
              </p:cNvSpPr>
              <p:nvPr/>
            </p:nvSpPr>
            <p:spPr bwMode="auto">
              <a:xfrm>
                <a:off x="2362" y="3273"/>
                <a:ext cx="662" cy="235"/>
              </a:xfrm>
              <a:prstGeom prst="rect">
                <a:avLst/>
              </a:prstGeom>
              <a:noFill/>
              <a:ln w="508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GB" sz="1000" i="1" dirty="0">
                    <a:solidFill>
                      <a:srgbClr val="FFFFFF"/>
                    </a:solidFill>
                    <a:latin typeface="Arial" pitchFamily="34" charset="0"/>
                    <a:cs typeface="Arial" pitchFamily="34" charset="0"/>
                  </a:rPr>
                  <a:t>Intel Confidential</a:t>
                </a:r>
                <a:endParaRPr lang="en-US" sz="1000" i="1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pic>
        <p:nvPicPr>
          <p:cNvPr id="17" name="Picture 16" descr="C:\Users\esherer\Documents\Intel\MDO DCD\intel-HTD -3.jp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6" y="6126384"/>
            <a:ext cx="1278633" cy="63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08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Verdana" pitchFamily="34" charset="0"/>
        </a:defRPr>
      </a:lvl9pPr>
    </p:titleStyle>
    <p:bodyStyle>
      <a:lvl1pPr marL="171450" indent="-171450" algn="l" rtl="0" eaLnBrk="1" fontAlgn="base" hangingPunct="1">
        <a:spcBef>
          <a:spcPct val="0"/>
        </a:spcBef>
        <a:spcAft>
          <a:spcPct val="40000"/>
        </a:spcAft>
        <a:buSzPct val="130000"/>
        <a:buChar char="•"/>
        <a:defRPr sz="2000">
          <a:solidFill>
            <a:srgbClr val="333333"/>
          </a:solidFill>
          <a:latin typeface="+mn-lt"/>
          <a:ea typeface="+mn-ea"/>
          <a:cs typeface="+mn-cs"/>
        </a:defRPr>
      </a:lvl1pPr>
      <a:lvl2pPr marL="457200" indent="-171450" algn="l" rtl="0" eaLnBrk="1" fontAlgn="base" hangingPunct="1">
        <a:spcBef>
          <a:spcPct val="0"/>
        </a:spcBef>
        <a:spcAft>
          <a:spcPct val="40000"/>
        </a:spcAft>
        <a:buFont typeface="Verdana" pitchFamily="34" charset="0"/>
        <a:buChar char="−"/>
        <a:defRPr>
          <a:solidFill>
            <a:srgbClr val="333333"/>
          </a:solidFill>
          <a:latin typeface="+mn-lt"/>
        </a:defRPr>
      </a:lvl2pPr>
      <a:lvl3pPr marL="742950" indent="-171450" algn="l" rtl="0" eaLnBrk="1" fontAlgn="base" hangingPunct="1">
        <a:spcBef>
          <a:spcPct val="0"/>
        </a:spcBef>
        <a:spcAft>
          <a:spcPct val="40000"/>
        </a:spcAft>
        <a:buFont typeface="Verdana" pitchFamily="34" charset="0"/>
        <a:buChar char="&gt;"/>
        <a:defRPr sz="1600">
          <a:solidFill>
            <a:srgbClr val="333333"/>
          </a:solidFill>
          <a:latin typeface="+mn-lt"/>
        </a:defRPr>
      </a:lvl3pPr>
      <a:lvl4pPr marL="971550" indent="-114300" algn="l" rtl="0" eaLnBrk="1" fontAlgn="base" hangingPunct="1">
        <a:spcBef>
          <a:spcPct val="0"/>
        </a:spcBef>
        <a:spcAft>
          <a:spcPct val="40000"/>
        </a:spcAft>
        <a:buChar char="•"/>
        <a:defRPr sz="1400">
          <a:solidFill>
            <a:srgbClr val="333333"/>
          </a:solidFill>
          <a:latin typeface="+mn-lt"/>
        </a:defRPr>
      </a:lvl4pPr>
      <a:lvl5pPr marL="1200150" indent="-114300" algn="l" rtl="0" eaLnBrk="1" fontAlgn="base" hangingPunct="1">
        <a:spcBef>
          <a:spcPct val="0"/>
        </a:spcBef>
        <a:spcAft>
          <a:spcPct val="40000"/>
        </a:spcAft>
        <a:buSzPct val="130000"/>
        <a:buFont typeface="Wingdings" pitchFamily="2" charset="2"/>
        <a:buChar char="ü"/>
        <a:defRPr sz="1200">
          <a:solidFill>
            <a:srgbClr val="333333"/>
          </a:solidFill>
          <a:latin typeface="+mn-lt"/>
        </a:defRPr>
      </a:lvl5pPr>
      <a:lvl6pPr marL="1657350" indent="-114300" algn="l" rtl="0" eaLnBrk="1" fontAlgn="base" hangingPunct="1">
        <a:spcBef>
          <a:spcPct val="0"/>
        </a:spcBef>
        <a:spcAft>
          <a:spcPct val="40000"/>
        </a:spcAft>
        <a:buSzPct val="130000"/>
        <a:buFont typeface="Wingdings" pitchFamily="2" charset="2"/>
        <a:buChar char="ü"/>
        <a:defRPr sz="1200">
          <a:solidFill>
            <a:srgbClr val="333333"/>
          </a:solidFill>
          <a:latin typeface="+mn-lt"/>
        </a:defRPr>
      </a:lvl6pPr>
      <a:lvl7pPr marL="2114550" indent="-114300" algn="l" rtl="0" eaLnBrk="1" fontAlgn="base" hangingPunct="1">
        <a:spcBef>
          <a:spcPct val="0"/>
        </a:spcBef>
        <a:spcAft>
          <a:spcPct val="40000"/>
        </a:spcAft>
        <a:buSzPct val="130000"/>
        <a:buFont typeface="Wingdings" pitchFamily="2" charset="2"/>
        <a:buChar char="ü"/>
        <a:defRPr sz="1200">
          <a:solidFill>
            <a:srgbClr val="333333"/>
          </a:solidFill>
          <a:latin typeface="+mn-lt"/>
        </a:defRPr>
      </a:lvl7pPr>
      <a:lvl8pPr marL="2571750" indent="-114300" algn="l" rtl="0" eaLnBrk="1" fontAlgn="base" hangingPunct="1">
        <a:spcBef>
          <a:spcPct val="0"/>
        </a:spcBef>
        <a:spcAft>
          <a:spcPct val="40000"/>
        </a:spcAft>
        <a:buSzPct val="130000"/>
        <a:buFont typeface="Wingdings" pitchFamily="2" charset="2"/>
        <a:buChar char="ü"/>
        <a:defRPr sz="1200">
          <a:solidFill>
            <a:srgbClr val="333333"/>
          </a:solidFill>
          <a:latin typeface="+mn-lt"/>
        </a:defRPr>
      </a:lvl8pPr>
      <a:lvl9pPr marL="3028950" indent="-114300" algn="l" rtl="0" eaLnBrk="1" fontAlgn="base" hangingPunct="1">
        <a:spcBef>
          <a:spcPct val="0"/>
        </a:spcBef>
        <a:spcAft>
          <a:spcPct val="40000"/>
        </a:spcAft>
        <a:buSzPct val="130000"/>
        <a:buFont typeface="Wingdings" pitchFamily="2" charset="2"/>
        <a:buChar char="ü"/>
        <a:defRPr sz="1200">
          <a:solidFill>
            <a:srgbClr val="333333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/>
              <a:t>Tap Link Training for 10nm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dirty="0"/>
              <a:t>Enrique Santillan</a:t>
            </a:r>
          </a:p>
        </p:txBody>
      </p:sp>
    </p:spTree>
    <p:extLst>
      <p:ext uri="{BB962C8B-B14F-4D97-AF65-F5344CB8AC3E}">
        <p14:creationId xmlns:p14="http://schemas.microsoft.com/office/powerpoint/2010/main" val="3666593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879" y="222530"/>
            <a:ext cx="10955867" cy="901700"/>
          </a:xfrm>
        </p:spPr>
        <p:txBody>
          <a:bodyPr/>
          <a:lstStyle/>
          <a:p>
            <a:r>
              <a:rPr lang="en-US" dirty="0"/>
              <a:t>Basic Tap Link Cluster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579" y="616230"/>
            <a:ext cx="9333714" cy="5511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4458" y="1503827"/>
            <a:ext cx="23295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CMDs</a:t>
            </a:r>
          </a:p>
          <a:p>
            <a:r>
              <a:rPr lang="en-US" dirty="0"/>
              <a:t>SCANI:  0010</a:t>
            </a:r>
          </a:p>
          <a:p>
            <a:r>
              <a:rPr lang="en-US" dirty="0"/>
              <a:t>SCAND: 0011101</a:t>
            </a:r>
          </a:p>
          <a:p>
            <a:r>
              <a:rPr lang="en-US" dirty="0"/>
              <a:t>SCANI:  0001</a:t>
            </a:r>
          </a:p>
          <a:p>
            <a:r>
              <a:rPr lang="en-US" dirty="0"/>
              <a:t>SCAND: 0101001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71341" y="3371850"/>
            <a:ext cx="166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Stage:</a:t>
            </a:r>
          </a:p>
          <a:p>
            <a:r>
              <a:rPr lang="en-US" dirty="0"/>
              <a:t>  POWER 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579" y="616230"/>
            <a:ext cx="9333714" cy="5511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1341" y="4001257"/>
            <a:ext cx="166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341" y="4324423"/>
            <a:ext cx="166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Inputs IR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2579" y="616230"/>
            <a:ext cx="9333714" cy="5511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1341" y="4647588"/>
            <a:ext cx="166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Inputs DR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849" y="616230"/>
            <a:ext cx="9333714" cy="551124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882" y="619181"/>
            <a:ext cx="9333714" cy="55112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65611" y="4970754"/>
            <a:ext cx="166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Inputs IR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6849" y="616230"/>
            <a:ext cx="9333714" cy="55112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9881" y="5276996"/>
            <a:ext cx="166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Inputs DR</a:t>
            </a:r>
          </a:p>
        </p:txBody>
      </p:sp>
    </p:spTree>
    <p:extLst>
      <p:ext uri="{BB962C8B-B14F-4D97-AF65-F5344CB8AC3E}">
        <p14:creationId xmlns:p14="http://schemas.microsoft.com/office/powerpoint/2010/main" val="159594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22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 with Legacy Tap (BDX-SKX)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09924" y="1147376"/>
            <a:ext cx="5382684" cy="3308350"/>
          </a:xfrm>
        </p:spPr>
        <p:txBody>
          <a:bodyPr/>
          <a:lstStyle/>
          <a:p>
            <a:r>
              <a:rPr lang="en-US" sz="2000" dirty="0"/>
              <a:t>Legacy Tap:</a:t>
            </a:r>
          </a:p>
          <a:p>
            <a:pPr lvl="1"/>
            <a:r>
              <a:rPr lang="en-US" sz="1800" dirty="0"/>
              <a:t>IR: (UNCOREIR)+(COREIR)</a:t>
            </a:r>
          </a:p>
          <a:p>
            <a:pPr lvl="1"/>
            <a:r>
              <a:rPr lang="en-US" sz="1800" dirty="0"/>
              <a:t>DR: &lt;DATA TO SEND&gt;</a:t>
            </a:r>
          </a:p>
          <a:p>
            <a:r>
              <a:rPr lang="en-US" sz="2000" dirty="0"/>
              <a:t>Example:</a:t>
            </a:r>
          </a:p>
          <a:p>
            <a:pPr marL="285750" lvl="1" indent="0">
              <a:buNone/>
            </a:pPr>
            <a:r>
              <a:rPr lang="en-US" sz="1200" dirty="0"/>
              <a:t>#SA_TAPCONFIG </a:t>
            </a:r>
          </a:p>
          <a:p>
            <a:pPr marL="285750" lvl="1" indent="0">
              <a:buNone/>
            </a:pPr>
            <a:r>
              <a:rPr lang="en-US" sz="1200" dirty="0"/>
              <a:t>p1_scani: 'b</a:t>
            </a:r>
            <a:r>
              <a:rPr lang="en-US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001110000</a:t>
            </a:r>
            <a:r>
              <a:rPr lang="en-US" sz="1200" dirty="0">
                <a:solidFill>
                  <a:srgbClr val="CC0000"/>
                </a:solidFill>
              </a:rPr>
              <a:t>11111111</a:t>
            </a:r>
            <a:r>
              <a:rPr lang="en-US" sz="1200" dirty="0"/>
              <a:t> ;</a:t>
            </a:r>
          </a:p>
          <a:p>
            <a:pPr marL="285750" lvl="1" indent="0">
              <a:buNone/>
            </a:pPr>
            <a:r>
              <a:rPr lang="en-US" sz="1200" dirty="0"/>
              <a:t>p1_to_state: Run-Test/Idle ;</a:t>
            </a:r>
          </a:p>
          <a:p>
            <a:pPr marL="285750" lvl="1" indent="0">
              <a:buNone/>
            </a:pPr>
            <a:r>
              <a:rPr lang="en-US" sz="1200" dirty="0"/>
              <a:t>#SA.TAPCONFIG[32] + PAD[1] = 33 bits</a:t>
            </a:r>
          </a:p>
          <a:p>
            <a:pPr marL="285750" lvl="1" indent="0">
              <a:buNone/>
            </a:pPr>
            <a:r>
              <a:rPr lang="en-US" sz="1200" dirty="0"/>
              <a:t>p1_scand: 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10000000000000000000000000001000</a:t>
            </a:r>
            <a:r>
              <a:rPr lang="en-US" sz="1200" dirty="0"/>
              <a:t>_0 , XXXXXXXXXXXXXXXXXXXXXXXXXXXXXXXXX ;</a:t>
            </a:r>
          </a:p>
          <a:p>
            <a:pPr marL="285750" lvl="1" indent="0">
              <a:buNone/>
            </a:pPr>
            <a:endParaRPr lang="en-US" sz="1200" dirty="0"/>
          </a:p>
          <a:p>
            <a:pPr marL="285750" lvl="1" indent="0">
              <a:buNone/>
            </a:pPr>
            <a:r>
              <a:rPr lang="en-US" sz="1200" dirty="0"/>
              <a:t># CORE_IDVRESET </a:t>
            </a:r>
          </a:p>
          <a:p>
            <a:pPr marL="285750" lvl="1" indent="0">
              <a:buNone/>
            </a:pPr>
            <a:r>
              <a:rPr lang="en-US" sz="1200" dirty="0"/>
              <a:t>p1_scani: 'b</a:t>
            </a:r>
            <a:r>
              <a:rPr lang="en-US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111111111</a:t>
            </a:r>
            <a:r>
              <a:rPr lang="en-US" sz="1200" dirty="0">
                <a:solidFill>
                  <a:srgbClr val="FF0000"/>
                </a:solidFill>
              </a:rPr>
              <a:t>01101001</a:t>
            </a:r>
            <a:r>
              <a:rPr lang="en-US" sz="1200" dirty="0"/>
              <a:t> ;</a:t>
            </a:r>
          </a:p>
          <a:p>
            <a:pPr marL="285750" lvl="1" indent="0">
              <a:buNone/>
            </a:pPr>
            <a:r>
              <a:rPr lang="en-US" sz="1200" dirty="0"/>
              <a:t>p1_to_state: Run-Test/Idle ;</a:t>
            </a:r>
          </a:p>
          <a:p>
            <a:pPr marL="285750" lvl="1" indent="0">
              <a:buNone/>
            </a:pPr>
            <a:r>
              <a:rPr lang="en-US" sz="1200" dirty="0"/>
              <a:t># PAD[1] + PAD[2] + CORE0.IDVRESET[1] + PAD[2] + PAD[1] = 7 bits</a:t>
            </a:r>
          </a:p>
          <a:p>
            <a:pPr marL="285750" lvl="1" indent="0">
              <a:buNone/>
            </a:pPr>
            <a:r>
              <a:rPr lang="en-US" sz="1200" dirty="0"/>
              <a:t>p1_scand: 000_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  <a:r>
              <a:rPr lang="en-US" sz="1200" dirty="0"/>
              <a:t>_000 , XXXXXXX ;</a:t>
            </a:r>
          </a:p>
          <a:p>
            <a:pPr marL="285750" lvl="1" indent="0">
              <a:buNone/>
            </a:pPr>
            <a:endParaRPr lang="en-US" sz="1200" dirty="0"/>
          </a:p>
          <a:p>
            <a:pPr marL="285750" lvl="1" indent="0">
              <a:buNone/>
            </a:pPr>
            <a:endParaRPr lang="en-US" sz="1200" dirty="0"/>
          </a:p>
          <a:p>
            <a:pPr marL="285750" lvl="1" indent="0">
              <a:buNone/>
            </a:pPr>
            <a:endParaRPr lang="en-US" sz="12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786886" y="1153095"/>
            <a:ext cx="5382683" cy="3308350"/>
          </a:xfrm>
        </p:spPr>
        <p:txBody>
          <a:bodyPr/>
          <a:lstStyle/>
          <a:p>
            <a:r>
              <a:rPr lang="en-US" sz="1600" b="1" dirty="0"/>
              <a:t>Tap Link:</a:t>
            </a:r>
          </a:p>
          <a:p>
            <a:r>
              <a:rPr lang="en-US" sz="1600" dirty="0"/>
              <a:t>CLTAP:</a:t>
            </a:r>
          </a:p>
          <a:p>
            <a:pPr lvl="1"/>
            <a:r>
              <a:rPr lang="en-US" sz="1400" dirty="0"/>
              <a:t>IR:   CLTAPIR</a:t>
            </a:r>
          </a:p>
          <a:p>
            <a:pPr lvl="1"/>
            <a:r>
              <a:rPr lang="en-US" sz="1400" dirty="0"/>
              <a:t>DR:  &lt;DATA TO SEND&gt;</a:t>
            </a:r>
          </a:p>
          <a:p>
            <a:r>
              <a:rPr lang="en-US" sz="1600" dirty="0"/>
              <a:t>Agent:</a:t>
            </a:r>
          </a:p>
          <a:p>
            <a:pPr lvl="1"/>
            <a:r>
              <a:rPr lang="en-US" sz="1400" dirty="0"/>
              <a:t>IR:   CLTAP TO AGENT IR</a:t>
            </a:r>
          </a:p>
          <a:p>
            <a:pPr lvl="1"/>
            <a:r>
              <a:rPr lang="en-US" sz="1400" dirty="0"/>
              <a:t>DR:  AGENT IR</a:t>
            </a:r>
          </a:p>
          <a:p>
            <a:pPr lvl="1"/>
            <a:r>
              <a:rPr lang="en-US" sz="1400" dirty="0"/>
              <a:t>IR:   CLTAP TO AGENT DR</a:t>
            </a:r>
          </a:p>
          <a:p>
            <a:pPr lvl="1"/>
            <a:r>
              <a:rPr lang="en-US" sz="1400" dirty="0"/>
              <a:t>DR:  &lt;DATA TO SEND&gt;</a:t>
            </a:r>
          </a:p>
          <a:p>
            <a:pPr marL="285750" lvl="1" indent="0">
              <a:buNone/>
            </a:pPr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 bwMode="auto">
          <a:xfrm>
            <a:off x="7155255" y="3958983"/>
            <a:ext cx="5036745" cy="189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714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Char char="•"/>
              <a:defRPr sz="28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45720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−"/>
              <a:defRPr sz="2400">
                <a:solidFill>
                  <a:srgbClr val="333333"/>
                </a:solidFill>
                <a:latin typeface="+mn-lt"/>
              </a:defRPr>
            </a:lvl2pPr>
            <a:lvl3pPr marL="7429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&gt;"/>
              <a:defRPr sz="2000">
                <a:solidFill>
                  <a:srgbClr val="333333"/>
                </a:solidFill>
                <a:latin typeface="+mn-lt"/>
              </a:defRPr>
            </a:lvl3pPr>
            <a:lvl4pPr marL="971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Char char="•"/>
              <a:defRPr sz="1800">
                <a:solidFill>
                  <a:srgbClr val="333333"/>
                </a:solidFill>
                <a:latin typeface="+mn-lt"/>
              </a:defRPr>
            </a:lvl4pPr>
            <a:lvl5pPr marL="12001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5pPr>
            <a:lvl6pPr marL="16573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6pPr>
            <a:lvl7pPr marL="2114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7pPr>
            <a:lvl8pPr marL="25717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8pPr>
            <a:lvl9pPr marL="30289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9pPr>
          </a:lstStyle>
          <a:p>
            <a:pPr lvl="1"/>
            <a:r>
              <a:rPr lang="en-US" sz="1400" kern="0" dirty="0"/>
              <a:t>Agent</a:t>
            </a:r>
            <a:r>
              <a:rPr lang="en-US" sz="1400" kern="0" dirty="0">
                <a:sym typeface="Wingdings" panose="05000000000000000000" pitchFamily="2" charset="2"/>
              </a:rPr>
              <a:t>: (CORE_TAPCONFIG)</a:t>
            </a:r>
            <a:endParaRPr lang="en-US" sz="1400" kern="0" dirty="0"/>
          </a:p>
          <a:p>
            <a:pPr marL="571500" lvl="2" indent="0">
              <a:buNone/>
            </a:pPr>
            <a:r>
              <a:rPr lang="en-US" sz="1000" kern="0" dirty="0" err="1"/>
              <a:t>scani</a:t>
            </a:r>
            <a:r>
              <a:rPr lang="en-US" sz="1000" kern="0" dirty="0"/>
              <a:t>: </a:t>
            </a:r>
            <a:r>
              <a:rPr lang="en-US" sz="1000" kern="0" dirty="0">
                <a:solidFill>
                  <a:srgbClr val="FF9900"/>
                </a:solidFill>
              </a:rPr>
              <a:t>001111001100</a:t>
            </a:r>
            <a:r>
              <a:rPr lang="en-US" sz="1000" kern="0" dirty="0"/>
              <a:t> ;</a:t>
            </a:r>
          </a:p>
          <a:p>
            <a:pPr marL="571500" lvl="2" indent="0">
              <a:buNone/>
            </a:pPr>
            <a:r>
              <a:rPr lang="en-US" sz="1000" kern="0" dirty="0" err="1"/>
              <a:t>to_state</a:t>
            </a:r>
            <a:r>
              <a:rPr lang="en-US" sz="1000" kern="0" dirty="0"/>
              <a:t>: Run-Test/Idle ;</a:t>
            </a:r>
          </a:p>
          <a:p>
            <a:pPr marL="571500" lvl="2" indent="0">
              <a:buNone/>
            </a:pPr>
            <a:r>
              <a:rPr lang="en-US" sz="1000" kern="0" dirty="0" err="1"/>
              <a:t>scand</a:t>
            </a:r>
            <a:r>
              <a:rPr lang="en-US" sz="1000" kern="0" dirty="0"/>
              <a:t>: </a:t>
            </a:r>
            <a:r>
              <a:rPr lang="en-US" sz="1000" kern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01010010</a:t>
            </a:r>
            <a:r>
              <a:rPr lang="en-US" sz="1000" kern="0" dirty="0"/>
              <a:t>, XXXXXXXX ;</a:t>
            </a:r>
          </a:p>
          <a:p>
            <a:pPr marL="571500" lvl="2" indent="0">
              <a:buNone/>
            </a:pPr>
            <a:r>
              <a:rPr lang="en-US" sz="1000" kern="0" dirty="0" err="1"/>
              <a:t>to_state</a:t>
            </a:r>
            <a:r>
              <a:rPr lang="en-US" sz="1000" kern="0" dirty="0"/>
              <a:t>: Run-Test/Idle ;</a:t>
            </a:r>
          </a:p>
          <a:p>
            <a:pPr marL="571500" lvl="2" indent="0">
              <a:buNone/>
            </a:pPr>
            <a:r>
              <a:rPr lang="en-US" sz="1000" kern="0" dirty="0" err="1"/>
              <a:t>scani</a:t>
            </a:r>
            <a:r>
              <a:rPr lang="en-US" sz="1000" kern="0" dirty="0"/>
              <a:t>: </a:t>
            </a:r>
            <a:r>
              <a:rPr lang="en-US" sz="1000" kern="0" dirty="0">
                <a:solidFill>
                  <a:srgbClr val="FF0000"/>
                </a:solidFill>
              </a:rPr>
              <a:t>001111001101</a:t>
            </a:r>
            <a:r>
              <a:rPr lang="en-US" sz="1000" kern="0" dirty="0"/>
              <a:t> ;</a:t>
            </a:r>
          </a:p>
          <a:p>
            <a:pPr marL="571500" lvl="2" indent="0">
              <a:buNone/>
            </a:pPr>
            <a:r>
              <a:rPr lang="en-US" sz="1000" kern="0" dirty="0" err="1"/>
              <a:t>to_state</a:t>
            </a:r>
            <a:r>
              <a:rPr lang="en-US" sz="1000" kern="0" dirty="0"/>
              <a:t>: Run-Test/Idle ;</a:t>
            </a:r>
          </a:p>
          <a:p>
            <a:pPr marL="571500" lvl="2" indent="0">
              <a:buNone/>
            </a:pPr>
            <a:r>
              <a:rPr lang="en-US" sz="1000" kern="0" dirty="0" err="1"/>
              <a:t>scand</a:t>
            </a:r>
            <a:r>
              <a:rPr lang="en-US" sz="1000" kern="0" dirty="0"/>
              <a:t>: </a:t>
            </a:r>
            <a:r>
              <a:rPr lang="en-US" sz="1000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0111000000000000000110010010011100000000000000</a:t>
            </a:r>
            <a:r>
              <a:rPr lang="en-US" sz="1000" kern="0" dirty="0"/>
              <a:t>, XXXXXXXXXXXXXXXXXXXXXXXXXXXXXXXXXXXXXXXXXXXXXX ;</a:t>
            </a:r>
            <a:endParaRPr lang="en-US" sz="1400" kern="0" dirty="0"/>
          </a:p>
          <a:p>
            <a:pPr lvl="1"/>
            <a:endParaRPr lang="en-US" sz="1400" kern="0" dirty="0"/>
          </a:p>
          <a:p>
            <a:pPr lvl="1"/>
            <a:endParaRPr lang="en-US" sz="1400" kern="0" dirty="0"/>
          </a:p>
        </p:txBody>
      </p:sp>
      <p:sp>
        <p:nvSpPr>
          <p:cNvPr id="7" name="Content Placeholder 4"/>
          <p:cNvSpPr txBox="1">
            <a:spLocks/>
          </p:cNvSpPr>
          <p:nvPr/>
        </p:nvSpPr>
        <p:spPr bwMode="auto">
          <a:xfrm>
            <a:off x="9182878" y="2052089"/>
            <a:ext cx="2360639" cy="151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714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Char char="•"/>
              <a:defRPr sz="28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45720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−"/>
              <a:defRPr sz="2400">
                <a:solidFill>
                  <a:srgbClr val="333333"/>
                </a:solidFill>
                <a:latin typeface="+mn-lt"/>
              </a:defRPr>
            </a:lvl2pPr>
            <a:lvl3pPr marL="7429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&gt;"/>
              <a:defRPr sz="2000">
                <a:solidFill>
                  <a:srgbClr val="333333"/>
                </a:solidFill>
                <a:latin typeface="+mn-lt"/>
              </a:defRPr>
            </a:lvl3pPr>
            <a:lvl4pPr marL="971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Char char="•"/>
              <a:defRPr sz="1800">
                <a:solidFill>
                  <a:srgbClr val="333333"/>
                </a:solidFill>
                <a:latin typeface="+mn-lt"/>
              </a:defRPr>
            </a:lvl4pPr>
            <a:lvl5pPr marL="12001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5pPr>
            <a:lvl6pPr marL="16573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6pPr>
            <a:lvl7pPr marL="2114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7pPr>
            <a:lvl8pPr marL="25717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8pPr>
            <a:lvl9pPr marL="30289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9pPr>
          </a:lstStyle>
          <a:p>
            <a:r>
              <a:rPr lang="en-US" sz="1800" kern="0" dirty="0"/>
              <a:t>Examples:</a:t>
            </a:r>
          </a:p>
          <a:p>
            <a:pPr lvl="1"/>
            <a:r>
              <a:rPr lang="en-US" sz="1400" kern="0" dirty="0"/>
              <a:t>CLTAP:</a:t>
            </a:r>
          </a:p>
          <a:p>
            <a:pPr marL="571500" lvl="2" indent="0">
              <a:buFont typeface="Verdana" pitchFamily="34" charset="0"/>
              <a:buNone/>
            </a:pPr>
            <a:r>
              <a:rPr lang="en-US" sz="1000" kern="0" dirty="0"/>
              <a:t>#CLTAP TAP CONFIG</a:t>
            </a:r>
          </a:p>
          <a:p>
            <a:pPr marL="571500" lvl="2" indent="0">
              <a:buFont typeface="Verdana" pitchFamily="34" charset="0"/>
              <a:buNone/>
            </a:pPr>
            <a:r>
              <a:rPr lang="en-US" sz="1000" kern="0" dirty="0" err="1"/>
              <a:t>scani</a:t>
            </a:r>
            <a:r>
              <a:rPr lang="en-US" sz="1000" kern="0" dirty="0"/>
              <a:t>: </a:t>
            </a:r>
            <a:r>
              <a:rPr lang="en-US" sz="1000" kern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000011000100</a:t>
            </a:r>
            <a:r>
              <a:rPr lang="en-US" sz="1000" kern="0" dirty="0"/>
              <a:t> ;</a:t>
            </a:r>
          </a:p>
          <a:p>
            <a:pPr marL="571500" lvl="2" indent="0">
              <a:buFont typeface="Verdana" pitchFamily="34" charset="0"/>
              <a:buNone/>
            </a:pPr>
            <a:r>
              <a:rPr lang="en-US" sz="1000" kern="0" dirty="0" err="1"/>
              <a:t>to_state</a:t>
            </a:r>
            <a:r>
              <a:rPr lang="en-US" sz="1000" kern="0" dirty="0"/>
              <a:t>: Run-Test/Idle ;</a:t>
            </a:r>
          </a:p>
          <a:p>
            <a:pPr marL="571500" lvl="2" indent="0">
              <a:buFont typeface="Verdana" pitchFamily="34" charset="0"/>
              <a:buNone/>
            </a:pPr>
            <a:r>
              <a:rPr lang="en-US" sz="1000" kern="0" dirty="0" err="1"/>
              <a:t>scand</a:t>
            </a:r>
            <a:r>
              <a:rPr lang="en-US" sz="1000" kern="0" dirty="0"/>
              <a:t>: </a:t>
            </a:r>
            <a:r>
              <a:rPr lang="en-US" sz="1000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0100</a:t>
            </a:r>
            <a:r>
              <a:rPr lang="en-US" sz="1000" kern="0" dirty="0"/>
              <a:t>, XXXX ;</a:t>
            </a:r>
          </a:p>
          <a:p>
            <a:pPr marL="571500" lvl="2" indent="0">
              <a:buFont typeface="Verdana" pitchFamily="34" charset="0"/>
              <a:buNone/>
            </a:pPr>
            <a:r>
              <a:rPr lang="en-US" sz="1000" kern="0" dirty="0" err="1"/>
              <a:t>to_state</a:t>
            </a:r>
            <a:r>
              <a:rPr lang="en-US" sz="1000" kern="0" dirty="0"/>
              <a:t>: Run-Test/Idle ;</a:t>
            </a:r>
          </a:p>
          <a:p>
            <a:pPr marL="285750" lvl="1" indent="0">
              <a:buFont typeface="Verdana" pitchFamily="34" charset="0"/>
              <a:buNone/>
            </a:pPr>
            <a:endParaRPr lang="en-US" sz="1400" kern="0" dirty="0"/>
          </a:p>
          <a:p>
            <a:pPr lvl="1"/>
            <a:endParaRPr lang="en-US" sz="1400" kern="0" dirty="0"/>
          </a:p>
          <a:p>
            <a:pPr lvl="1"/>
            <a:endParaRPr lang="en-US" sz="1400" kern="0" dirty="0"/>
          </a:p>
        </p:txBody>
      </p:sp>
    </p:spTree>
    <p:extLst>
      <p:ext uri="{BB962C8B-B14F-4D97-AF65-F5344CB8AC3E}">
        <p14:creationId xmlns:p14="http://schemas.microsoft.com/office/powerpoint/2010/main" val="78183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Legacy Tap (BDX)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4116" y="947393"/>
            <a:ext cx="5830977" cy="48418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0161" y="1456440"/>
            <a:ext cx="4813955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Legacy Tap:</a:t>
            </a:r>
          </a:p>
          <a:p>
            <a:pPr lvl="1"/>
            <a:r>
              <a:rPr lang="en-US" dirty="0"/>
              <a:t>IR: (UNCOREIR)+(COREIR)</a:t>
            </a:r>
          </a:p>
          <a:p>
            <a:pPr lvl="1"/>
            <a:r>
              <a:rPr lang="en-US" dirty="0"/>
              <a:t>DR: &lt;DATA TO SEND&gt;</a:t>
            </a:r>
          </a:p>
          <a:p>
            <a:r>
              <a:rPr lang="en-US" sz="2000" dirty="0"/>
              <a:t>Example:</a:t>
            </a:r>
          </a:p>
          <a:p>
            <a:pPr marL="285750" lvl="1" indent="0">
              <a:buNone/>
            </a:pPr>
            <a:r>
              <a:rPr lang="en-US" sz="1200" dirty="0"/>
              <a:t>#SA_TAPCONFIG </a:t>
            </a:r>
          </a:p>
          <a:p>
            <a:pPr marL="285750" lvl="1" indent="0">
              <a:buNone/>
            </a:pPr>
            <a:r>
              <a:rPr lang="en-US" sz="1200" dirty="0"/>
              <a:t>p1_scani: 'b</a:t>
            </a:r>
            <a:r>
              <a:rPr lang="en-US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001110000</a:t>
            </a:r>
            <a:r>
              <a:rPr lang="en-US" sz="1200" dirty="0">
                <a:solidFill>
                  <a:srgbClr val="CC0000"/>
                </a:solidFill>
              </a:rPr>
              <a:t>11111111</a:t>
            </a:r>
            <a:r>
              <a:rPr lang="en-US" sz="1200" dirty="0"/>
              <a:t> ;</a:t>
            </a:r>
          </a:p>
          <a:p>
            <a:pPr marL="285750" lvl="1" indent="0">
              <a:buNone/>
            </a:pPr>
            <a:r>
              <a:rPr lang="en-US" sz="1200" dirty="0"/>
              <a:t>p1_to_state: Run-Test/Idle ;</a:t>
            </a:r>
          </a:p>
          <a:p>
            <a:pPr marL="285750" lvl="1" indent="0">
              <a:buNone/>
            </a:pPr>
            <a:r>
              <a:rPr lang="en-US" sz="1200" dirty="0"/>
              <a:t>#SA.TAPCONFIG[32] + PAD[1] = 33 bits</a:t>
            </a:r>
          </a:p>
          <a:p>
            <a:pPr marL="285750" lvl="1" indent="0">
              <a:buNone/>
            </a:pPr>
            <a:r>
              <a:rPr lang="en-US" sz="1200" dirty="0"/>
              <a:t>p1_scand: 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10000000000000000000000000001000</a:t>
            </a:r>
            <a:r>
              <a:rPr lang="en-US" sz="1200" dirty="0"/>
              <a:t>_0 , XXXXXXXXXXXXXXXXXXXXXXXXXXXXXXXXX ;</a:t>
            </a:r>
          </a:p>
          <a:p>
            <a:pPr marL="285750" lvl="1" indent="0">
              <a:buNone/>
            </a:pPr>
            <a:endParaRPr lang="en-US" sz="1200" dirty="0"/>
          </a:p>
          <a:p>
            <a:pPr marL="285750" lvl="1" indent="0">
              <a:buNone/>
            </a:pPr>
            <a:r>
              <a:rPr lang="en-US" sz="1200" dirty="0"/>
              <a:t># CORE_IDVRESET </a:t>
            </a:r>
          </a:p>
          <a:p>
            <a:pPr marL="285750" lvl="1" indent="0">
              <a:buNone/>
            </a:pPr>
            <a:r>
              <a:rPr lang="en-US" sz="1200" dirty="0"/>
              <a:t>p1_scani: 'b</a:t>
            </a:r>
            <a:r>
              <a:rPr lang="en-US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111111111</a:t>
            </a:r>
            <a:r>
              <a:rPr lang="en-US" sz="1200" dirty="0">
                <a:solidFill>
                  <a:srgbClr val="FF0000"/>
                </a:solidFill>
              </a:rPr>
              <a:t>01101001</a:t>
            </a:r>
            <a:r>
              <a:rPr lang="en-US" sz="1200" dirty="0"/>
              <a:t> ;</a:t>
            </a:r>
          </a:p>
          <a:p>
            <a:pPr marL="285750" lvl="1" indent="0">
              <a:buNone/>
            </a:pPr>
            <a:r>
              <a:rPr lang="en-US" sz="1200" dirty="0"/>
              <a:t>p1_to_state: Run-Test/Idle ;</a:t>
            </a:r>
          </a:p>
          <a:p>
            <a:pPr marL="285750" lvl="1" indent="0">
              <a:buNone/>
            </a:pPr>
            <a:r>
              <a:rPr lang="en-US" sz="1200" dirty="0"/>
              <a:t># PAD[1] + PAD[2] + CORE0.IDVRESET[1] + PAD[2] + PAD[1] = 7 bits</a:t>
            </a:r>
          </a:p>
          <a:p>
            <a:pPr marL="285750" lvl="1" indent="0">
              <a:buNone/>
            </a:pPr>
            <a:r>
              <a:rPr lang="en-US" sz="1200" dirty="0"/>
              <a:t>p1_scand: 000_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  <a:r>
              <a:rPr lang="en-US" sz="1200" dirty="0"/>
              <a:t>_000 , XXXXXXX ;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7000875" y="1981200"/>
            <a:ext cx="1600200" cy="89535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Callout 6"/>
          <p:cNvSpPr/>
          <p:nvPr/>
        </p:nvSpPr>
        <p:spPr>
          <a:xfrm>
            <a:off x="10220325" y="1981200"/>
            <a:ext cx="1600200" cy="89535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167117" y="2105709"/>
            <a:ext cx="170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Listen to bits[16:8]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3339" y="2105709"/>
            <a:ext cx="170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Listen to bits[7:0]</a:t>
            </a:r>
          </a:p>
        </p:txBody>
      </p:sp>
    </p:spTree>
    <p:extLst>
      <p:ext uri="{BB962C8B-B14F-4D97-AF65-F5344CB8AC3E}">
        <p14:creationId xmlns:p14="http://schemas.microsoft.com/office/powerpoint/2010/main" val="3033766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Tap Link (CNL-ICXSP-KNH)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half" idx="4294967295"/>
          </p:nvPr>
        </p:nvSpPr>
        <p:spPr>
          <a:xfrm>
            <a:off x="596899" y="945704"/>
            <a:ext cx="5382683" cy="3308350"/>
          </a:xfrm>
          <a:prstGeom prst="rect">
            <a:avLst/>
          </a:prstGeom>
        </p:spPr>
        <p:txBody>
          <a:bodyPr/>
          <a:lstStyle/>
          <a:p>
            <a:r>
              <a:rPr lang="en-US" sz="1600" b="1" dirty="0"/>
              <a:t>Tap Link:</a:t>
            </a:r>
          </a:p>
          <a:p>
            <a:r>
              <a:rPr lang="en-US" sz="1600" dirty="0"/>
              <a:t>CLTAP:</a:t>
            </a:r>
          </a:p>
          <a:p>
            <a:pPr lvl="1"/>
            <a:r>
              <a:rPr lang="en-US" sz="1400" dirty="0"/>
              <a:t>IR:   CLTAPIR</a:t>
            </a:r>
          </a:p>
          <a:p>
            <a:pPr lvl="1"/>
            <a:r>
              <a:rPr lang="en-US" sz="1400" dirty="0"/>
              <a:t>DR:  &lt;DATA TO SEND&gt;</a:t>
            </a:r>
          </a:p>
          <a:p>
            <a:r>
              <a:rPr lang="en-US" sz="1600" dirty="0"/>
              <a:t>Agent:</a:t>
            </a:r>
          </a:p>
          <a:p>
            <a:pPr lvl="1"/>
            <a:r>
              <a:rPr lang="en-US" sz="1400" dirty="0"/>
              <a:t>IR:   CLTAP TO AGENT IR</a:t>
            </a:r>
          </a:p>
          <a:p>
            <a:pPr lvl="1"/>
            <a:r>
              <a:rPr lang="en-US" sz="1400" dirty="0"/>
              <a:t>DR:  AGENT IR</a:t>
            </a:r>
          </a:p>
          <a:p>
            <a:pPr lvl="1"/>
            <a:r>
              <a:rPr lang="en-US" sz="1400" dirty="0"/>
              <a:t>IR:   CLTAP TO AGENT DR</a:t>
            </a:r>
          </a:p>
          <a:p>
            <a:pPr lvl="1"/>
            <a:r>
              <a:rPr lang="en-US" sz="1400" dirty="0"/>
              <a:t>DR:  &lt;DATA TO SEND&gt;</a:t>
            </a:r>
          </a:p>
          <a:p>
            <a:pPr marL="285750" lvl="1" indent="0">
              <a:buNone/>
            </a:pPr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</p:txBody>
      </p:sp>
      <p:sp>
        <p:nvSpPr>
          <p:cNvPr id="7" name="Content Placeholder 4"/>
          <p:cNvSpPr txBox="1">
            <a:spLocks/>
          </p:cNvSpPr>
          <p:nvPr/>
        </p:nvSpPr>
        <p:spPr bwMode="auto">
          <a:xfrm>
            <a:off x="0" y="3919989"/>
            <a:ext cx="5036745" cy="189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714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Char char="•"/>
              <a:defRPr sz="28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45720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−"/>
              <a:defRPr sz="2400">
                <a:solidFill>
                  <a:srgbClr val="333333"/>
                </a:solidFill>
                <a:latin typeface="+mn-lt"/>
              </a:defRPr>
            </a:lvl2pPr>
            <a:lvl3pPr marL="7429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&gt;"/>
              <a:defRPr sz="2000">
                <a:solidFill>
                  <a:srgbClr val="333333"/>
                </a:solidFill>
                <a:latin typeface="+mn-lt"/>
              </a:defRPr>
            </a:lvl3pPr>
            <a:lvl4pPr marL="971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Char char="•"/>
              <a:defRPr sz="1800">
                <a:solidFill>
                  <a:srgbClr val="333333"/>
                </a:solidFill>
                <a:latin typeface="+mn-lt"/>
              </a:defRPr>
            </a:lvl4pPr>
            <a:lvl5pPr marL="12001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5pPr>
            <a:lvl6pPr marL="16573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6pPr>
            <a:lvl7pPr marL="2114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7pPr>
            <a:lvl8pPr marL="25717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8pPr>
            <a:lvl9pPr marL="30289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800">
                <a:solidFill>
                  <a:srgbClr val="333333"/>
                </a:solidFill>
                <a:latin typeface="+mn-lt"/>
              </a:defRPr>
            </a:lvl9pPr>
          </a:lstStyle>
          <a:p>
            <a:pPr lvl="1"/>
            <a:r>
              <a:rPr lang="en-US" sz="1400" kern="0" dirty="0"/>
              <a:t>Agent</a:t>
            </a:r>
            <a:r>
              <a:rPr lang="en-US" sz="1400" kern="0" dirty="0">
                <a:sym typeface="Wingdings" panose="05000000000000000000" pitchFamily="2" charset="2"/>
              </a:rPr>
              <a:t>: (CORE_TAPCONFIG)</a:t>
            </a:r>
            <a:endParaRPr lang="en-US" sz="1400" kern="0" dirty="0"/>
          </a:p>
          <a:p>
            <a:pPr marL="571500" lvl="2" indent="0">
              <a:buNone/>
            </a:pPr>
            <a:r>
              <a:rPr lang="en-US" sz="1000" kern="0" dirty="0" err="1"/>
              <a:t>scani</a:t>
            </a:r>
            <a:r>
              <a:rPr lang="en-US" sz="1000" kern="0" dirty="0"/>
              <a:t>: </a:t>
            </a:r>
            <a:r>
              <a:rPr lang="en-US" sz="1000" kern="0" dirty="0">
                <a:solidFill>
                  <a:srgbClr val="FF9900"/>
                </a:solidFill>
              </a:rPr>
              <a:t>001111001100</a:t>
            </a:r>
            <a:r>
              <a:rPr lang="en-US" sz="1000" kern="0" dirty="0"/>
              <a:t> ;</a:t>
            </a:r>
          </a:p>
          <a:p>
            <a:pPr marL="571500" lvl="2" indent="0">
              <a:buNone/>
            </a:pPr>
            <a:r>
              <a:rPr lang="en-US" sz="1000" kern="0" dirty="0" err="1"/>
              <a:t>to_state</a:t>
            </a:r>
            <a:r>
              <a:rPr lang="en-US" sz="1000" kern="0" dirty="0"/>
              <a:t>: Run-Test/Idle ;</a:t>
            </a:r>
          </a:p>
          <a:p>
            <a:pPr marL="571500" lvl="2" indent="0">
              <a:buNone/>
            </a:pPr>
            <a:r>
              <a:rPr lang="en-US" sz="1000" kern="0" dirty="0" err="1"/>
              <a:t>scand</a:t>
            </a:r>
            <a:r>
              <a:rPr lang="en-US" sz="1000" kern="0" dirty="0"/>
              <a:t>: </a:t>
            </a:r>
            <a:r>
              <a:rPr lang="en-US" sz="1000" kern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01010010</a:t>
            </a:r>
            <a:r>
              <a:rPr lang="en-US" sz="1000" kern="0" dirty="0"/>
              <a:t>, XXXXXXXX ;</a:t>
            </a:r>
          </a:p>
          <a:p>
            <a:pPr marL="571500" lvl="2" indent="0">
              <a:buNone/>
            </a:pPr>
            <a:r>
              <a:rPr lang="en-US" sz="1000" kern="0" dirty="0" err="1"/>
              <a:t>to_state</a:t>
            </a:r>
            <a:r>
              <a:rPr lang="en-US" sz="1000" kern="0" dirty="0"/>
              <a:t>: Run-Test/Idle ;</a:t>
            </a:r>
          </a:p>
          <a:p>
            <a:pPr marL="571500" lvl="2" indent="0">
              <a:buNone/>
            </a:pPr>
            <a:r>
              <a:rPr lang="en-US" sz="1000" kern="0" dirty="0" err="1"/>
              <a:t>scani</a:t>
            </a:r>
            <a:r>
              <a:rPr lang="en-US" sz="1000" kern="0" dirty="0"/>
              <a:t>: </a:t>
            </a:r>
            <a:r>
              <a:rPr lang="en-US" sz="1000" kern="0" dirty="0">
                <a:solidFill>
                  <a:srgbClr val="FF0000"/>
                </a:solidFill>
              </a:rPr>
              <a:t>001111001101</a:t>
            </a:r>
            <a:r>
              <a:rPr lang="en-US" sz="1000" kern="0" dirty="0"/>
              <a:t> ;</a:t>
            </a:r>
          </a:p>
          <a:p>
            <a:pPr marL="571500" lvl="2" indent="0">
              <a:buNone/>
            </a:pPr>
            <a:r>
              <a:rPr lang="en-US" sz="1000" kern="0" dirty="0" err="1"/>
              <a:t>to_state</a:t>
            </a:r>
            <a:r>
              <a:rPr lang="en-US" sz="1000" kern="0" dirty="0"/>
              <a:t>: Run-Test/Idle ;</a:t>
            </a:r>
          </a:p>
          <a:p>
            <a:pPr marL="571500" lvl="2" indent="0">
              <a:buNone/>
            </a:pPr>
            <a:r>
              <a:rPr lang="en-US" sz="1000" kern="0" dirty="0" err="1"/>
              <a:t>scand</a:t>
            </a:r>
            <a:r>
              <a:rPr lang="en-US" sz="1000" kern="0" dirty="0"/>
              <a:t>: </a:t>
            </a:r>
            <a:r>
              <a:rPr lang="en-US" sz="1000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0111000000000000000110010010011100000000000000</a:t>
            </a:r>
            <a:r>
              <a:rPr lang="en-US" sz="1000" kern="0" dirty="0"/>
              <a:t>, XXXXXXXXXXXXXXXXXXXXXXXXXXXXXXXXXXXXXXXXXXXXXX ;</a:t>
            </a:r>
            <a:endParaRPr lang="en-US" sz="1400" kern="0" dirty="0"/>
          </a:p>
          <a:p>
            <a:pPr lvl="1"/>
            <a:endParaRPr lang="en-US" sz="1400" kern="0" dirty="0"/>
          </a:p>
          <a:p>
            <a:pPr lvl="1"/>
            <a:endParaRPr lang="en-US" sz="1400" kern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945704"/>
            <a:ext cx="7653938" cy="493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67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inside a tap Glue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3117" y="948690"/>
            <a:ext cx="510540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 ways to assert the IR GLUE valid: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Match the  pre-programed local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Match the pre-programed global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Match the configurable address.</a:t>
            </a:r>
          </a:p>
          <a:p>
            <a:endParaRPr lang="en-US" b="1" dirty="0"/>
          </a:p>
          <a:p>
            <a:r>
              <a:rPr lang="en-US" b="1" dirty="0"/>
              <a:t>Each GLUE agent has 2 IR registers:</a:t>
            </a:r>
          </a:p>
          <a:p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Configuration.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Configurable </a:t>
            </a:r>
            <a:r>
              <a:rPr lang="en-US" sz="1600" b="1" dirty="0" err="1"/>
              <a:t>addrs</a:t>
            </a:r>
            <a:r>
              <a:rPr lang="en-US" sz="1600" b="1" dirty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Disable the agent.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Disable the output.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….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Status.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Agent has PWR GOOD?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Agent is connected?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…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679" y="330200"/>
            <a:ext cx="5528198" cy="578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14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 and Status registers per agent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445917" y="676469"/>
            <a:ext cx="5386917" cy="639762"/>
          </a:xfrm>
        </p:spPr>
        <p:txBody>
          <a:bodyPr/>
          <a:lstStyle/>
          <a:p>
            <a:r>
              <a:rPr lang="en-US" dirty="0"/>
              <a:t>TAP CONFIG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1405031" y="1304693"/>
            <a:ext cx="5706585" cy="4754563"/>
          </a:xfrm>
        </p:spPr>
        <p:txBody>
          <a:bodyPr/>
          <a:lstStyle/>
          <a:p>
            <a:r>
              <a:rPr lang="en-US" sz="1400" dirty="0"/>
              <a:t>DYNAMIC_WR_EN</a:t>
            </a:r>
          </a:p>
          <a:p>
            <a:r>
              <a:rPr lang="en-US" sz="1400" dirty="0"/>
              <a:t>DYNAMIC_BASE_ADDRESS</a:t>
            </a:r>
          </a:p>
          <a:p>
            <a:r>
              <a:rPr lang="en-US" sz="1400" dirty="0"/>
              <a:t>DISABLE_WR_EN</a:t>
            </a:r>
          </a:p>
          <a:p>
            <a:r>
              <a:rPr lang="en-US" sz="1400" dirty="0"/>
              <a:t>DISABLE_TDO</a:t>
            </a:r>
          </a:p>
          <a:p>
            <a:r>
              <a:rPr lang="en-US" sz="1400" dirty="0"/>
              <a:t>DISABLE_PREVIOUS_LINK_TDO</a:t>
            </a:r>
          </a:p>
          <a:p>
            <a:r>
              <a:rPr lang="en-US" sz="1400" dirty="0"/>
              <a:t>DISABLE_TAP</a:t>
            </a:r>
          </a:p>
          <a:p>
            <a:r>
              <a:rPr lang="en-US" sz="1400" dirty="0"/>
              <a:t>PWRGOOD_OVERRIDE_EN</a:t>
            </a:r>
          </a:p>
          <a:p>
            <a:r>
              <a:rPr lang="en-US" sz="1400" dirty="0"/>
              <a:t>PWRGOOD_OVERRIDE_VALUE</a:t>
            </a:r>
          </a:p>
          <a:p>
            <a:r>
              <a:rPr lang="en-US" sz="1400" dirty="0"/>
              <a:t>PHYSICAL_OFFSET_SEL_WE_EN</a:t>
            </a:r>
          </a:p>
          <a:p>
            <a:r>
              <a:rPr lang="en-US" sz="1400" dirty="0"/>
              <a:t>PHYSICAL_OFFSET_SEL</a:t>
            </a:r>
          </a:p>
          <a:p>
            <a:r>
              <a:rPr lang="en-US" sz="1400" dirty="0"/>
              <a:t>MODE_WR_EN</a:t>
            </a:r>
          </a:p>
          <a:p>
            <a:r>
              <a:rPr lang="en-US" sz="1400" dirty="0"/>
              <a:t>SHIFTDR_MODIFY_SET</a:t>
            </a:r>
          </a:p>
          <a:p>
            <a:r>
              <a:rPr lang="en-US" sz="1400" dirty="0"/>
              <a:t>SHIFTDR_MODIFY_CLEAR</a:t>
            </a:r>
          </a:p>
          <a:p>
            <a:r>
              <a:rPr lang="en-US" sz="1400" dirty="0"/>
              <a:t>DISABLE_UPDATEDR</a:t>
            </a:r>
          </a:p>
          <a:p>
            <a:r>
              <a:rPr lang="en-US" sz="1400" dirty="0"/>
              <a:t>DISABLE_CAPTUREDR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6394084" y="709926"/>
            <a:ext cx="5389033" cy="639762"/>
          </a:xfrm>
        </p:spPr>
        <p:txBody>
          <a:bodyPr/>
          <a:lstStyle/>
          <a:p>
            <a:r>
              <a:rPr lang="en-US" dirty="0"/>
              <a:t>TAP STATUS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>
          <a:xfrm>
            <a:off x="6427537" y="1438897"/>
            <a:ext cx="5389033" cy="3951288"/>
          </a:xfrm>
        </p:spPr>
        <p:txBody>
          <a:bodyPr/>
          <a:lstStyle/>
          <a:p>
            <a:r>
              <a:rPr lang="en-US" sz="1600" dirty="0"/>
              <a:t>EP_LOGIC_EXIST</a:t>
            </a:r>
          </a:p>
          <a:p>
            <a:r>
              <a:rPr lang="en-US" sz="1600" dirty="0"/>
              <a:t>DYNAMIC_BASE_OPCODE</a:t>
            </a:r>
          </a:p>
          <a:p>
            <a:r>
              <a:rPr lang="en-US" sz="1600" dirty="0"/>
              <a:t>FSM_ERROR</a:t>
            </a:r>
          </a:p>
          <a:p>
            <a:r>
              <a:rPr lang="en-US" sz="1600" dirty="0"/>
              <a:t>ACCESS_ON_PWR_NOT_GOOD</a:t>
            </a:r>
          </a:p>
          <a:p>
            <a:r>
              <a:rPr lang="en-US" sz="1600" dirty="0"/>
              <a:t>TARGET_IP_PWRGOOD_STATUS</a:t>
            </a:r>
          </a:p>
          <a:p>
            <a:r>
              <a:rPr lang="en-US" sz="1600" dirty="0"/>
              <a:t>DISABLED_TAP</a:t>
            </a:r>
          </a:p>
        </p:txBody>
      </p:sp>
    </p:spTree>
    <p:extLst>
      <p:ext uri="{BB962C8B-B14F-4D97-AF65-F5344CB8AC3E}">
        <p14:creationId xmlns:p14="http://schemas.microsoft.com/office/powerpoint/2010/main" val="217108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3867"/>
            <a:ext cx="10241280" cy="854140"/>
          </a:xfrm>
        </p:spPr>
        <p:txBody>
          <a:bodyPr>
            <a:normAutofit/>
          </a:bodyPr>
          <a:lstStyle/>
          <a:p>
            <a:r>
              <a:rPr lang="en-US" dirty="0"/>
              <a:t>IR/DR protocol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1295435"/>
            <a:ext cx="6502400" cy="2500423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900" dirty="0"/>
              <a:t>For example if we have IP2 TAP with 8bits instruction register and we want to drive the following IR/DR</a:t>
            </a:r>
          </a:p>
          <a:p>
            <a:r>
              <a:rPr lang="en-US" sz="2900" dirty="0"/>
              <a:t>IR 0x5f (8 bits) </a:t>
            </a:r>
          </a:p>
          <a:p>
            <a:pPr>
              <a:spcBef>
                <a:spcPts val="0"/>
              </a:spcBef>
            </a:pPr>
            <a:r>
              <a:rPr lang="en-US" sz="2900" dirty="0"/>
              <a:t>DR 0x3 (4 bits DR)</a:t>
            </a:r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C000"/>
                </a:solidFill>
              </a:rPr>
              <a:t>IP2 TAP Link Base Address (LBA) is 0x40:</a:t>
            </a:r>
          </a:p>
          <a:p>
            <a:r>
              <a:rPr lang="en-US" sz="2900" dirty="0"/>
              <a:t>TAP IP2 link IR opcode 0x40</a:t>
            </a:r>
          </a:p>
          <a:p>
            <a:r>
              <a:rPr lang="en-US" sz="2900" dirty="0"/>
              <a:t>TAP IP2 link DR opcode 0x41</a:t>
            </a:r>
          </a:p>
          <a:p>
            <a:r>
              <a:rPr lang="en-US" sz="2900" dirty="0"/>
              <a:t>Note that IP IR opcode are not overlapping with any of the TAP IPs on the network</a:t>
            </a:r>
          </a:p>
          <a:p>
            <a:pPr marL="0" indent="0">
              <a:buNone/>
            </a:pPr>
            <a:endParaRPr lang="en-US" sz="2900" dirty="0"/>
          </a:p>
          <a:p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838200"/>
            <a:ext cx="42672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2" name="Title 1"/>
          <p:cNvSpPr txBox="1">
            <a:spLocks/>
          </p:cNvSpPr>
          <p:nvPr/>
        </p:nvSpPr>
        <p:spPr>
          <a:xfrm>
            <a:off x="9626600" y="1685925"/>
            <a:ext cx="383381" cy="156188"/>
          </a:xfrm>
          <a:prstGeom prst="rect">
            <a:avLst/>
          </a:prstGeom>
        </p:spPr>
        <p:txBody>
          <a:bodyPr vert="horz" lIns="0" rIns="0" bIns="0" anchor="b">
            <a:normAutofit fontScale="8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100" b="1" dirty="0">
                <a:solidFill>
                  <a:srgbClr val="00B0F0"/>
                </a:solidFill>
                <a:latin typeface="Trebuchet MS"/>
              </a:rPr>
              <a:t>0x41</a:t>
            </a:r>
          </a:p>
        </p:txBody>
      </p:sp>
      <p:sp>
        <p:nvSpPr>
          <p:cNvPr id="303" name="Title 1"/>
          <p:cNvSpPr txBox="1">
            <a:spLocks/>
          </p:cNvSpPr>
          <p:nvPr/>
        </p:nvSpPr>
        <p:spPr>
          <a:xfrm>
            <a:off x="9052036" y="2777121"/>
            <a:ext cx="383381" cy="156188"/>
          </a:xfrm>
          <a:prstGeom prst="rect">
            <a:avLst/>
          </a:prstGeom>
        </p:spPr>
        <p:txBody>
          <a:bodyPr vert="horz" lIns="0" rIns="0" bIns="0" anchor="b">
            <a:normAutofit fontScale="8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100" b="1" dirty="0">
                <a:solidFill>
                  <a:srgbClr val="00B0F0"/>
                </a:solidFill>
                <a:latin typeface="Trebuchet MS"/>
              </a:rPr>
              <a:t>0x41</a:t>
            </a:r>
          </a:p>
        </p:txBody>
      </p:sp>
      <p:sp>
        <p:nvSpPr>
          <p:cNvPr id="304" name="Title 1"/>
          <p:cNvSpPr txBox="1">
            <a:spLocks/>
          </p:cNvSpPr>
          <p:nvPr/>
        </p:nvSpPr>
        <p:spPr>
          <a:xfrm>
            <a:off x="9084808" y="3778057"/>
            <a:ext cx="383381" cy="156188"/>
          </a:xfrm>
          <a:prstGeom prst="rect">
            <a:avLst/>
          </a:prstGeom>
        </p:spPr>
        <p:txBody>
          <a:bodyPr vert="horz" lIns="0" rIns="0" bIns="0" anchor="b">
            <a:normAutofit fontScale="8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100" b="1" dirty="0">
                <a:solidFill>
                  <a:srgbClr val="00B0F0"/>
                </a:solidFill>
                <a:latin typeface="Trebuchet MS"/>
              </a:rPr>
              <a:t>0x41</a:t>
            </a:r>
          </a:p>
        </p:txBody>
      </p:sp>
      <p:sp>
        <p:nvSpPr>
          <p:cNvPr id="305" name="Title 1"/>
          <p:cNvSpPr txBox="1">
            <a:spLocks/>
          </p:cNvSpPr>
          <p:nvPr/>
        </p:nvSpPr>
        <p:spPr>
          <a:xfrm>
            <a:off x="9054184" y="4783086"/>
            <a:ext cx="383381" cy="156188"/>
          </a:xfrm>
          <a:prstGeom prst="rect">
            <a:avLst/>
          </a:prstGeom>
        </p:spPr>
        <p:txBody>
          <a:bodyPr vert="horz" lIns="0" rIns="0" bIns="0" anchor="b">
            <a:normAutofit fontScale="8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100" b="1" dirty="0">
                <a:solidFill>
                  <a:srgbClr val="00B0F0"/>
                </a:solidFill>
                <a:latin typeface="Trebuchet MS"/>
              </a:rPr>
              <a:t>0x41</a:t>
            </a:r>
          </a:p>
        </p:txBody>
      </p:sp>
      <p:sp>
        <p:nvSpPr>
          <p:cNvPr id="306" name="Title 1"/>
          <p:cNvSpPr txBox="1">
            <a:spLocks/>
          </p:cNvSpPr>
          <p:nvPr/>
        </p:nvSpPr>
        <p:spPr>
          <a:xfrm>
            <a:off x="10226220" y="3794006"/>
            <a:ext cx="383381" cy="156188"/>
          </a:xfrm>
          <a:prstGeom prst="rect">
            <a:avLst/>
          </a:prstGeom>
        </p:spPr>
        <p:txBody>
          <a:bodyPr vert="horz" lIns="0" rIns="0" bIns="0" anchor="b">
            <a:normAutofit fontScale="8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100" b="1" dirty="0">
                <a:solidFill>
                  <a:srgbClr val="00B0F0"/>
                </a:solidFill>
                <a:latin typeface="Trebuchet MS"/>
              </a:rPr>
              <a:t>0x5f</a:t>
            </a:r>
          </a:p>
        </p:txBody>
      </p:sp>
      <p:sp>
        <p:nvSpPr>
          <p:cNvPr id="307" name="Title 1"/>
          <p:cNvSpPr txBox="1">
            <a:spLocks/>
          </p:cNvSpPr>
          <p:nvPr/>
        </p:nvSpPr>
        <p:spPr>
          <a:xfrm>
            <a:off x="11248044" y="3971328"/>
            <a:ext cx="383381" cy="156188"/>
          </a:xfrm>
          <a:prstGeom prst="rect">
            <a:avLst/>
          </a:prstGeom>
        </p:spPr>
        <p:txBody>
          <a:bodyPr vert="horz" lIns="0" rIns="0" bIns="0" anchor="b">
            <a:normAutofit fontScale="8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100" b="1" dirty="0">
                <a:solidFill>
                  <a:srgbClr val="00B0F0"/>
                </a:solidFill>
                <a:latin typeface="Trebuchet MS"/>
              </a:rPr>
              <a:t>0x3</a:t>
            </a:r>
          </a:p>
        </p:txBody>
      </p:sp>
      <p:sp>
        <p:nvSpPr>
          <p:cNvPr id="308" name="Title 1"/>
          <p:cNvSpPr txBox="1">
            <a:spLocks/>
          </p:cNvSpPr>
          <p:nvPr/>
        </p:nvSpPr>
        <p:spPr>
          <a:xfrm>
            <a:off x="9631824" y="1685925"/>
            <a:ext cx="383381" cy="156188"/>
          </a:xfrm>
          <a:prstGeom prst="rect">
            <a:avLst/>
          </a:prstGeom>
        </p:spPr>
        <p:txBody>
          <a:bodyPr vert="horz" lIns="0" rIns="0" bIns="0" anchor="b">
            <a:normAutofit fontScale="8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100" b="1" dirty="0">
                <a:solidFill>
                  <a:srgbClr val="00B0F0"/>
                </a:solidFill>
                <a:latin typeface="Trebuchet MS"/>
              </a:rPr>
              <a:t>0x40</a:t>
            </a:r>
          </a:p>
        </p:txBody>
      </p:sp>
      <p:sp>
        <p:nvSpPr>
          <p:cNvPr id="309" name="Title 1"/>
          <p:cNvSpPr txBox="1">
            <a:spLocks/>
          </p:cNvSpPr>
          <p:nvPr/>
        </p:nvSpPr>
        <p:spPr>
          <a:xfrm>
            <a:off x="9057260" y="2777121"/>
            <a:ext cx="383381" cy="156188"/>
          </a:xfrm>
          <a:prstGeom prst="rect">
            <a:avLst/>
          </a:prstGeom>
        </p:spPr>
        <p:txBody>
          <a:bodyPr vert="horz" lIns="0" rIns="0" bIns="0" anchor="b">
            <a:normAutofit fontScale="8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100" b="1" dirty="0">
                <a:solidFill>
                  <a:srgbClr val="00B0F0"/>
                </a:solidFill>
                <a:latin typeface="Trebuchet MS"/>
              </a:rPr>
              <a:t>0x40</a:t>
            </a:r>
          </a:p>
        </p:txBody>
      </p:sp>
      <p:sp>
        <p:nvSpPr>
          <p:cNvPr id="310" name="Title 1"/>
          <p:cNvSpPr txBox="1">
            <a:spLocks/>
          </p:cNvSpPr>
          <p:nvPr/>
        </p:nvSpPr>
        <p:spPr>
          <a:xfrm>
            <a:off x="9059408" y="4783086"/>
            <a:ext cx="383381" cy="156188"/>
          </a:xfrm>
          <a:prstGeom prst="rect">
            <a:avLst/>
          </a:prstGeom>
        </p:spPr>
        <p:txBody>
          <a:bodyPr vert="horz" lIns="0" rIns="0" bIns="0" anchor="b">
            <a:normAutofit fontScale="8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100" b="1" dirty="0">
                <a:solidFill>
                  <a:srgbClr val="00B0F0"/>
                </a:solidFill>
                <a:latin typeface="Trebuchet MS"/>
              </a:rPr>
              <a:t>0x40</a:t>
            </a:r>
          </a:p>
        </p:txBody>
      </p:sp>
      <p:sp>
        <p:nvSpPr>
          <p:cNvPr id="312" name="Title 1"/>
          <p:cNvSpPr txBox="1">
            <a:spLocks/>
          </p:cNvSpPr>
          <p:nvPr/>
        </p:nvSpPr>
        <p:spPr>
          <a:xfrm>
            <a:off x="9081552" y="3778794"/>
            <a:ext cx="383381" cy="156188"/>
          </a:xfrm>
          <a:prstGeom prst="rect">
            <a:avLst/>
          </a:prstGeom>
        </p:spPr>
        <p:txBody>
          <a:bodyPr vert="horz" lIns="0" rIns="0" bIns="0" anchor="b">
            <a:normAutofit fontScale="8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100" b="1" dirty="0">
                <a:solidFill>
                  <a:srgbClr val="00B0F0"/>
                </a:solidFill>
                <a:latin typeface="Trebuchet MS"/>
              </a:rPr>
              <a:t>0x40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8524969" y="2514924"/>
            <a:ext cx="1202267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/>
          <a:p>
            <a:pPr algn="ctr">
              <a:spcAft>
                <a:spcPts val="1000"/>
              </a:spcAft>
              <a:defRPr/>
            </a:pPr>
            <a:r>
              <a:rPr lang="en-US" sz="1400" i="1" dirty="0">
                <a:solidFill>
                  <a:prstClr val="black"/>
                </a:solidFill>
                <a:latin typeface="Calibri" pitchFamily="34" charset="0"/>
                <a:ea typeface="Arial" pitchFamily="34" charset="0"/>
              </a:rPr>
              <a:t>LBA=0x3C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8524969" y="3512094"/>
            <a:ext cx="1202267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/>
          <a:p>
            <a:pPr algn="ctr">
              <a:spcAft>
                <a:spcPts val="1000"/>
              </a:spcAft>
              <a:defRPr/>
            </a:pPr>
            <a:r>
              <a:rPr lang="en-US" sz="1400" i="1" dirty="0">
                <a:solidFill>
                  <a:prstClr val="black"/>
                </a:solidFill>
                <a:latin typeface="Calibri" pitchFamily="34" charset="0"/>
                <a:ea typeface="Arial" pitchFamily="34" charset="0"/>
              </a:rPr>
              <a:t>LBA=0x40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8524969" y="4523012"/>
            <a:ext cx="1202267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/>
          <a:p>
            <a:pPr algn="ctr">
              <a:spcAft>
                <a:spcPts val="1000"/>
              </a:spcAft>
              <a:defRPr/>
            </a:pPr>
            <a:r>
              <a:rPr lang="en-US" sz="1400" i="1" dirty="0">
                <a:solidFill>
                  <a:prstClr val="black"/>
                </a:solidFill>
                <a:latin typeface="Calibri" pitchFamily="34" charset="0"/>
                <a:ea typeface="Arial" pitchFamily="34" charset="0"/>
              </a:rPr>
              <a:t>LBA=0x44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61989" y="3730508"/>
            <a:ext cx="969835" cy="682004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890459" y="3786514"/>
            <a:ext cx="798804" cy="184814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873565" y="3966079"/>
            <a:ext cx="684979" cy="184814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21456" y="3896015"/>
            <a:ext cx="2946400" cy="533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</a:rPr>
              <a:t>IR 0x40 </a:t>
            </a:r>
            <a:r>
              <a:rPr lang="en-US" sz="1400" dirty="0">
                <a:solidFill>
                  <a:prstClr val="black"/>
                </a:solidFill>
              </a:rPr>
              <a:t>(IP2 linkIr)</a:t>
            </a:r>
          </a:p>
        </p:txBody>
      </p:sp>
      <p:sp>
        <p:nvSpPr>
          <p:cNvPr id="22" name="Left Brace 21"/>
          <p:cNvSpPr/>
          <p:nvPr/>
        </p:nvSpPr>
        <p:spPr>
          <a:xfrm>
            <a:off x="3005456" y="4113040"/>
            <a:ext cx="508000" cy="838200"/>
          </a:xfrm>
          <a:prstGeom prst="leftBrace">
            <a:avLst>
              <a:gd name="adj1" fmla="val 29074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3" name="Left Brace 22"/>
          <p:cNvSpPr/>
          <p:nvPr/>
        </p:nvSpPr>
        <p:spPr>
          <a:xfrm>
            <a:off x="3005456" y="5522104"/>
            <a:ext cx="508000" cy="838200"/>
          </a:xfrm>
          <a:prstGeom prst="leftBrace">
            <a:avLst>
              <a:gd name="adj1" fmla="val 29074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021456" y="4570240"/>
            <a:ext cx="2946400" cy="533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prstClr val="black"/>
                </a:solidFill>
              </a:rPr>
              <a:t>DR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1456" y="5273749"/>
            <a:ext cx="2946400" cy="5334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IR 0x41 </a:t>
            </a:r>
            <a:r>
              <a:rPr lang="en-US" sz="1400" dirty="0">
                <a:solidFill>
                  <a:prstClr val="white"/>
                </a:solidFill>
              </a:rPr>
              <a:t>(IP2 linkDr)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021456" y="5959549"/>
            <a:ext cx="2946400" cy="5334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prstClr val="white"/>
                </a:solidFill>
              </a:rPr>
              <a:t>DR 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276249" y="4341640"/>
            <a:ext cx="1910515" cy="381000"/>
            <a:chOff x="1924755" y="2895600"/>
            <a:chExt cx="2194691" cy="381000"/>
          </a:xfrm>
        </p:grpSpPr>
        <p:sp>
          <p:nvSpPr>
            <p:cNvPr id="28" name="Rounded Rectangle 27"/>
            <p:cNvSpPr/>
            <p:nvPr/>
          </p:nvSpPr>
          <p:spPr>
            <a:xfrm>
              <a:off x="1924755" y="2895600"/>
              <a:ext cx="1905000" cy="3810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prstClr val="black"/>
                  </a:solidFill>
                </a:rPr>
                <a:t>IR</a:t>
              </a:r>
            </a:p>
          </p:txBody>
        </p:sp>
        <p:sp>
          <p:nvSpPr>
            <p:cNvPr id="29" name="Content Placeholder 2"/>
            <p:cNvSpPr txBox="1">
              <a:spLocks/>
            </p:cNvSpPr>
            <p:nvPr/>
          </p:nvSpPr>
          <p:spPr>
            <a:xfrm>
              <a:off x="2595434" y="2895600"/>
              <a:ext cx="1524012" cy="381000"/>
            </a:xfrm>
            <a:prstGeom prst="rect">
              <a:avLst/>
            </a:prstGeom>
          </p:spPr>
          <p:txBody>
            <a:bodyPr vert="horz">
              <a:normAutofit fontScale="85000" lnSpcReduction="20000"/>
            </a:bodyPr>
            <a:lstStyle>
              <a:lvl1pPr marL="274320" indent="-27432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9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888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888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/>
                <a:buChar char=""/>
                <a:defRPr kumimoji="0"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8720" indent="-210312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6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3040" indent="-210312" algn="l" rtl="0" eaLnBrk="1" latinLnBrk="0" hangingPunct="1">
                <a:spcBef>
                  <a:spcPct val="20000"/>
                </a:spcBef>
                <a:buClr>
                  <a:schemeClr val="accent4"/>
                </a:buClr>
                <a:buSzPct val="6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37360" indent="-210312" algn="l" rtl="0" eaLnBrk="1" latinLnBrk="0" hangingPunct="1">
                <a:spcBef>
                  <a:spcPct val="20000"/>
                </a:spcBef>
                <a:buClr>
                  <a:schemeClr val="accent5"/>
                </a:buClr>
                <a:buSzPct val="80000"/>
                <a:buFont typeface="Wingdings 2"/>
                <a:buChar char="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182880" algn="l" rtl="0" eaLnBrk="1" latinLnBrk="0" hangingPunct="1">
                <a:spcBef>
                  <a:spcPct val="20000"/>
                </a:spcBef>
                <a:buClr>
                  <a:schemeClr val="accent6"/>
                </a:buClr>
                <a:buSzPct val="80000"/>
                <a:buFont typeface="Wingdings 2"/>
                <a:buChar char=""/>
                <a:defRPr kumimoji="0"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182880" algn="l" rtl="0" eaLnBrk="1" latinLnBrk="0" hangingPunct="1">
                <a:spcBef>
                  <a:spcPct val="20000"/>
                </a:spcBef>
                <a:buClr>
                  <a:schemeClr val="tx2"/>
                </a:buClr>
                <a:buChar char="•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182880" algn="l" rtl="0" eaLnBrk="1" latinLnBrk="0" hangingPunct="1">
                <a:spcBef>
                  <a:spcPct val="20000"/>
                </a:spcBef>
                <a:buClr>
                  <a:schemeClr val="tx2"/>
                </a:buClr>
                <a:buFontTx/>
                <a:buChar char="•"/>
                <a:defRPr kumimoji="0"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>
                  <a:srgbClr val="0BD0D9"/>
                </a:buClr>
                <a:buFont typeface="Wingdings 2"/>
                <a:buNone/>
              </a:pPr>
              <a:r>
                <a:rPr lang="en-US" b="1" i="1" dirty="0">
                  <a:solidFill>
                    <a:prstClr val="black"/>
                  </a:solidFill>
                </a:rPr>
                <a:t>0x5f</a:t>
              </a:r>
            </a:p>
            <a:p>
              <a:pPr marL="27432" indent="0">
                <a:buClr>
                  <a:srgbClr val="0BD0D9"/>
                </a:buClr>
                <a:buFont typeface="Wingdings 2"/>
                <a:buNone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235486" y="5735644"/>
            <a:ext cx="1761199" cy="392289"/>
            <a:chOff x="1981200" y="4648200"/>
            <a:chExt cx="1991226" cy="392289"/>
          </a:xfrm>
        </p:grpSpPr>
        <p:sp>
          <p:nvSpPr>
            <p:cNvPr id="31" name="Rounded Rectangle 30"/>
            <p:cNvSpPr/>
            <p:nvPr/>
          </p:nvSpPr>
          <p:spPr>
            <a:xfrm>
              <a:off x="1981200" y="4648200"/>
              <a:ext cx="1905000" cy="381000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prstClr val="white"/>
                  </a:solidFill>
                </a:rPr>
                <a:t>DR</a:t>
              </a:r>
            </a:p>
          </p:txBody>
        </p:sp>
        <p:sp>
          <p:nvSpPr>
            <p:cNvPr id="32" name="Content Placeholder 2"/>
            <p:cNvSpPr txBox="1">
              <a:spLocks/>
            </p:cNvSpPr>
            <p:nvPr/>
          </p:nvSpPr>
          <p:spPr>
            <a:xfrm>
              <a:off x="2753226" y="4659489"/>
              <a:ext cx="1219200" cy="381000"/>
            </a:xfrm>
            <a:prstGeom prst="rect">
              <a:avLst/>
            </a:prstGeom>
          </p:spPr>
          <p:txBody>
            <a:bodyPr vert="horz">
              <a:normAutofit fontScale="85000" lnSpcReduction="20000"/>
            </a:bodyPr>
            <a:lstStyle>
              <a:lvl1pPr marL="274320" indent="-27432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9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888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888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/>
                <a:buChar char=""/>
                <a:defRPr kumimoji="0"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8720" indent="-210312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6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3040" indent="-210312" algn="l" rtl="0" eaLnBrk="1" latinLnBrk="0" hangingPunct="1">
                <a:spcBef>
                  <a:spcPct val="20000"/>
                </a:spcBef>
                <a:buClr>
                  <a:schemeClr val="accent4"/>
                </a:buClr>
                <a:buSzPct val="6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37360" indent="-210312" algn="l" rtl="0" eaLnBrk="1" latinLnBrk="0" hangingPunct="1">
                <a:spcBef>
                  <a:spcPct val="20000"/>
                </a:spcBef>
                <a:buClr>
                  <a:schemeClr val="accent5"/>
                </a:buClr>
                <a:buSzPct val="80000"/>
                <a:buFont typeface="Wingdings 2"/>
                <a:buChar char="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182880" algn="l" rtl="0" eaLnBrk="1" latinLnBrk="0" hangingPunct="1">
                <a:spcBef>
                  <a:spcPct val="20000"/>
                </a:spcBef>
                <a:buClr>
                  <a:schemeClr val="accent6"/>
                </a:buClr>
                <a:buSzPct val="80000"/>
                <a:buFont typeface="Wingdings 2"/>
                <a:buChar char=""/>
                <a:defRPr kumimoji="0"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182880" algn="l" rtl="0" eaLnBrk="1" latinLnBrk="0" hangingPunct="1">
                <a:spcBef>
                  <a:spcPct val="20000"/>
                </a:spcBef>
                <a:buClr>
                  <a:schemeClr val="tx2"/>
                </a:buClr>
                <a:buChar char="•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182880" algn="l" rtl="0" eaLnBrk="1" latinLnBrk="0" hangingPunct="1">
                <a:spcBef>
                  <a:spcPct val="20000"/>
                </a:spcBef>
                <a:buClr>
                  <a:schemeClr val="tx2"/>
                </a:buClr>
                <a:buFontTx/>
                <a:buChar char="•"/>
                <a:defRPr kumimoji="0"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>
                  <a:srgbClr val="0BD0D9"/>
                </a:buClr>
                <a:buFont typeface="Wingdings 2"/>
                <a:buNone/>
              </a:pPr>
              <a:r>
                <a:rPr lang="en-US" b="1" i="1" dirty="0">
                  <a:solidFill>
                    <a:prstClr val="white"/>
                  </a:solidFill>
                </a:rPr>
                <a:t>0x3</a:t>
              </a:r>
            </a:p>
            <a:p>
              <a:pPr marL="27432" indent="0">
                <a:buClr>
                  <a:srgbClr val="0BD0D9"/>
                </a:buClr>
                <a:buFont typeface="Wingdings 2"/>
                <a:buNone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33" name="Content Placeholder 2"/>
          <p:cNvSpPr txBox="1">
            <a:spLocks/>
          </p:cNvSpPr>
          <p:nvPr/>
        </p:nvSpPr>
        <p:spPr>
          <a:xfrm>
            <a:off x="776829" y="4350106"/>
            <a:ext cx="2032000" cy="3810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" indent="0">
              <a:buClr>
                <a:srgbClr val="0BD0D9"/>
              </a:buClr>
              <a:buFont typeface="Wingdings 2"/>
              <a:buNone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4" name="Content Placeholder 2"/>
          <p:cNvSpPr txBox="1">
            <a:spLocks/>
          </p:cNvSpPr>
          <p:nvPr/>
        </p:nvSpPr>
        <p:spPr>
          <a:xfrm>
            <a:off x="803248" y="6228778"/>
            <a:ext cx="1625600" cy="3810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BD0D9"/>
              </a:buClr>
              <a:buFont typeface="Wingdings 2"/>
              <a:buNone/>
            </a:pPr>
            <a:r>
              <a:rPr lang="en-US" b="1" i="1" dirty="0">
                <a:solidFill>
                  <a:prstClr val="white">
                    <a:lumMod val="95000"/>
                  </a:prstClr>
                </a:solidFill>
              </a:rPr>
              <a:t>0x41</a:t>
            </a:r>
          </a:p>
          <a:p>
            <a:pPr marL="27432" indent="0">
              <a:buClr>
                <a:srgbClr val="0BD0D9"/>
              </a:buClr>
              <a:buFont typeface="Wingdings 2"/>
              <a:buNone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0" name="Content Placeholder 2"/>
          <p:cNvSpPr txBox="1">
            <a:spLocks/>
          </p:cNvSpPr>
          <p:nvPr/>
        </p:nvSpPr>
        <p:spPr>
          <a:xfrm>
            <a:off x="1866517" y="4357448"/>
            <a:ext cx="1625600" cy="3810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BD0D9"/>
              </a:buClr>
              <a:buFont typeface="Wingdings 2"/>
              <a:buNone/>
            </a:pPr>
            <a:r>
              <a:rPr lang="en-US" b="1" i="1" dirty="0">
                <a:solidFill>
                  <a:prstClr val="black"/>
                </a:solidFill>
              </a:rPr>
              <a:t>0x5f</a:t>
            </a:r>
          </a:p>
          <a:p>
            <a:pPr marL="27432" indent="0">
              <a:buClr>
                <a:srgbClr val="0BD0D9"/>
              </a:buClr>
              <a:buFont typeface="Wingdings 2"/>
              <a:buNone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1" name="Content Placeholder 2"/>
          <p:cNvSpPr txBox="1">
            <a:spLocks/>
          </p:cNvSpPr>
          <p:nvPr/>
        </p:nvSpPr>
        <p:spPr>
          <a:xfrm>
            <a:off x="1923227" y="5750312"/>
            <a:ext cx="1625600" cy="3810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BD0D9"/>
              </a:buClr>
              <a:buFont typeface="Wingdings 2"/>
              <a:buNone/>
            </a:pPr>
            <a:r>
              <a:rPr lang="en-US" b="1" i="1" dirty="0">
                <a:solidFill>
                  <a:prstClr val="white"/>
                </a:solidFill>
              </a:rPr>
              <a:t>0x3</a:t>
            </a:r>
          </a:p>
          <a:p>
            <a:pPr marL="27432" indent="0">
              <a:buClr>
                <a:srgbClr val="0BD0D9"/>
              </a:buClr>
              <a:buFont typeface="Wingdings 2"/>
              <a:buNone/>
            </a:pP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6" name="Straight Arrow Connector 5"/>
          <p:cNvCxnSpPr>
            <a:stCxn id="21" idx="3"/>
          </p:cNvCxnSpPr>
          <p:nvPr/>
        </p:nvCxnSpPr>
        <p:spPr>
          <a:xfrm flipV="1">
            <a:off x="6967880" y="3955320"/>
            <a:ext cx="1736665" cy="20740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6996211" y="4008474"/>
            <a:ext cx="2955864" cy="83472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4" idx="1"/>
          </p:cNvCxnSpPr>
          <p:nvPr/>
        </p:nvCxnSpPr>
        <p:spPr>
          <a:xfrm flipV="1">
            <a:off x="6868623" y="4071510"/>
            <a:ext cx="1793369" cy="149470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6868623" y="4136100"/>
            <a:ext cx="3948236" cy="213189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2" name="Action Button: Home 41">
            <a:hlinkClick r:id="rId4" action="ppaction://hlinksldjump" highlightClick="1"/>
          </p:cNvPr>
          <p:cNvSpPr/>
          <p:nvPr/>
        </p:nvSpPr>
        <p:spPr bwMode="auto">
          <a:xfrm>
            <a:off x="11620521" y="263500"/>
            <a:ext cx="438151" cy="457200"/>
          </a:xfrm>
          <a:prstGeom prst="actionButtonHome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/>
            <a:lightRig rig="threePt" dir="t"/>
          </a:scene3d>
          <a:sp3d extrusionH="127000" prstMaterial="metal">
            <a:bevelT w="88900" h="88900"/>
          </a:sp3d>
        </p:spPr>
        <p:txBody>
          <a:bodyPr vert="horz" wrap="square" lIns="91372" tIns="45688" rIns="91372" bIns="45688" numCol="1" rtlCol="0" anchor="t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cs typeface="Arial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36816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5" presetClass="emph" presetSubtype="0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44444E-6 L 0.23438 0.03912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19" y="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3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6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9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2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44444E-6 L 0.23438 0.03912 " pathEditMode="relative" rAng="0" ptsTypes="AA">
                                      <p:cBhvr>
                                        <p:cTn id="15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19" y="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" grpId="0"/>
      <p:bldP spid="303" grpId="0"/>
      <p:bldP spid="304" grpId="0"/>
      <p:bldP spid="305" grpId="0"/>
      <p:bldP spid="307" grpId="0"/>
      <p:bldP spid="308" grpId="0"/>
      <p:bldP spid="308" grpId="1"/>
      <p:bldP spid="309" grpId="0"/>
      <p:bldP spid="309" grpId="1"/>
      <p:bldP spid="310" grpId="0"/>
      <p:bldP spid="310" grpId="1"/>
      <p:bldP spid="312" grpId="0"/>
      <p:bldP spid="312" grpId="1"/>
      <p:bldP spid="16" grpId="0"/>
      <p:bldP spid="4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40" grpId="0"/>
      <p:bldP spid="40" grpId="1"/>
      <p:bldP spid="41" grpId="0"/>
      <p:bldP spid="41" grpId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 from the model: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1" y="1019175"/>
            <a:ext cx="10968567" cy="460057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sz="900" dirty="0"/>
              <a:t>TAP_GLUE stap_core_core_core_c0_r1_EP {</a:t>
            </a:r>
          </a:p>
          <a:p>
            <a:pPr marL="0" indent="0">
              <a:buNone/>
            </a:pPr>
            <a:r>
              <a:rPr lang="en-US" sz="900" dirty="0"/>
              <a:t>  OPCODES {</a:t>
            </a:r>
          </a:p>
          <a:p>
            <a:pPr marL="0" indent="0">
              <a:buNone/>
            </a:pPr>
            <a:r>
              <a:rPr lang="en-US" sz="900" dirty="0"/>
              <a:t>    // NAME                                  :   ENCODING : LAYOUT</a:t>
            </a:r>
          </a:p>
          <a:p>
            <a:pPr marL="0" indent="0">
              <a:buNone/>
            </a:pPr>
            <a:r>
              <a:rPr lang="en-US" sz="900" dirty="0"/>
              <a:t>    stap_core_core_core_c0_r1_IR             : 'b01001110110100 : %LINK_IR ;</a:t>
            </a:r>
          </a:p>
          <a:p>
            <a:pPr marL="0" indent="0">
              <a:buNone/>
            </a:pPr>
            <a:r>
              <a:rPr lang="en-US" sz="900" dirty="0"/>
              <a:t>    stap_core_core_core_c0_r1_DR             : 'b01001110110101 : %LINK_DR ;</a:t>
            </a:r>
          </a:p>
          <a:p>
            <a:pPr marL="0" indent="0">
              <a:buNone/>
            </a:pPr>
            <a:r>
              <a:rPr lang="en-US" sz="900" dirty="0"/>
              <a:t>    stap_core_core_core_c0_r1_TL_CFG         : 'b01001110110110 : %LINK_CFG ;</a:t>
            </a:r>
          </a:p>
          <a:p>
            <a:pPr marL="0" indent="0">
              <a:buNone/>
            </a:pPr>
            <a:r>
              <a:rPr lang="en-US" sz="900" dirty="0"/>
              <a:t>    stap_core_core_core_c0_r1_TL_STATUS      : 'b01001110110111 : %LINK_STATUS ;</a:t>
            </a:r>
          </a:p>
          <a:p>
            <a:pPr marL="0" indent="0">
              <a:buNone/>
            </a:pPr>
            <a:r>
              <a:rPr lang="en-US" sz="900" dirty="0"/>
              <a:t>    ALL_CORE_TAPS_3444_PARIR                 : 'b11010001000100 : %LINK_PAR_IR ;</a:t>
            </a:r>
          </a:p>
          <a:p>
            <a:pPr marL="0" indent="0">
              <a:buNone/>
            </a:pPr>
            <a:r>
              <a:rPr lang="en-US" sz="900" dirty="0"/>
              <a:t>    ALL_CORE_TAPS_3444_PARDR                 : 'b11010001000101 : %LINK_PAR_DR ;</a:t>
            </a:r>
          </a:p>
          <a:p>
            <a:pPr marL="0" indent="0">
              <a:buNone/>
            </a:pPr>
            <a:r>
              <a:rPr lang="en-US" sz="900" dirty="0"/>
              <a:t>} // OPCODES 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  PADDING {</a:t>
            </a:r>
          </a:p>
          <a:p>
            <a:pPr marL="0" indent="0">
              <a:buNone/>
            </a:pPr>
            <a:r>
              <a:rPr lang="en-US" sz="900" dirty="0"/>
              <a:t>    // NAME                                  : PADDING</a:t>
            </a:r>
          </a:p>
          <a:p>
            <a:pPr marL="0" indent="0">
              <a:buNone/>
            </a:pPr>
            <a:r>
              <a:rPr lang="en-US" sz="900" dirty="0"/>
              <a:t>    stap_core_core_core_c0_r1_IR             : 2'b00 + DATA;</a:t>
            </a:r>
          </a:p>
          <a:p>
            <a:pPr marL="0" indent="0">
              <a:buNone/>
            </a:pPr>
            <a:r>
              <a:rPr lang="en-US" sz="900" dirty="0"/>
              <a:t>    stap_core_core_core_c0_r1_DR             : 1'b0 + DATA + 22'b0000000000000000000000;</a:t>
            </a:r>
          </a:p>
          <a:p>
            <a:pPr marL="0" indent="0">
              <a:buNone/>
            </a:pPr>
            <a:r>
              <a:rPr lang="en-US" sz="900" dirty="0"/>
              <a:t>    stap_core_core_core_c0_r1_TL_CFG         : DATA + 22'b0000000000000000000000;</a:t>
            </a:r>
          </a:p>
          <a:p>
            <a:pPr marL="0" indent="0">
              <a:buNone/>
            </a:pPr>
            <a:r>
              <a:rPr lang="en-US" sz="900" dirty="0"/>
              <a:t>    stap_core_core_core_c0_r1_TL_STATUS      : DATA + 22'b0000000000000000000000;</a:t>
            </a:r>
          </a:p>
          <a:p>
            <a:pPr marL="0" indent="0">
              <a:buNone/>
            </a:pPr>
            <a:r>
              <a:rPr lang="en-US" sz="900" dirty="0"/>
              <a:t>    ALL_CORE_TAPS_3444_PARIR                 : 2'b00 + DATA;</a:t>
            </a:r>
          </a:p>
          <a:p>
            <a:pPr marL="0" indent="0">
              <a:buNone/>
            </a:pPr>
            <a:r>
              <a:rPr lang="en-US" sz="900" dirty="0"/>
              <a:t>    ALL_CORE_TAPS_3444_PARDR                 : 1'b0 + DATA + 22'b0000000000000000000000;</a:t>
            </a:r>
          </a:p>
          <a:p>
            <a:pPr marL="0" indent="0">
              <a:buNone/>
            </a:pPr>
            <a:r>
              <a:rPr lang="en-US" sz="900" dirty="0"/>
              <a:t>} // PADDING 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Rectangle 3"/>
          <p:cNvSpPr/>
          <p:nvPr/>
        </p:nvSpPr>
        <p:spPr>
          <a:xfrm>
            <a:off x="5623984" y="176421"/>
            <a:ext cx="6096000" cy="36317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000" dirty="0"/>
              <a:t>TAP stap_core_core_core_c0_r1 {</a:t>
            </a:r>
          </a:p>
          <a:p>
            <a:r>
              <a:rPr lang="en-US" sz="1000" dirty="0"/>
              <a:t>  @IRSIZE = 8;</a:t>
            </a:r>
          </a:p>
          <a:p>
            <a:r>
              <a:rPr lang="en-US" sz="1000" dirty="0"/>
              <a:t>  @TAPLINK_NETWORK_REGS = "CLTAP,taplink_dfx_glb_CFG,taplink_chn_h0_CFG,taplink_chn_vcore_011_CFG,taplink_chn_corenotch_c0_r1_CFG,taplink_core_c0_r1_CFG";</a:t>
            </a:r>
          </a:p>
          <a:p>
            <a:r>
              <a:rPr lang="en-US" sz="1000" dirty="0"/>
              <a:t>  @TAPLINK_NETWORK_TREE = "CLTAP[0L],</a:t>
            </a:r>
            <a:r>
              <a:rPr lang="en-US" sz="1000" dirty="0" err="1"/>
              <a:t>taplink_dfx_glb</a:t>
            </a:r>
            <a:r>
              <a:rPr lang="en-US" sz="1000" dirty="0"/>
              <a:t>[0L],taplink_chn_h0[4L],taplink_chn_vcore_011[1L],taplink_chn_corenotch_c0_r1[0L],taplink_core_c0_r1[1T]";</a:t>
            </a:r>
          </a:p>
          <a:p>
            <a:r>
              <a:rPr lang="en-US" sz="1000" dirty="0"/>
              <a:t>  @TAPLINK_TAPPARENTNAME = "taplink_core_c0_r1";</a:t>
            </a:r>
          </a:p>
          <a:p>
            <a:r>
              <a:rPr lang="en-US" sz="1000" dirty="0"/>
              <a:t>  @TAPLINK_TAPPARENTPORTINDEX = "1";</a:t>
            </a:r>
          </a:p>
          <a:p>
            <a:r>
              <a:rPr lang="en-US" sz="1000" dirty="0"/>
              <a:t>  OPCODES {</a:t>
            </a:r>
          </a:p>
          <a:p>
            <a:r>
              <a:rPr lang="en-US" sz="1000" dirty="0"/>
              <a:t>    // NAME                                  :   ENCODING : LAYOUT</a:t>
            </a:r>
          </a:p>
          <a:p>
            <a:r>
              <a:rPr lang="en-US" sz="1000" dirty="0"/>
              <a:t>    CORE_ALLCLKDIS                           : 'b00010100 : CORE_ALLCLKDIS ;</a:t>
            </a:r>
          </a:p>
          <a:p>
            <a:r>
              <a:rPr lang="en-US" sz="1000" dirty="0"/>
              <a:t>    CORE_ALLCLKEN                            : 'b00010101 : CORE_ALLCLKEN ;</a:t>
            </a:r>
          </a:p>
          <a:p>
            <a:r>
              <a:rPr lang="en-US" sz="1000" dirty="0"/>
              <a:t>    CORE_ALTRESETVEC                         : 'b00010110 : CORE_ALTRESETVEC ;</a:t>
            </a:r>
          </a:p>
          <a:p>
            <a:r>
              <a:rPr lang="en-US" sz="1000" dirty="0"/>
              <a:t>    CORE_BRKPTCTL0                           : 'b00010111 : CORE_BRKPTCTL0 ;</a:t>
            </a:r>
          </a:p>
          <a:p>
            <a:r>
              <a:rPr lang="en-US" sz="1000" dirty="0"/>
              <a:t>    CORE_BRKPTCTL1                           : 'b00011000 : CORE_BRKPTCTL1 ;</a:t>
            </a:r>
          </a:p>
          <a:p>
            <a:r>
              <a:rPr lang="en-US" sz="1000" dirty="0"/>
              <a:t>    CORE_BRKPTCTL2                           : 'b00011001 : CORE_BRKPTCTL2 ;</a:t>
            </a:r>
          </a:p>
          <a:p>
            <a:r>
              <a:rPr lang="en-US" sz="1000" dirty="0"/>
              <a:t>    CORE_BRKPTCTL3                           : 'b00011010 : CORE_BRKPTCTL3 ;</a:t>
            </a:r>
          </a:p>
          <a:p>
            <a:r>
              <a:rPr lang="en-US" sz="1000" dirty="0"/>
              <a:t>    CORE_BRKPTCTL4                           : 'b00011011 : CORE_BRKPTCTL4 ;</a:t>
            </a:r>
          </a:p>
          <a:p>
            <a:r>
              <a:rPr lang="en-US" sz="1000" dirty="0"/>
              <a:t>    CORE_BRKPTCTL5                           : 'b00011100 : CORE_BRKPTCTL5 ;</a:t>
            </a:r>
          </a:p>
          <a:p>
            <a:r>
              <a:rPr lang="en-US" sz="1000" dirty="0"/>
              <a:t>    CORE_BRKPTEN0                            : 'b00011101 : CORE_BRKPTEN0 ;</a:t>
            </a:r>
          </a:p>
          <a:p>
            <a:r>
              <a:rPr lang="en-US" sz="1000" dirty="0"/>
              <a:t>    CORE_BRKPTEN1                            : 'b00011110 : CORE_BRKPTEN1 ;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7533" y="3919080"/>
            <a:ext cx="6096000" cy="23544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050" dirty="0"/>
              <a:t>CORE_BRKPTEN0 {</a:t>
            </a:r>
          </a:p>
          <a:p>
            <a:r>
              <a:rPr lang="en-US" sz="1050" dirty="0"/>
              <a:t>      @SIZE = 1;</a:t>
            </a:r>
          </a:p>
          <a:p>
            <a:r>
              <a:rPr lang="en-US" sz="1050" dirty="0"/>
              <a:t>      @DESCRIPTION = "CORE_BRKPTEN0 register";</a:t>
            </a:r>
          </a:p>
          <a:p>
            <a:r>
              <a:rPr lang="en-US" sz="1050" dirty="0"/>
              <a:t>      @RDL_TAPISDRREMOTE = "false";</a:t>
            </a:r>
          </a:p>
          <a:p>
            <a:r>
              <a:rPr lang="en-US" sz="1050" dirty="0"/>
              <a:t>      @RDL_TAPOPCODESECURITYLEVEL = "SECURE_GREEN";</a:t>
            </a:r>
          </a:p>
          <a:p>
            <a:r>
              <a:rPr lang="en-US" sz="1050" dirty="0"/>
              <a:t>      ALIASES {</a:t>
            </a:r>
          </a:p>
          <a:p>
            <a:r>
              <a:rPr lang="en-US" sz="1050" dirty="0"/>
              <a:t>        DR_ENABLE {</a:t>
            </a:r>
          </a:p>
          <a:p>
            <a:r>
              <a:rPr lang="en-US" sz="1050" dirty="0"/>
              <a:t>          @DESCRIPTION = "test";</a:t>
            </a:r>
          </a:p>
          <a:p>
            <a:r>
              <a:rPr lang="en-US" sz="1050" dirty="0"/>
              <a:t>          @ACCESSTYPE = "RW/V";</a:t>
            </a:r>
          </a:p>
          <a:p>
            <a:r>
              <a:rPr lang="en-US" sz="1050" dirty="0"/>
              <a:t>          @RDL_TAPPRISIGNAL = "ComShiftRegT731H[0:0])";</a:t>
            </a:r>
          </a:p>
          <a:p>
            <a:r>
              <a:rPr lang="en-US" sz="1050" dirty="0"/>
              <a:t>          @RDL_TAPSHADOWSIGNAL = "CORE_BRKPTEN0_RegMnnnH.DR.ENABLE)";</a:t>
            </a:r>
          </a:p>
          <a:p>
            <a:r>
              <a:rPr lang="en-US" sz="1050" dirty="0"/>
              <a:t>        } [0:0];</a:t>
            </a:r>
          </a:p>
          <a:p>
            <a:r>
              <a:rPr lang="en-US" sz="1050" dirty="0"/>
              <a:t>      } // ALIASES</a:t>
            </a:r>
          </a:p>
          <a:p>
            <a:r>
              <a:rPr lang="en-US" sz="1050" dirty="0"/>
              <a:t>    } // REGISTER CORE_BRKPTEN0</a:t>
            </a:r>
          </a:p>
        </p:txBody>
      </p:sp>
    </p:spTree>
    <p:extLst>
      <p:ext uri="{BB962C8B-B14F-4D97-AF65-F5344CB8AC3E}">
        <p14:creationId xmlns:p14="http://schemas.microsoft.com/office/powerpoint/2010/main" val="1454710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1" y="1016000"/>
            <a:ext cx="10968567" cy="4508500"/>
          </a:xfrm>
        </p:spPr>
        <p:txBody>
          <a:bodyPr/>
          <a:lstStyle/>
          <a:p>
            <a:r>
              <a:rPr lang="en-US" dirty="0"/>
              <a:t>From the above specs write a IR/DR sequence for a write to the core_BrkEn0 = 1</a:t>
            </a:r>
          </a:p>
          <a:p>
            <a:pPr lvl="1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Get the agent IR address: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0x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01001110110100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Get the IR Opcode: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0x00011101</a:t>
            </a:r>
          </a:p>
          <a:p>
            <a:pPr lvl="1"/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Get the IR padding: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2b0</a:t>
            </a:r>
          </a:p>
          <a:p>
            <a:pPr lvl="1"/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Get the agent DR address: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0x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01001110110101</a:t>
            </a:r>
          </a:p>
          <a:p>
            <a:pPr lvl="1"/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Form the IR Data chain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0x1</a:t>
            </a:r>
          </a:p>
          <a:p>
            <a:pPr lvl="1"/>
            <a:r>
              <a:rPr lang="en-US" dirty="0"/>
              <a:t>6th Get the DR padding: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1b0 + 22b0</a:t>
            </a:r>
          </a:p>
          <a:p>
            <a:pPr lvl="2"/>
            <a:endParaRPr lang="en-US" b="1" dirty="0">
              <a:solidFill>
                <a:srgbClr val="FF0000"/>
              </a:solidFill>
            </a:endParaRPr>
          </a:p>
          <a:p>
            <a:pPr lvl="2"/>
            <a:endParaRPr lang="en-US" b="1" dirty="0">
              <a:solidFill>
                <a:srgbClr val="FF0000"/>
              </a:solidFill>
            </a:endParaRPr>
          </a:p>
          <a:p>
            <a:pPr lvl="2"/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endParaRPr lang="en-US" b="1" dirty="0">
              <a:solidFill>
                <a:srgbClr val="FF0000"/>
              </a:solidFill>
            </a:endParaRP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130043" y="372605"/>
            <a:ext cx="7784497" cy="4734379"/>
          </a:xfrm>
          <a:prstGeom prst="rect">
            <a:avLst/>
          </a:prstGeom>
          <a:ln w="25400" cap="flat" cmpd="sng" algn="ctr">
            <a:solidFill>
              <a:schemeClr val="dk1"/>
            </a:solidFill>
            <a:prstDash val="solid"/>
            <a:miter lim="800000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714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−"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429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&gt;"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71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Char char="•"/>
              <a:defRPr sz="1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001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573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114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0289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900" kern="0" dirty="0"/>
              <a:t>TAP_GLUE stap_core_core_core_c0_r1_EP {</a:t>
            </a:r>
          </a:p>
          <a:p>
            <a:pPr marL="0" indent="0">
              <a:buFontTx/>
              <a:buNone/>
            </a:pPr>
            <a:r>
              <a:rPr lang="en-US" sz="900" kern="0" dirty="0"/>
              <a:t>  OPCODES {</a:t>
            </a:r>
          </a:p>
          <a:p>
            <a:pPr marL="0" indent="0">
              <a:buFontTx/>
              <a:buNone/>
            </a:pPr>
            <a:r>
              <a:rPr lang="en-US" sz="900" kern="0" dirty="0"/>
              <a:t>    // NAME                                  :   ENCODING : LAYOUT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stap_core_core_core_c0_r1_IR             : 'b</a:t>
            </a:r>
            <a:r>
              <a:rPr lang="en-US" sz="9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01001110110100</a:t>
            </a:r>
            <a:r>
              <a:rPr lang="en-US" sz="900" kern="0" dirty="0"/>
              <a:t> : %LINK_IR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stap_core_core_core_c0_r1_DR             : 'b01001110110101 : %LINK_DR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stap_core_core_core_c0_r1_TL_CFG         : 'b01001110110110 : %LINK_CFG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stap_core_core_core_c0_r1_TL_STATUS      : 'b01001110110111 : %LINK_STATUS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ALL_CORE_TAPS_3444_PARIR                 : 'b11010001000100 : %LINK_PAR_IR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ALL_CORE_TAPS_3444_PARDR                 : 'b11010001000101 : %LINK_PAR_DR ;</a:t>
            </a:r>
          </a:p>
          <a:p>
            <a:pPr marL="0" indent="0">
              <a:buFontTx/>
              <a:buNone/>
            </a:pPr>
            <a:r>
              <a:rPr lang="en-US" sz="900" kern="0" dirty="0"/>
              <a:t>} // OPCODES </a:t>
            </a:r>
          </a:p>
          <a:p>
            <a:pPr marL="0" indent="0">
              <a:buFontTx/>
              <a:buNone/>
            </a:pPr>
            <a:endParaRPr lang="en-US" sz="900" kern="0" dirty="0"/>
          </a:p>
          <a:p>
            <a:pPr marL="0" indent="0">
              <a:buFontTx/>
              <a:buNone/>
            </a:pPr>
            <a:r>
              <a:rPr lang="en-US" sz="900" kern="0" dirty="0"/>
              <a:t>  PADDING {</a:t>
            </a:r>
          </a:p>
          <a:p>
            <a:pPr marL="0" indent="0">
              <a:buFontTx/>
              <a:buNone/>
            </a:pPr>
            <a:r>
              <a:rPr lang="en-US" sz="900" kern="0" dirty="0"/>
              <a:t>    // NAME                                  : PADDING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stap_core_core_core_c0_r1_IR             : 2'b00 + DATA;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stap_core_core_core_c0_r1_DR             : 1'b0 +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stap_core_core_core_c0_r1_TL_CFG         :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stap_core_core_core_c0_r1_TL_STATUS      :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ALL_CORE_TAPS_3444_PARIR                 : 2'b00 + DATA;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ALL_CORE_TAPS_3444_PARDR                 : 1'b0 +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} // PADDING </a:t>
            </a:r>
          </a:p>
          <a:p>
            <a:pPr marL="0" indent="0">
              <a:buFontTx/>
              <a:buNone/>
            </a:pPr>
            <a:endParaRPr lang="en-US" sz="900" kern="0" dirty="0"/>
          </a:p>
          <a:p>
            <a:pPr marL="0" indent="0">
              <a:buFontTx/>
              <a:buNone/>
            </a:pPr>
            <a:endParaRPr lang="en-US" sz="900" kern="0" dirty="0"/>
          </a:p>
        </p:txBody>
      </p:sp>
      <p:sp>
        <p:nvSpPr>
          <p:cNvPr id="6" name="Rectangle 5"/>
          <p:cNvSpPr/>
          <p:nvPr/>
        </p:nvSpPr>
        <p:spPr>
          <a:xfrm>
            <a:off x="5632566" y="695757"/>
            <a:ext cx="6096000" cy="36317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000" dirty="0"/>
              <a:t>TAP stap_core_core_core_c0_r1 {</a:t>
            </a:r>
          </a:p>
          <a:p>
            <a:r>
              <a:rPr lang="en-US" sz="1000" dirty="0"/>
              <a:t>  @IRSIZE = 8;</a:t>
            </a:r>
          </a:p>
          <a:p>
            <a:r>
              <a:rPr lang="en-US" sz="1000" dirty="0"/>
              <a:t>  @TAPLINK_NETWORK_REGS = "CLTAP,taplink_dfx_glb_CFG,taplink_chn_h0_CFG,taplink_chn_vcore_011_CFG,taplink_chn_corenotch_c0_r1_CFG,taplink_core_c0_r1_CFG";</a:t>
            </a:r>
          </a:p>
          <a:p>
            <a:r>
              <a:rPr lang="en-US" sz="1000" dirty="0"/>
              <a:t>  @TAPLINK_NETWORK_TREE = "CLTAP[0L],</a:t>
            </a:r>
            <a:r>
              <a:rPr lang="en-US" sz="1000" dirty="0" err="1"/>
              <a:t>taplink_dfx_glb</a:t>
            </a:r>
            <a:r>
              <a:rPr lang="en-US" sz="1000" dirty="0"/>
              <a:t>[0L],taplink_chn_h0[4L],taplink_chn_vcore_011[1L],taplink_chn_corenotch_c0_r1[0L],taplink_core_c0_r1[1T]";</a:t>
            </a:r>
          </a:p>
          <a:p>
            <a:r>
              <a:rPr lang="en-US" sz="1000" dirty="0"/>
              <a:t>  @TAPLINK_TAPPARENTNAME = "taplink_core_c0_r1";</a:t>
            </a:r>
          </a:p>
          <a:p>
            <a:r>
              <a:rPr lang="en-US" sz="1000" dirty="0"/>
              <a:t>  @TAPLINK_TAPPARENTPORTINDEX = "1";</a:t>
            </a:r>
          </a:p>
          <a:p>
            <a:r>
              <a:rPr lang="en-US" sz="1000" dirty="0"/>
              <a:t>  OPCODES {</a:t>
            </a:r>
          </a:p>
          <a:p>
            <a:r>
              <a:rPr lang="en-US" sz="1000" dirty="0"/>
              <a:t>    // NAME                                  :   ENCODING : LAYOUT</a:t>
            </a:r>
          </a:p>
          <a:p>
            <a:r>
              <a:rPr lang="en-US" sz="1000" dirty="0"/>
              <a:t>    CORE_ALLCLKDIS                           : 'b00010100 : CORE_ALLCLKDIS ;</a:t>
            </a:r>
          </a:p>
          <a:p>
            <a:r>
              <a:rPr lang="en-US" sz="1000" dirty="0"/>
              <a:t>    CORE_ALLCLKEN                            : 'b00010101 : CORE_ALLCLKEN ;</a:t>
            </a:r>
          </a:p>
          <a:p>
            <a:r>
              <a:rPr lang="en-US" sz="1000" dirty="0"/>
              <a:t>    CORE_ALTRESETVEC                         : 'b00010110 : CORE_ALTRESETVEC ;</a:t>
            </a:r>
          </a:p>
          <a:p>
            <a:r>
              <a:rPr lang="en-US" sz="1000" dirty="0"/>
              <a:t>    CORE_BRKPTCTL0                           : 'b00010111 : CORE_BRKPTCTL0 ;</a:t>
            </a:r>
          </a:p>
          <a:p>
            <a:r>
              <a:rPr lang="en-US" sz="1000" dirty="0"/>
              <a:t>    CORE_BRKPTCTL1                           : 'b00011000 : CORE_BRKPTCTL1 ;</a:t>
            </a:r>
          </a:p>
          <a:p>
            <a:r>
              <a:rPr lang="en-US" sz="1000" dirty="0"/>
              <a:t>    CORE_BRKPTCTL2                           : 'b00011001 : CORE_BRKPTCTL2 ;</a:t>
            </a:r>
          </a:p>
          <a:p>
            <a:r>
              <a:rPr lang="en-US" sz="1000" dirty="0"/>
              <a:t>    CORE_BRKPTCTL3                           : 'b00011010 : CORE_BRKPTCTL3 ;</a:t>
            </a:r>
          </a:p>
          <a:p>
            <a:r>
              <a:rPr lang="en-US" sz="1000" dirty="0"/>
              <a:t>    CORE_BRKPTCTL4                           : 'b00011011 : CORE_BRKPTCTL4 ;</a:t>
            </a:r>
          </a:p>
          <a:p>
            <a:r>
              <a:rPr lang="en-US" sz="1000" dirty="0"/>
              <a:t>    CORE_BRKPTCTL5                           : 'b00011100 : CORE_BRKPTCTL5 ;</a:t>
            </a:r>
          </a:p>
          <a:p>
            <a:r>
              <a:rPr lang="en-US" sz="1000" dirty="0"/>
              <a:t>    CORE_BRKPTEN0                            : 'b</a:t>
            </a:r>
            <a:r>
              <a:rPr lang="en-US" sz="1000" b="1" dirty="0">
                <a:solidFill>
                  <a:srgbClr val="FF0000"/>
                </a:solidFill>
              </a:rPr>
              <a:t>00011101</a:t>
            </a:r>
            <a:r>
              <a:rPr lang="en-US" sz="1000" dirty="0"/>
              <a:t> : CORE_BRKPTEN0 ;</a:t>
            </a:r>
          </a:p>
          <a:p>
            <a:r>
              <a:rPr lang="en-US" sz="1000" dirty="0"/>
              <a:t>    CORE_BRKPTEN1                            : 'b00011110 : CORE_BRKPTEN1 ;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389940" y="969961"/>
            <a:ext cx="7264702" cy="4600575"/>
          </a:xfrm>
          <a:prstGeom prst="rect">
            <a:avLst/>
          </a:prstGeom>
          <a:ln w="25400" cap="flat" cmpd="sng" algn="ctr">
            <a:solidFill>
              <a:schemeClr val="dk1"/>
            </a:solidFill>
            <a:prstDash val="solid"/>
            <a:miter lim="800000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714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−"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429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&gt;"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71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Char char="•"/>
              <a:defRPr sz="1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001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573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114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0289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900" kern="0" dirty="0"/>
              <a:t>TAP_GLUE stap_core_core_core_c0_r1_EP {</a:t>
            </a:r>
          </a:p>
          <a:p>
            <a:pPr marL="0" indent="0">
              <a:buFontTx/>
              <a:buNone/>
            </a:pPr>
            <a:r>
              <a:rPr lang="en-US" sz="900" kern="0" dirty="0"/>
              <a:t>  OPCODES {</a:t>
            </a:r>
          </a:p>
          <a:p>
            <a:pPr marL="0" indent="0">
              <a:buFontTx/>
              <a:buNone/>
            </a:pPr>
            <a:r>
              <a:rPr lang="en-US" sz="900" kern="0" dirty="0"/>
              <a:t>    // NAME                                  :   ENCODING : LAYOUT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stap_core_core_core_c0_r1_IR             : 'b01001110110100 : %LINK_IR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stap_core_core_core_c0_r1_DR             : 'b01001110110101 : %LINK_DR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stap_core_core_core_c0_r1_TL_CFG         : 'b01001110110110 : %LINK_CFG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stap_core_core_core_c0_r1_TL_STATUS      : 'b01001110110111 : %LINK_STATUS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ALL_CORE_TAPS_3444_PARIR                 : 'b11010001000100 : %LINK_PAR_IR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ALL_CORE_TAPS_3444_PARDR                 : 'b11010001000101 : %LINK_PAR_DR ;</a:t>
            </a:r>
          </a:p>
          <a:p>
            <a:pPr marL="0" indent="0">
              <a:buFontTx/>
              <a:buNone/>
            </a:pPr>
            <a:r>
              <a:rPr lang="en-US" sz="900" kern="0" dirty="0"/>
              <a:t>} // OPCODES </a:t>
            </a:r>
          </a:p>
          <a:p>
            <a:pPr marL="0" indent="0">
              <a:buFontTx/>
              <a:buNone/>
            </a:pPr>
            <a:endParaRPr lang="en-US" sz="900" kern="0" dirty="0"/>
          </a:p>
          <a:p>
            <a:pPr marL="0" indent="0">
              <a:buFontTx/>
              <a:buNone/>
            </a:pPr>
            <a:r>
              <a:rPr lang="en-US" sz="900" kern="0" dirty="0"/>
              <a:t>  PADDING {</a:t>
            </a:r>
          </a:p>
          <a:p>
            <a:pPr marL="0" indent="0">
              <a:buFontTx/>
              <a:buNone/>
            </a:pPr>
            <a:r>
              <a:rPr lang="en-US" sz="900" kern="0" dirty="0"/>
              <a:t>    // NAME                                  : PADDING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stap_core_core_core_c0_r1_IR             : </a:t>
            </a:r>
            <a:r>
              <a:rPr lang="en-US" sz="900" b="1" kern="0" dirty="0">
                <a:solidFill>
                  <a:srgbClr val="FF0000"/>
                </a:solidFill>
              </a:rPr>
              <a:t>2'b00</a:t>
            </a:r>
            <a:r>
              <a:rPr lang="en-US" sz="900" kern="0" dirty="0"/>
              <a:t> + DATA;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stap_core_core_core_c0_r1_DR             : 1'b0 +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stap_core_core_core_c0_r1_TL_CFG         :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stap_core_core_core_c0_r1_TL_STATUS      :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ALL_CORE_TAPS_3444_PARIR                 : 2'b00 + DATA;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ALL_CORE_TAPS_3444_PARDR                 : 1'b0 +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} // PADDING </a:t>
            </a:r>
          </a:p>
          <a:p>
            <a:pPr marL="0" indent="0">
              <a:buFontTx/>
              <a:buNone/>
            </a:pPr>
            <a:endParaRPr lang="en-US" sz="900" kern="0" dirty="0"/>
          </a:p>
          <a:p>
            <a:pPr marL="0" indent="0">
              <a:buFontTx/>
              <a:buNone/>
            </a:pPr>
            <a:endParaRPr lang="en-US" sz="900" kern="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632566" y="1290765"/>
            <a:ext cx="7000725" cy="4600575"/>
          </a:xfrm>
          <a:prstGeom prst="rect">
            <a:avLst/>
          </a:prstGeom>
          <a:ln w="25400" cap="flat" cmpd="sng" algn="ctr">
            <a:solidFill>
              <a:schemeClr val="dk1"/>
            </a:solidFill>
            <a:prstDash val="solid"/>
            <a:miter lim="800000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714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−"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429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&gt;"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71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Char char="•"/>
              <a:defRPr sz="1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001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573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114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0289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900" kern="0" dirty="0"/>
              <a:t>TAP_GLUE stap_core_core_core_c0_r1_EP {</a:t>
            </a:r>
          </a:p>
          <a:p>
            <a:pPr marL="0" indent="0">
              <a:buFontTx/>
              <a:buNone/>
            </a:pPr>
            <a:r>
              <a:rPr lang="en-US" sz="900" kern="0" dirty="0"/>
              <a:t>  OPCODES {</a:t>
            </a:r>
          </a:p>
          <a:p>
            <a:pPr marL="0" indent="0">
              <a:buFontTx/>
              <a:buNone/>
            </a:pPr>
            <a:r>
              <a:rPr lang="en-US" sz="900" kern="0" dirty="0"/>
              <a:t>    // NAME                                  :   ENCODING : LAYOUT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stap_core_core_core_c0_r1_IR             : 'b01001110110100 : %LINK_IR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stap_core_core_core_c0_r1_DR             : 'b</a:t>
            </a:r>
            <a:r>
              <a:rPr lang="en-US" sz="900" b="1" kern="0" dirty="0">
                <a:solidFill>
                  <a:srgbClr val="FF0000"/>
                </a:solidFill>
              </a:rPr>
              <a:t>01001110110101</a:t>
            </a:r>
            <a:r>
              <a:rPr lang="en-US" sz="900" kern="0" dirty="0"/>
              <a:t> : %LINK_DR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stap_core_core_core_c0_r1_TL_CFG         : 'b01001110110110 : %LINK_CFG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stap_core_core_core_c0_r1_TL_STATUS      : 'b01001110110111 : %LINK_STATUS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ALL_CORE_TAPS_3444_PARIR                 : 'b11010001000100 : %LINK_PAR_IR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ALL_CORE_TAPS_3444_PARDR                 : 'b11010001000101 : %LINK_PAR_DR ;</a:t>
            </a:r>
          </a:p>
          <a:p>
            <a:pPr marL="0" indent="0">
              <a:buFontTx/>
              <a:buNone/>
            </a:pPr>
            <a:r>
              <a:rPr lang="en-US" sz="900" kern="0" dirty="0"/>
              <a:t>} // OPCODES </a:t>
            </a:r>
          </a:p>
          <a:p>
            <a:pPr marL="0" indent="0">
              <a:buFontTx/>
              <a:buNone/>
            </a:pPr>
            <a:endParaRPr lang="en-US" sz="900" kern="0" dirty="0"/>
          </a:p>
          <a:p>
            <a:pPr marL="0" indent="0">
              <a:buFontTx/>
              <a:buNone/>
            </a:pPr>
            <a:r>
              <a:rPr lang="en-US" sz="900" kern="0" dirty="0"/>
              <a:t>  PADDING {</a:t>
            </a:r>
          </a:p>
          <a:p>
            <a:pPr marL="0" indent="0">
              <a:buFontTx/>
              <a:buNone/>
            </a:pPr>
            <a:r>
              <a:rPr lang="en-US" sz="900" kern="0" dirty="0"/>
              <a:t>    // NAME                                  : PADDING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stap_core_core_core_c0_r1_IR             : 2'b00 + DATA;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stap_core_core_core_c0_r1_DR             : 1'b0 +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stap_core_core_core_c0_r1_TL_CFG         :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stap_core_core_core_c0_r1_TL_STATUS      :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ALL_CORE_TAPS_3444_PARIR                 : 2'b00 + DATA;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ALL_CORE_TAPS_3444_PARDR                 : 1'b0 +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} // PADDING </a:t>
            </a:r>
          </a:p>
          <a:p>
            <a:pPr marL="0" indent="0">
              <a:buFontTx/>
              <a:buNone/>
            </a:pPr>
            <a:endParaRPr lang="en-US" sz="900" kern="0" dirty="0"/>
          </a:p>
          <a:p>
            <a:pPr marL="0" indent="0">
              <a:buFontTx/>
              <a:buNone/>
            </a:pPr>
            <a:endParaRPr lang="en-US" sz="900" kern="0" dirty="0"/>
          </a:p>
        </p:txBody>
      </p:sp>
      <p:sp>
        <p:nvSpPr>
          <p:cNvPr id="10" name="Rectangle 9"/>
          <p:cNvSpPr/>
          <p:nvPr/>
        </p:nvSpPr>
        <p:spPr>
          <a:xfrm>
            <a:off x="5908130" y="1829256"/>
            <a:ext cx="6096000" cy="23544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050" dirty="0"/>
              <a:t>CORE_BRKPTEN0 {</a:t>
            </a:r>
          </a:p>
          <a:p>
            <a:r>
              <a:rPr lang="en-US" sz="1050" dirty="0"/>
              <a:t>      @SIZE = 1;</a:t>
            </a:r>
          </a:p>
          <a:p>
            <a:r>
              <a:rPr lang="en-US" sz="1050" dirty="0"/>
              <a:t>      @DESCRIPTION = "CORE_BRKPTEN0 register";</a:t>
            </a:r>
          </a:p>
          <a:p>
            <a:r>
              <a:rPr lang="en-US" sz="1050" dirty="0"/>
              <a:t>      @RDL_TAPISDRREMOTE = "false";</a:t>
            </a:r>
          </a:p>
          <a:p>
            <a:r>
              <a:rPr lang="en-US" sz="1050" dirty="0"/>
              <a:t>      @RDL_TAPOPCODESECURITYLEVEL = "SECURE_GREEN";</a:t>
            </a:r>
          </a:p>
          <a:p>
            <a:r>
              <a:rPr lang="en-US" sz="1050" dirty="0"/>
              <a:t>      ALIASES {</a:t>
            </a:r>
          </a:p>
          <a:p>
            <a:r>
              <a:rPr lang="en-US" sz="1050" dirty="0"/>
              <a:t>        DR_ENABLE {</a:t>
            </a:r>
          </a:p>
          <a:p>
            <a:r>
              <a:rPr lang="en-US" sz="1050" dirty="0"/>
              <a:t>          @DESCRIPTION = "test";</a:t>
            </a:r>
          </a:p>
          <a:p>
            <a:r>
              <a:rPr lang="en-US" sz="1050" dirty="0"/>
              <a:t>          @ACCESSTYPE = "RW/V";</a:t>
            </a:r>
          </a:p>
          <a:p>
            <a:r>
              <a:rPr lang="en-US" sz="1050" dirty="0"/>
              <a:t>          @RDL_TAPPRISIGNAL = "ComShiftRegT731H[0:0])";</a:t>
            </a:r>
          </a:p>
          <a:p>
            <a:r>
              <a:rPr lang="en-US" sz="1050" dirty="0"/>
              <a:t>          @RDL_TAPSHADOWSIGNAL = "CORE_BRKPTEN0_RegMnnnH.DR.ENABLE)";</a:t>
            </a:r>
          </a:p>
          <a:p>
            <a:r>
              <a:rPr lang="en-US" sz="1050" dirty="0"/>
              <a:t>        } [0:0];</a:t>
            </a:r>
          </a:p>
          <a:p>
            <a:r>
              <a:rPr lang="en-US" sz="1050" dirty="0"/>
              <a:t>      } // ALIASES</a:t>
            </a:r>
          </a:p>
          <a:p>
            <a:r>
              <a:rPr lang="en-US" sz="1050" dirty="0"/>
              <a:t>    } // REGISTER CORE_BRKPTEN0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5236034" y="976869"/>
            <a:ext cx="6436784" cy="4600575"/>
          </a:xfrm>
          <a:prstGeom prst="rect">
            <a:avLst/>
          </a:prstGeom>
          <a:ln w="25400" cap="flat" cmpd="sng" algn="ctr">
            <a:solidFill>
              <a:schemeClr val="dk1"/>
            </a:solidFill>
            <a:prstDash val="solid"/>
            <a:miter lim="800000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714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−"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429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&gt;"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71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Char char="•"/>
              <a:defRPr sz="1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001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573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114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0289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900" kern="0" dirty="0"/>
              <a:t>TAP_GLUE stap_core_core_core_c0_r1_EP {</a:t>
            </a:r>
          </a:p>
          <a:p>
            <a:pPr marL="0" indent="0">
              <a:buFontTx/>
              <a:buNone/>
            </a:pPr>
            <a:r>
              <a:rPr lang="en-US" sz="900" kern="0" dirty="0"/>
              <a:t>  OPCODES {</a:t>
            </a:r>
          </a:p>
          <a:p>
            <a:pPr marL="0" indent="0">
              <a:buFontTx/>
              <a:buNone/>
            </a:pPr>
            <a:r>
              <a:rPr lang="en-US" sz="900" kern="0" dirty="0"/>
              <a:t>    // NAME                                  :   ENCODING : LAYOUT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stap_core_core_core_c0_r1_IR             : 'b01001110110100 : %LINK_IR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stap_core_core_core_c0_r1_DR             : 'b01001110110101 : %LINK_DR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stap_core_core_core_c0_r1_TL_CFG         : 'b01001110110110 : %LINK_CFG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stap_core_core_core_c0_r1_TL_STATUS      : 'b01001110110111 : %LINK_STATUS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ALL_CORE_TAPS_3444_PARIR                 : 'b11010001000100 : %LINK_PAR_IR 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ALL_CORE_TAPS_3444_PARDR                 : 'b11010001000101 : %LINK_PAR_DR ;</a:t>
            </a:r>
          </a:p>
          <a:p>
            <a:pPr marL="0" indent="0">
              <a:buFontTx/>
              <a:buNone/>
            </a:pPr>
            <a:r>
              <a:rPr lang="en-US" sz="900" kern="0" dirty="0"/>
              <a:t>} // OPCODES </a:t>
            </a:r>
          </a:p>
          <a:p>
            <a:pPr marL="0" indent="0">
              <a:buFontTx/>
              <a:buNone/>
            </a:pPr>
            <a:endParaRPr lang="en-US" sz="900" kern="0" dirty="0"/>
          </a:p>
          <a:p>
            <a:pPr marL="0" indent="0">
              <a:buFontTx/>
              <a:buNone/>
            </a:pPr>
            <a:r>
              <a:rPr lang="en-US" sz="900" kern="0" dirty="0"/>
              <a:t>  PADDING {</a:t>
            </a:r>
          </a:p>
          <a:p>
            <a:pPr marL="0" indent="0">
              <a:buFontTx/>
              <a:buNone/>
            </a:pPr>
            <a:r>
              <a:rPr lang="en-US" sz="900" kern="0" dirty="0"/>
              <a:t>    // NAME                                  : PADDING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stap_core_core_core_c0_r1_IR             : 2'b00 + DATA;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stap_core_core_core_c0_r1_DR             : </a:t>
            </a:r>
            <a:r>
              <a:rPr lang="en-US" sz="900" b="1" kern="0" dirty="0">
                <a:solidFill>
                  <a:srgbClr val="FF0000"/>
                </a:solidFill>
              </a:rPr>
              <a:t>1'b0</a:t>
            </a:r>
            <a:r>
              <a:rPr lang="en-US" sz="900" kern="0" dirty="0"/>
              <a:t> + DATA + </a:t>
            </a:r>
            <a:r>
              <a:rPr lang="en-US" sz="900" b="1" kern="0" dirty="0">
                <a:solidFill>
                  <a:srgbClr val="FF0000"/>
                </a:solidFill>
              </a:rPr>
              <a:t>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stap_core_core_core_c0_r1_TL_CFG         :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stap_core_core_core_c0_r1_TL_STATUS      :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ALL_CORE_TAPS_3444_PARIR                 : 2'b00 + DATA;</a:t>
            </a:r>
          </a:p>
          <a:p>
            <a:pPr marL="0" indent="0">
              <a:buFontTx/>
              <a:buNone/>
            </a:pPr>
            <a:r>
              <a:rPr lang="en-US" sz="900" kern="0" dirty="0"/>
              <a:t>    ALL_CORE_TAPS_3444_PARDR                 : 1'b0 + DATA + 22'b0000000000000000000000;</a:t>
            </a:r>
          </a:p>
          <a:p>
            <a:pPr marL="0" indent="0">
              <a:buFontTx/>
              <a:buNone/>
            </a:pPr>
            <a:r>
              <a:rPr lang="en-US" sz="900" kern="0" dirty="0"/>
              <a:t>} // PADDING </a:t>
            </a:r>
          </a:p>
          <a:p>
            <a:pPr marL="0" indent="0">
              <a:buFontTx/>
              <a:buNone/>
            </a:pPr>
            <a:endParaRPr lang="en-US" sz="900" kern="0" dirty="0"/>
          </a:p>
          <a:p>
            <a:pPr marL="0" indent="0">
              <a:buFontTx/>
              <a:buNone/>
            </a:pPr>
            <a:endParaRPr lang="en-US" sz="900" kern="0" dirty="0"/>
          </a:p>
        </p:txBody>
      </p:sp>
      <p:sp>
        <p:nvSpPr>
          <p:cNvPr id="12" name="TextBox 11"/>
          <p:cNvSpPr txBox="1"/>
          <p:nvPr/>
        </p:nvSpPr>
        <p:spPr>
          <a:xfrm>
            <a:off x="5214683" y="2538306"/>
            <a:ext cx="58204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 IR/DR:</a:t>
            </a:r>
          </a:p>
          <a:p>
            <a:endParaRPr lang="en-US" b="1" dirty="0"/>
          </a:p>
          <a:p>
            <a:pPr marL="0" lvl="2"/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Scani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 01001110110100</a:t>
            </a:r>
          </a:p>
          <a:p>
            <a:pPr marL="0" lvl="2"/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Scand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r>
              <a:rPr lang="en-US" b="1" dirty="0">
                <a:solidFill>
                  <a:srgbClr val="FF0000"/>
                </a:solidFill>
              </a:rPr>
              <a:t>00_00011101</a:t>
            </a:r>
          </a:p>
          <a:p>
            <a:pPr marL="0" lvl="2"/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Scani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 01001110110101</a:t>
            </a:r>
          </a:p>
          <a:p>
            <a:pPr marL="0" lvl="2"/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Scand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0_1_0000000000000000000000</a:t>
            </a:r>
          </a:p>
          <a:p>
            <a:pPr marL="0" lvl="2"/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40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Debug approach for Tap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IDCODE.</a:t>
            </a:r>
          </a:p>
          <a:p>
            <a:r>
              <a:rPr lang="en-US" dirty="0" err="1"/>
              <a:t>Overshift</a:t>
            </a:r>
            <a:r>
              <a:rPr lang="en-US" dirty="0"/>
              <a:t>.</a:t>
            </a:r>
          </a:p>
          <a:p>
            <a:r>
              <a:rPr lang="en-US" dirty="0"/>
              <a:t>Write-Read an IR.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53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IDCODE: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agent has his own “</a:t>
            </a:r>
            <a:r>
              <a:rPr lang="en-US" dirty="0" err="1"/>
              <a:t>harcoded</a:t>
            </a:r>
            <a:r>
              <a:rPr lang="en-US" dirty="0"/>
              <a:t>” code.</a:t>
            </a:r>
          </a:p>
          <a:p>
            <a:pPr lvl="1"/>
            <a:r>
              <a:rPr lang="en-US" dirty="0"/>
              <a:t>The 1</a:t>
            </a:r>
            <a:r>
              <a:rPr lang="en-US" baseline="30000" dirty="0"/>
              <a:t>st</a:t>
            </a:r>
            <a:r>
              <a:rPr lang="en-US" dirty="0"/>
              <a:t> basic tap </a:t>
            </a:r>
            <a:r>
              <a:rPr lang="en-US" dirty="0" err="1"/>
              <a:t>babystep</a:t>
            </a:r>
            <a:r>
              <a:rPr lang="en-US" dirty="0"/>
              <a:t> is compare this code on </a:t>
            </a:r>
            <a:r>
              <a:rPr lang="en-US" dirty="0" err="1"/>
              <a:t>tdo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STF:</a:t>
            </a:r>
          </a:p>
          <a:p>
            <a:pPr lvl="2"/>
            <a:r>
              <a:rPr lang="en-US" dirty="0"/>
              <a:t>set SLVIDCODE-&gt;DR = 'b00000000000000000000000000000000;</a:t>
            </a:r>
          </a:p>
          <a:p>
            <a:pPr lvl="2"/>
            <a:r>
              <a:rPr lang="en-US" dirty="0"/>
              <a:t>compare SLVIDCODE-&gt;DR = 'b00001110000000000000001010100101;</a:t>
            </a:r>
          </a:p>
          <a:p>
            <a:pPr lvl="1"/>
            <a:r>
              <a:rPr lang="en-US" dirty="0"/>
              <a:t>ITPP:</a:t>
            </a:r>
          </a:p>
          <a:p>
            <a:pPr lvl="2"/>
            <a:r>
              <a:rPr lang="en-US" dirty="0" err="1"/>
              <a:t>scani</a:t>
            </a:r>
            <a:r>
              <a:rPr lang="en-US" dirty="0"/>
              <a:t>: 00100111111000 ;</a:t>
            </a:r>
          </a:p>
          <a:p>
            <a:pPr lvl="2"/>
            <a:r>
              <a:rPr lang="en-US" dirty="0" err="1"/>
              <a:t>scand</a:t>
            </a:r>
            <a:r>
              <a:rPr lang="en-US" dirty="0"/>
              <a:t>: 00_00001100, XX_XXXXXXXX ;</a:t>
            </a:r>
          </a:p>
          <a:p>
            <a:pPr lvl="2"/>
            <a:r>
              <a:rPr lang="en-US" dirty="0" err="1"/>
              <a:t>scani</a:t>
            </a:r>
            <a:r>
              <a:rPr lang="en-US" dirty="0"/>
              <a:t>: 00100111111001 ;</a:t>
            </a:r>
          </a:p>
          <a:p>
            <a:pPr lvl="2"/>
            <a:r>
              <a:rPr lang="en-US" dirty="0" err="1"/>
              <a:t>scand</a:t>
            </a:r>
            <a:r>
              <a:rPr lang="en-US" dirty="0"/>
              <a:t>: 0_00000000000000000000000000000000_0000000000000000000000, X_</a:t>
            </a:r>
            <a:r>
              <a:rPr lang="en-US" b="1" dirty="0">
                <a:solidFill>
                  <a:srgbClr val="FF0000"/>
                </a:solidFill>
              </a:rPr>
              <a:t>LLLLHHHLLLLLLLLLLLLLLLHLHLHLLHLH</a:t>
            </a:r>
            <a:r>
              <a:rPr lang="en-US" dirty="0"/>
              <a:t>_XXXXXXXXXXXXXXXXXXXXXX ;</a:t>
            </a:r>
          </a:p>
        </p:txBody>
      </p:sp>
    </p:spTree>
    <p:extLst>
      <p:ext uri="{BB962C8B-B14F-4D97-AF65-F5344CB8AC3E}">
        <p14:creationId xmlns:p14="http://schemas.microsoft.com/office/powerpoint/2010/main" val="1774747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Overshift</a:t>
            </a:r>
            <a:r>
              <a:rPr lang="en-US" dirty="0"/>
              <a:t>: (</a:t>
            </a:r>
            <a:r>
              <a:rPr lang="en-US" dirty="0" err="1"/>
              <a:t>cltap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425884"/>
              </p:ext>
            </p:extLst>
          </p:nvPr>
        </p:nvGraphicFramePr>
        <p:xfrm>
          <a:off x="609600" y="2207260"/>
          <a:ext cx="6018189" cy="2774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8980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410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0543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391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Cycle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BYPASS[0]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5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55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55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55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55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55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55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55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55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55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55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38683" y="1946123"/>
            <a:ext cx="58204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Formula:</a:t>
            </a:r>
          </a:p>
          <a:p>
            <a:r>
              <a:rPr lang="en-US" b="1" dirty="0"/>
              <a:t>	</a:t>
            </a:r>
            <a:r>
              <a:rPr lang="en-US" b="1" dirty="0" err="1"/>
              <a:t>IR_size</a:t>
            </a:r>
            <a:r>
              <a:rPr lang="en-US" b="1" dirty="0"/>
              <a:t>(0) + Signature.</a:t>
            </a:r>
          </a:p>
          <a:p>
            <a:r>
              <a:rPr lang="en-US" b="1" dirty="0"/>
              <a:t>	Signature + </a:t>
            </a:r>
            <a:r>
              <a:rPr lang="en-US" b="1" dirty="0" err="1"/>
              <a:t>IR_size</a:t>
            </a:r>
            <a:r>
              <a:rPr lang="en-US" b="1" dirty="0"/>
              <a:t>(X)</a:t>
            </a:r>
          </a:p>
          <a:p>
            <a:endParaRPr lang="en-US" b="1" dirty="0"/>
          </a:p>
          <a:p>
            <a:r>
              <a:rPr lang="en-US" b="1" dirty="0"/>
              <a:t>Final IR/DR:</a:t>
            </a:r>
          </a:p>
          <a:p>
            <a:endParaRPr lang="en-US" b="1" dirty="0"/>
          </a:p>
          <a:p>
            <a:pPr marL="0" lvl="2"/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Scani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 0100110101</a:t>
            </a:r>
          </a:p>
          <a:p>
            <a:pPr marL="0" lvl="2"/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Scand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HLLHHLHLHX</a:t>
            </a:r>
          </a:p>
          <a:p>
            <a:pPr marL="0" lvl="2"/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51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Overshift</a:t>
            </a:r>
            <a:r>
              <a:rPr lang="en-US" dirty="0"/>
              <a:t> ON TAP LINK(STAP)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1244868"/>
              </p:ext>
            </p:extLst>
          </p:nvPr>
        </p:nvGraphicFramePr>
        <p:xfrm>
          <a:off x="470811" y="1566400"/>
          <a:ext cx="10968029" cy="1557003"/>
        </p:xfrm>
        <a:graphic>
          <a:graphicData uri="http://schemas.openxmlformats.org/drawingml/2006/table">
            <a:tbl>
              <a:tblPr/>
              <a:tblGrid>
                <a:gridCol w="185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336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7125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9347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4732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9347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1368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257297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271259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38"/>
                    </a:ext>
                  </a:extLst>
                </a:gridCol>
                <a:gridCol w="295194">
                  <a:extLst>
                    <a:ext uri="{9D8B030D-6E8A-4147-A177-3AD203B41FA5}">
                      <a16:colId xmlns:a16="http://schemas.microsoft.com/office/drawing/2014/main" val="20039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40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41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42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43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44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45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46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47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48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49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50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51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52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53"/>
                    </a:ext>
                  </a:extLst>
                </a:gridCol>
                <a:gridCol w="185493">
                  <a:extLst>
                    <a:ext uri="{9D8B030D-6E8A-4147-A177-3AD203B41FA5}">
                      <a16:colId xmlns:a16="http://schemas.microsoft.com/office/drawing/2014/main" val="20054"/>
                    </a:ext>
                  </a:extLst>
                </a:gridCol>
              </a:tblGrid>
              <a:tr h="21847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2'b00 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3'b000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7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705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6035" marR="6035" marT="60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6035" marR="6035" marT="60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6035" marR="6035" marT="60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6035" marR="6035" marT="60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7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705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After 3 cycles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7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7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6035" marR="6035" marT="60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6035" marR="6035" marT="60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6035" marR="6035" marT="60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6035" marR="6035" marT="60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07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07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055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6035" marR="6035" marT="60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6035" marR="6035" marT="60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6035" marR="6035" marT="60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6035" marR="6035" marT="60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07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07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 dirty="0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6035" marR="6035" marT="60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6035" marR="6035" marT="60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0541" y="3293230"/>
            <a:ext cx="96143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Formula:</a:t>
            </a:r>
          </a:p>
          <a:p>
            <a:r>
              <a:rPr lang="en-US" b="1" dirty="0"/>
              <a:t>	</a:t>
            </a:r>
            <a:r>
              <a:rPr lang="en-US" b="1" dirty="0" err="1"/>
              <a:t>IR_size</a:t>
            </a:r>
            <a:r>
              <a:rPr lang="en-US" b="1" dirty="0"/>
              <a:t>(0) +</a:t>
            </a:r>
            <a:r>
              <a:rPr lang="en-US" b="1" dirty="0" err="1"/>
              <a:t>PrePadding</a:t>
            </a:r>
            <a:r>
              <a:rPr lang="en-US" b="1" dirty="0"/>
              <a:t>(0) + Signature.</a:t>
            </a:r>
          </a:p>
          <a:p>
            <a:r>
              <a:rPr lang="en-US" b="1" dirty="0"/>
              <a:t>	Signature + </a:t>
            </a:r>
            <a:r>
              <a:rPr lang="en-US" b="1" dirty="0" err="1"/>
              <a:t>IR_size</a:t>
            </a:r>
            <a:r>
              <a:rPr lang="en-US" b="1" dirty="0"/>
              <a:t>(X) + </a:t>
            </a:r>
            <a:r>
              <a:rPr lang="en-US" b="1" dirty="0" err="1"/>
              <a:t>PrePadding</a:t>
            </a:r>
            <a:r>
              <a:rPr lang="en-US" b="1" dirty="0"/>
              <a:t>(X)</a:t>
            </a:r>
          </a:p>
          <a:p>
            <a:endParaRPr lang="en-US" b="1" dirty="0"/>
          </a:p>
          <a:p>
            <a:r>
              <a:rPr lang="en-US" b="1" dirty="0"/>
              <a:t>Final IR/DR:</a:t>
            </a:r>
          </a:p>
          <a:p>
            <a:endParaRPr lang="en-US" b="1" dirty="0"/>
          </a:p>
          <a:p>
            <a:pPr marL="0" lvl="2"/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Scani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 0100110101</a:t>
            </a:r>
          </a:p>
          <a:p>
            <a:pPr marL="0" lvl="2"/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Scand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HLLHHLHLHX</a:t>
            </a:r>
          </a:p>
          <a:p>
            <a:pPr marL="0" lvl="2"/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82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Write-Read: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approach as a functional test plan:</a:t>
            </a:r>
          </a:p>
          <a:p>
            <a:pPr lvl="1"/>
            <a:r>
              <a:rPr lang="en-US" dirty="0"/>
              <a:t>For a randomly selected IR:</a:t>
            </a:r>
          </a:p>
          <a:p>
            <a:pPr lvl="2"/>
            <a:r>
              <a:rPr lang="en-US" dirty="0"/>
              <a:t>Writes 	0x01010101</a:t>
            </a:r>
          </a:p>
          <a:p>
            <a:pPr lvl="2"/>
            <a:r>
              <a:rPr lang="en-US" dirty="0"/>
              <a:t>Reads  	0x01010101</a:t>
            </a:r>
          </a:p>
          <a:p>
            <a:pPr lvl="2"/>
            <a:r>
              <a:rPr lang="en-US" dirty="0"/>
              <a:t>Writes  	0x10101010</a:t>
            </a:r>
          </a:p>
          <a:p>
            <a:pPr lvl="2"/>
            <a:r>
              <a:rPr lang="en-US" dirty="0"/>
              <a:t>Reads 	0x10101010</a:t>
            </a:r>
          </a:p>
          <a:p>
            <a:pPr lvl="2"/>
            <a:r>
              <a:rPr lang="en-US" dirty="0"/>
              <a:t>Writes Reset value</a:t>
            </a:r>
          </a:p>
          <a:p>
            <a:pPr lvl="2"/>
            <a:r>
              <a:rPr lang="en-US" dirty="0"/>
              <a:t>Reads Reset value.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445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 Debug approach for Tap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this was based on CNL low yield and silicon issues.</a:t>
            </a:r>
          </a:p>
          <a:p>
            <a:pPr lvl="1"/>
            <a:r>
              <a:rPr lang="en-US" dirty="0"/>
              <a:t>Disable Tap.</a:t>
            </a:r>
          </a:p>
          <a:p>
            <a:pPr lvl="1"/>
            <a:r>
              <a:rPr lang="en-US" dirty="0"/>
              <a:t>Disable TDO.</a:t>
            </a:r>
          </a:p>
          <a:p>
            <a:pPr lvl="1"/>
            <a:r>
              <a:rPr lang="en-US" dirty="0"/>
              <a:t>Address Remapping.</a:t>
            </a:r>
          </a:p>
        </p:txBody>
      </p:sp>
    </p:spTree>
    <p:extLst>
      <p:ext uri="{BB962C8B-B14F-4D97-AF65-F5344CB8AC3E}">
        <p14:creationId xmlns:p14="http://schemas.microsoft.com/office/powerpoint/2010/main" val="3639255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781" y="0"/>
            <a:ext cx="5245626" cy="3381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Disable Tap.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386" y="901635"/>
            <a:ext cx="7040335" cy="3308350"/>
          </a:xfrm>
        </p:spPr>
        <p:txBody>
          <a:bodyPr/>
          <a:lstStyle/>
          <a:p>
            <a:r>
              <a:rPr lang="en-US" dirty="0"/>
              <a:t>Problem:</a:t>
            </a:r>
          </a:p>
          <a:p>
            <a:pPr lvl="1"/>
            <a:r>
              <a:rPr lang="en-US" dirty="0"/>
              <a:t>All Glue agents listening ALL the time.</a:t>
            </a:r>
          </a:p>
          <a:p>
            <a:r>
              <a:rPr lang="en-US" dirty="0"/>
              <a:t>What if:</a:t>
            </a:r>
          </a:p>
          <a:p>
            <a:pPr lvl="1"/>
            <a:r>
              <a:rPr lang="en-US" dirty="0"/>
              <a:t>Some glue agents have the same address but different opcodes?</a:t>
            </a:r>
          </a:p>
          <a:p>
            <a:r>
              <a:rPr lang="en-US" dirty="0"/>
              <a:t>Result:</a:t>
            </a:r>
          </a:p>
          <a:p>
            <a:pPr lvl="1"/>
            <a:r>
              <a:rPr lang="en-US" dirty="0"/>
              <a:t>Some agents were being programed with garbage.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Disable the tap via &lt;AGENT&gt;_</a:t>
            </a:r>
            <a:r>
              <a:rPr lang="en-US" dirty="0" err="1"/>
              <a:t>Config</a:t>
            </a:r>
            <a:r>
              <a:rPr lang="en-US" dirty="0"/>
              <a:t> register.</a:t>
            </a:r>
          </a:p>
          <a:p>
            <a:r>
              <a:rPr lang="en-US" dirty="0" err="1"/>
              <a:t>Babystep</a:t>
            </a:r>
            <a:r>
              <a:rPr lang="en-US" dirty="0"/>
              <a:t> development:</a:t>
            </a:r>
          </a:p>
          <a:p>
            <a:pPr lvl="1"/>
            <a:r>
              <a:rPr lang="en-US" dirty="0"/>
              <a:t>Disable the agent via </a:t>
            </a:r>
            <a:r>
              <a:rPr lang="en-US" dirty="0" err="1"/>
              <a:t>config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Read the disable tap on status.</a:t>
            </a:r>
          </a:p>
          <a:p>
            <a:pPr lvl="1"/>
            <a:r>
              <a:rPr lang="en-US" dirty="0"/>
              <a:t>Read the agent </a:t>
            </a:r>
            <a:r>
              <a:rPr lang="en-US" dirty="0" err="1"/>
              <a:t>idcode</a:t>
            </a:r>
            <a:r>
              <a:rPr lang="en-US" dirty="0"/>
              <a:t> to 0.</a:t>
            </a:r>
          </a:p>
          <a:p>
            <a:endParaRPr lang="en-US" dirty="0"/>
          </a:p>
        </p:txBody>
      </p:sp>
      <p:sp>
        <p:nvSpPr>
          <p:cNvPr id="6" name="Content Placeholder 8"/>
          <p:cNvSpPr txBox="1">
            <a:spLocks/>
          </p:cNvSpPr>
          <p:nvPr/>
        </p:nvSpPr>
        <p:spPr>
          <a:xfrm>
            <a:off x="7422109" y="3827457"/>
            <a:ext cx="5706585" cy="4754563"/>
          </a:xfrm>
          <a:prstGeom prst="rect">
            <a:avLst/>
          </a:prstGeom>
        </p:spPr>
        <p:txBody>
          <a:bodyPr/>
          <a:lstStyle>
            <a:lvl1pPr marL="1714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Char char="•"/>
              <a:defRPr sz="20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45720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−"/>
              <a:defRPr>
                <a:solidFill>
                  <a:srgbClr val="333333"/>
                </a:solidFill>
                <a:latin typeface="+mn-lt"/>
              </a:defRPr>
            </a:lvl2pPr>
            <a:lvl3pPr marL="7429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&gt;"/>
              <a:defRPr sz="1600">
                <a:solidFill>
                  <a:srgbClr val="333333"/>
                </a:solidFill>
                <a:latin typeface="+mn-lt"/>
              </a:defRPr>
            </a:lvl3pPr>
            <a:lvl4pPr marL="971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Char char="•"/>
              <a:defRPr sz="1400">
                <a:solidFill>
                  <a:srgbClr val="333333"/>
                </a:solidFill>
                <a:latin typeface="+mn-lt"/>
              </a:defRPr>
            </a:lvl4pPr>
            <a:lvl5pPr marL="12001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5pPr>
            <a:lvl6pPr marL="16573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6pPr>
            <a:lvl7pPr marL="2114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7pPr>
            <a:lvl8pPr marL="25717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8pPr>
            <a:lvl9pPr marL="30289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9pPr>
          </a:lstStyle>
          <a:p>
            <a:r>
              <a:rPr lang="en-US" sz="1400" kern="0" dirty="0"/>
              <a:t>DYNAMIC_WR_EN</a:t>
            </a:r>
          </a:p>
          <a:p>
            <a:r>
              <a:rPr lang="en-US" sz="1400" kern="0" dirty="0"/>
              <a:t>DYNAMIC_BASE_ADDRESS</a:t>
            </a:r>
          </a:p>
          <a:p>
            <a:r>
              <a:rPr lang="en-US" sz="1400" kern="0" dirty="0"/>
              <a:t>DISABLE_WR_EN</a:t>
            </a:r>
          </a:p>
          <a:p>
            <a:r>
              <a:rPr lang="en-US" sz="1400" kern="0" dirty="0"/>
              <a:t>DISABLE_TDO</a:t>
            </a:r>
          </a:p>
          <a:p>
            <a:r>
              <a:rPr lang="en-US" sz="1400" kern="0" dirty="0"/>
              <a:t>DISABLE_PREVIOUS_LINK_TDO</a:t>
            </a:r>
          </a:p>
          <a:p>
            <a:r>
              <a:rPr lang="en-US" sz="1400" b="1" kern="0" dirty="0">
                <a:solidFill>
                  <a:srgbClr val="FF0000"/>
                </a:solidFill>
              </a:rPr>
              <a:t>DISABLE_TAP</a:t>
            </a:r>
          </a:p>
        </p:txBody>
      </p:sp>
    </p:spTree>
    <p:extLst>
      <p:ext uri="{BB962C8B-B14F-4D97-AF65-F5344CB8AC3E}">
        <p14:creationId xmlns:p14="http://schemas.microsoft.com/office/powerpoint/2010/main" val="3916645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Disable TDO.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386" y="901635"/>
            <a:ext cx="7040335" cy="3308350"/>
          </a:xfrm>
        </p:spPr>
        <p:txBody>
          <a:bodyPr/>
          <a:lstStyle/>
          <a:p>
            <a:r>
              <a:rPr lang="en-US" dirty="0"/>
              <a:t>Problem:</a:t>
            </a:r>
          </a:p>
          <a:p>
            <a:pPr lvl="1"/>
            <a:r>
              <a:rPr lang="en-US" dirty="0"/>
              <a:t>All agents connected all the time to </a:t>
            </a:r>
            <a:r>
              <a:rPr lang="en-US" dirty="0" err="1"/>
              <a:t>tdo</a:t>
            </a:r>
            <a:r>
              <a:rPr lang="en-US" dirty="0"/>
              <a:t>.</a:t>
            </a:r>
          </a:p>
          <a:p>
            <a:r>
              <a:rPr lang="en-US" dirty="0"/>
              <a:t>What if:</a:t>
            </a:r>
          </a:p>
          <a:p>
            <a:pPr lvl="1"/>
            <a:r>
              <a:rPr lang="en-US" dirty="0"/>
              <a:t>Some agents are throwing garbage to </a:t>
            </a:r>
            <a:r>
              <a:rPr lang="en-US" dirty="0" err="1"/>
              <a:t>tdo</a:t>
            </a:r>
            <a:r>
              <a:rPr lang="en-US" dirty="0"/>
              <a:t>.</a:t>
            </a:r>
          </a:p>
          <a:p>
            <a:r>
              <a:rPr lang="en-US" dirty="0"/>
              <a:t>Result:</a:t>
            </a:r>
          </a:p>
          <a:p>
            <a:pPr lvl="1"/>
            <a:r>
              <a:rPr lang="en-US" dirty="0"/>
              <a:t>Even that the agent readout was good, </a:t>
            </a:r>
          </a:p>
          <a:p>
            <a:pPr marL="285750" lvl="1" indent="0">
              <a:buNone/>
            </a:pPr>
            <a:r>
              <a:rPr lang="en-US" dirty="0"/>
              <a:t>	the TDO pin was getting mismatches.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Disable the TDO via &lt;AGENT&gt;_</a:t>
            </a:r>
            <a:r>
              <a:rPr lang="en-US" dirty="0" err="1"/>
              <a:t>Config</a:t>
            </a:r>
            <a:r>
              <a:rPr lang="en-US" dirty="0"/>
              <a:t> register.</a:t>
            </a:r>
          </a:p>
          <a:p>
            <a:r>
              <a:rPr lang="en-US" dirty="0" err="1"/>
              <a:t>Babystep</a:t>
            </a:r>
            <a:r>
              <a:rPr lang="en-US" dirty="0"/>
              <a:t> development:</a:t>
            </a:r>
          </a:p>
          <a:p>
            <a:pPr lvl="1"/>
            <a:r>
              <a:rPr lang="en-US" dirty="0"/>
              <a:t>Disable the agent </a:t>
            </a:r>
            <a:r>
              <a:rPr lang="en-US" dirty="0" err="1"/>
              <a:t>tdo</a:t>
            </a:r>
            <a:r>
              <a:rPr lang="en-US" dirty="0"/>
              <a:t> via </a:t>
            </a:r>
            <a:r>
              <a:rPr lang="en-US" dirty="0" err="1"/>
              <a:t>config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Read the disable </a:t>
            </a:r>
            <a:r>
              <a:rPr lang="en-US" dirty="0" err="1"/>
              <a:t>tdo</a:t>
            </a:r>
            <a:r>
              <a:rPr lang="en-US" dirty="0"/>
              <a:t> on status.</a:t>
            </a:r>
          </a:p>
          <a:p>
            <a:pPr lvl="1"/>
            <a:r>
              <a:rPr lang="en-US" dirty="0"/>
              <a:t>Read the agent </a:t>
            </a:r>
            <a:r>
              <a:rPr lang="en-US" dirty="0" err="1"/>
              <a:t>idcode</a:t>
            </a:r>
            <a:r>
              <a:rPr lang="en-US" dirty="0"/>
              <a:t> to 0.</a:t>
            </a:r>
          </a:p>
          <a:p>
            <a:endParaRPr lang="en-US" dirty="0"/>
          </a:p>
        </p:txBody>
      </p:sp>
      <p:sp>
        <p:nvSpPr>
          <p:cNvPr id="6" name="Content Placeholder 8"/>
          <p:cNvSpPr txBox="1">
            <a:spLocks/>
          </p:cNvSpPr>
          <p:nvPr/>
        </p:nvSpPr>
        <p:spPr>
          <a:xfrm>
            <a:off x="7422109" y="3827457"/>
            <a:ext cx="5706585" cy="4754563"/>
          </a:xfrm>
          <a:prstGeom prst="rect">
            <a:avLst/>
          </a:prstGeom>
        </p:spPr>
        <p:txBody>
          <a:bodyPr/>
          <a:lstStyle>
            <a:lvl1pPr marL="1714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Char char="•"/>
              <a:defRPr sz="20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45720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−"/>
              <a:defRPr>
                <a:solidFill>
                  <a:srgbClr val="333333"/>
                </a:solidFill>
                <a:latin typeface="+mn-lt"/>
              </a:defRPr>
            </a:lvl2pPr>
            <a:lvl3pPr marL="7429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&gt;"/>
              <a:defRPr sz="1600">
                <a:solidFill>
                  <a:srgbClr val="333333"/>
                </a:solidFill>
                <a:latin typeface="+mn-lt"/>
              </a:defRPr>
            </a:lvl3pPr>
            <a:lvl4pPr marL="971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Char char="•"/>
              <a:defRPr sz="1400">
                <a:solidFill>
                  <a:srgbClr val="333333"/>
                </a:solidFill>
                <a:latin typeface="+mn-lt"/>
              </a:defRPr>
            </a:lvl4pPr>
            <a:lvl5pPr marL="12001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5pPr>
            <a:lvl6pPr marL="16573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6pPr>
            <a:lvl7pPr marL="2114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7pPr>
            <a:lvl8pPr marL="25717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8pPr>
            <a:lvl9pPr marL="30289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9pPr>
          </a:lstStyle>
          <a:p>
            <a:r>
              <a:rPr lang="en-US" sz="1400" kern="0" dirty="0"/>
              <a:t>DYNAMIC_WR_EN</a:t>
            </a:r>
          </a:p>
          <a:p>
            <a:r>
              <a:rPr lang="en-US" sz="1400" kern="0" dirty="0"/>
              <a:t>DYNAMIC_BASE_ADDRESS</a:t>
            </a:r>
          </a:p>
          <a:p>
            <a:r>
              <a:rPr lang="en-US" sz="1400" kern="0" dirty="0"/>
              <a:t>DISABLE_WR_EN</a:t>
            </a:r>
          </a:p>
          <a:p>
            <a:r>
              <a:rPr lang="en-US" sz="1400" b="1" kern="0" dirty="0">
                <a:solidFill>
                  <a:srgbClr val="FF0000"/>
                </a:solidFill>
              </a:rPr>
              <a:t>DISABLE_TDO</a:t>
            </a:r>
          </a:p>
          <a:p>
            <a:r>
              <a:rPr lang="en-US" sz="1400" kern="0" dirty="0"/>
              <a:t>DISABLE_PREVIOUS_LINK_TDO</a:t>
            </a:r>
          </a:p>
          <a:p>
            <a:r>
              <a:rPr lang="en-US" sz="1400" kern="0" dirty="0"/>
              <a:t>DISABLE_TAP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533" y="298279"/>
            <a:ext cx="5726188" cy="358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46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Remapping.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386" y="901635"/>
            <a:ext cx="10355035" cy="3308350"/>
          </a:xfrm>
        </p:spPr>
        <p:txBody>
          <a:bodyPr/>
          <a:lstStyle/>
          <a:p>
            <a:r>
              <a:rPr lang="en-US" dirty="0"/>
              <a:t>Problem:</a:t>
            </a:r>
          </a:p>
          <a:p>
            <a:pPr lvl="1"/>
            <a:r>
              <a:rPr lang="en-US" dirty="0"/>
              <a:t>Agents rely on local address &amp; global address to be accessed.</a:t>
            </a:r>
          </a:p>
          <a:p>
            <a:r>
              <a:rPr lang="en-US" dirty="0"/>
              <a:t>What if:</a:t>
            </a:r>
          </a:p>
          <a:p>
            <a:pPr lvl="1"/>
            <a:r>
              <a:rPr lang="en-US" dirty="0"/>
              <a:t>Local and global address are </a:t>
            </a:r>
            <a:r>
              <a:rPr lang="en-US" dirty="0" err="1"/>
              <a:t>misprogramed</a:t>
            </a:r>
            <a:endParaRPr lang="en-US" dirty="0"/>
          </a:p>
          <a:p>
            <a:r>
              <a:rPr lang="en-US" dirty="0"/>
              <a:t>Result:</a:t>
            </a:r>
          </a:p>
          <a:p>
            <a:pPr lvl="1"/>
            <a:r>
              <a:rPr lang="en-US" dirty="0"/>
              <a:t>Agent basic </a:t>
            </a:r>
            <a:r>
              <a:rPr lang="en-US" dirty="0" err="1"/>
              <a:t>babysteps</a:t>
            </a:r>
            <a:r>
              <a:rPr lang="en-US" dirty="0"/>
              <a:t> were not working with both address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Change the configurable address via &lt;AGENT&gt;_</a:t>
            </a:r>
            <a:r>
              <a:rPr lang="en-US" dirty="0" err="1"/>
              <a:t>Config</a:t>
            </a:r>
            <a:r>
              <a:rPr lang="en-US" dirty="0"/>
              <a:t> register.</a:t>
            </a:r>
          </a:p>
          <a:p>
            <a:r>
              <a:rPr lang="en-US" dirty="0" err="1"/>
              <a:t>Babystep</a:t>
            </a:r>
            <a:r>
              <a:rPr lang="en-US" dirty="0"/>
              <a:t> development:</a:t>
            </a:r>
          </a:p>
          <a:p>
            <a:pPr lvl="1"/>
            <a:r>
              <a:rPr lang="en-US" dirty="0"/>
              <a:t>Change the address into a user defined one.</a:t>
            </a:r>
          </a:p>
          <a:p>
            <a:pPr lvl="1"/>
            <a:r>
              <a:rPr lang="en-US" dirty="0"/>
              <a:t>Read IDCODE.</a:t>
            </a:r>
          </a:p>
          <a:p>
            <a:pPr lvl="1"/>
            <a:r>
              <a:rPr lang="en-US" dirty="0" err="1"/>
              <a:t>Overshift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Write Read to an IR.</a:t>
            </a:r>
          </a:p>
          <a:p>
            <a:endParaRPr lang="en-US" dirty="0"/>
          </a:p>
        </p:txBody>
      </p:sp>
      <p:sp>
        <p:nvSpPr>
          <p:cNvPr id="6" name="Content Placeholder 8"/>
          <p:cNvSpPr txBox="1">
            <a:spLocks/>
          </p:cNvSpPr>
          <p:nvPr/>
        </p:nvSpPr>
        <p:spPr>
          <a:xfrm>
            <a:off x="8712174" y="3868278"/>
            <a:ext cx="5706585" cy="4754563"/>
          </a:xfrm>
          <a:prstGeom prst="rect">
            <a:avLst/>
          </a:prstGeom>
        </p:spPr>
        <p:txBody>
          <a:bodyPr/>
          <a:lstStyle>
            <a:lvl1pPr marL="1714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Char char="•"/>
              <a:defRPr sz="20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45720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−"/>
              <a:defRPr>
                <a:solidFill>
                  <a:srgbClr val="333333"/>
                </a:solidFill>
                <a:latin typeface="+mn-lt"/>
              </a:defRPr>
            </a:lvl2pPr>
            <a:lvl3pPr marL="742950" indent="-171450" algn="l" rtl="0" eaLnBrk="1" fontAlgn="base" hangingPunct="1">
              <a:spcBef>
                <a:spcPct val="0"/>
              </a:spcBef>
              <a:spcAft>
                <a:spcPct val="40000"/>
              </a:spcAft>
              <a:buFont typeface="Verdana" pitchFamily="34" charset="0"/>
              <a:buChar char="&gt;"/>
              <a:defRPr sz="1600">
                <a:solidFill>
                  <a:srgbClr val="333333"/>
                </a:solidFill>
                <a:latin typeface="+mn-lt"/>
              </a:defRPr>
            </a:lvl3pPr>
            <a:lvl4pPr marL="971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Char char="•"/>
              <a:defRPr sz="1400">
                <a:solidFill>
                  <a:srgbClr val="333333"/>
                </a:solidFill>
                <a:latin typeface="+mn-lt"/>
              </a:defRPr>
            </a:lvl4pPr>
            <a:lvl5pPr marL="12001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5pPr>
            <a:lvl6pPr marL="16573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6pPr>
            <a:lvl7pPr marL="21145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7pPr>
            <a:lvl8pPr marL="25717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8pPr>
            <a:lvl9pPr marL="3028950" indent="-114300" algn="l" rtl="0" eaLnBrk="1" fontAlgn="base" hangingPunct="1">
              <a:spcBef>
                <a:spcPct val="0"/>
              </a:spcBef>
              <a:spcAft>
                <a:spcPct val="40000"/>
              </a:spcAft>
              <a:buSzPct val="130000"/>
              <a:buFont typeface="Wingdings" pitchFamily="2" charset="2"/>
              <a:buChar char="ü"/>
              <a:defRPr sz="1200">
                <a:solidFill>
                  <a:srgbClr val="333333"/>
                </a:solidFill>
                <a:latin typeface="+mn-lt"/>
              </a:defRPr>
            </a:lvl9pPr>
          </a:lstStyle>
          <a:p>
            <a:r>
              <a:rPr lang="en-US" sz="1400" kern="0" dirty="0"/>
              <a:t>DYNAMIC_WR_EN</a:t>
            </a:r>
          </a:p>
          <a:p>
            <a:r>
              <a:rPr lang="en-US" sz="1400" b="1" kern="0" dirty="0">
                <a:solidFill>
                  <a:srgbClr val="FF0000"/>
                </a:solidFill>
              </a:rPr>
              <a:t>DYNAMIC_BASE_ADDRESS</a:t>
            </a:r>
          </a:p>
          <a:p>
            <a:r>
              <a:rPr lang="en-US" sz="1400" kern="0" dirty="0"/>
              <a:t>DISABLE_WR_EN</a:t>
            </a:r>
          </a:p>
          <a:p>
            <a:r>
              <a:rPr lang="en-US" sz="1400" kern="0" dirty="0">
                <a:solidFill>
                  <a:schemeClr val="tx1"/>
                </a:solidFill>
              </a:rPr>
              <a:t>DISABLE_TDO</a:t>
            </a:r>
          </a:p>
          <a:p>
            <a:r>
              <a:rPr lang="en-US" sz="1400" kern="0" dirty="0"/>
              <a:t>DISABLE_PREVIOUS_LINK_TDO</a:t>
            </a:r>
          </a:p>
          <a:p>
            <a:r>
              <a:rPr lang="en-US" sz="1400" kern="0" dirty="0"/>
              <a:t>DISABLE_TAP</a:t>
            </a:r>
          </a:p>
        </p:txBody>
      </p:sp>
    </p:spTree>
    <p:extLst>
      <p:ext uri="{BB962C8B-B14F-4D97-AF65-F5344CB8AC3E}">
        <p14:creationId xmlns:p14="http://schemas.microsoft.com/office/powerpoint/2010/main" val="2143202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ICXSP </a:t>
            </a:r>
            <a:r>
              <a:rPr lang="en-US" dirty="0" err="1"/>
              <a:t>taplink</a:t>
            </a:r>
            <a:r>
              <a:rPr lang="en-US" dirty="0"/>
              <a:t> net</a:t>
            </a: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955" y="914401"/>
            <a:ext cx="9911030" cy="573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468310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4">
  <a:themeElements>
    <a:clrScheme name="SSG_internal_white_r06 1">
      <a:dk1>
        <a:srgbClr val="333333"/>
      </a:dk1>
      <a:lt1>
        <a:srgbClr val="FFFFFF"/>
      </a:lt1>
      <a:dk2>
        <a:srgbClr val="087EB9"/>
      </a:dk2>
      <a:lt2>
        <a:srgbClr val="0860A8"/>
      </a:lt2>
      <a:accent1>
        <a:srgbClr val="009900"/>
      </a:accent1>
      <a:accent2>
        <a:srgbClr val="AA014C"/>
      </a:accent2>
      <a:accent3>
        <a:srgbClr val="FFFFFF"/>
      </a:accent3>
      <a:accent4>
        <a:srgbClr val="2A2A2A"/>
      </a:accent4>
      <a:accent5>
        <a:srgbClr val="AACAAA"/>
      </a:accent5>
      <a:accent6>
        <a:srgbClr val="9A0144"/>
      </a:accent6>
      <a:hlink>
        <a:srgbClr val="FF5C00"/>
      </a:hlink>
      <a:folHlink>
        <a:srgbClr val="FDB605"/>
      </a:folHlink>
    </a:clrScheme>
    <a:fontScheme name="SSG_internal_white_r0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SG_internal_white_r06 1">
        <a:dk1>
          <a:srgbClr val="333333"/>
        </a:dk1>
        <a:lt1>
          <a:srgbClr val="FFFFFF"/>
        </a:lt1>
        <a:dk2>
          <a:srgbClr val="087EB9"/>
        </a:dk2>
        <a:lt2>
          <a:srgbClr val="0860A8"/>
        </a:lt2>
        <a:accent1>
          <a:srgbClr val="009900"/>
        </a:accent1>
        <a:accent2>
          <a:srgbClr val="AA014C"/>
        </a:accent2>
        <a:accent3>
          <a:srgbClr val="FFFFFF"/>
        </a:accent3>
        <a:accent4>
          <a:srgbClr val="2A2A2A"/>
        </a:accent4>
        <a:accent5>
          <a:srgbClr val="AACAAA"/>
        </a:accent5>
        <a:accent6>
          <a:srgbClr val="9A0144"/>
        </a:accent6>
        <a:hlink>
          <a:srgbClr val="FF5C00"/>
        </a:hlink>
        <a:folHlink>
          <a:srgbClr val="FDB60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IDGa_logo-Template">
  <a:themeElements>
    <a:clrScheme name="Intel Colors_2011">
      <a:dk1>
        <a:sysClr val="windowText" lastClr="000000"/>
      </a:dk1>
      <a:lt1>
        <a:sysClr val="window" lastClr="FFFFFF"/>
      </a:lt1>
      <a:dk2>
        <a:srgbClr val="004280"/>
      </a:dk2>
      <a:lt2>
        <a:srgbClr val="939895"/>
      </a:lt2>
      <a:accent1>
        <a:srgbClr val="00AEEF"/>
      </a:accent1>
      <a:accent2>
        <a:srgbClr val="A6CE39"/>
      </a:accent2>
      <a:accent3>
        <a:srgbClr val="FDB813"/>
      </a:accent3>
      <a:accent4>
        <a:srgbClr val="F37021"/>
      </a:accent4>
      <a:accent5>
        <a:srgbClr val="C00000"/>
      </a:accent5>
      <a:accent6>
        <a:srgbClr val="7030A0"/>
      </a:accent6>
      <a:hlink>
        <a:srgbClr val="085CA8"/>
      </a:hlink>
      <a:folHlink>
        <a:srgbClr val="93959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_1_Org.potx" id="{41C6D5D3-4CB4-482E-AD9E-F4E3DE5EDF29}" vid="{87637B9F-089A-4733-A855-7D95612F3237}"/>
    </a:ext>
  </a:extLst>
</a:theme>
</file>

<file path=ppt/theme/theme5.xml><?xml version="1.0" encoding="utf-8"?>
<a:theme xmlns:a="http://schemas.openxmlformats.org/drawingml/2006/main" name="1_Theme4">
  <a:themeElements>
    <a:clrScheme name="SSG_internal_white_r06 1">
      <a:dk1>
        <a:srgbClr val="333333"/>
      </a:dk1>
      <a:lt1>
        <a:srgbClr val="FFFFFF"/>
      </a:lt1>
      <a:dk2>
        <a:srgbClr val="087EB9"/>
      </a:dk2>
      <a:lt2>
        <a:srgbClr val="0860A8"/>
      </a:lt2>
      <a:accent1>
        <a:srgbClr val="009900"/>
      </a:accent1>
      <a:accent2>
        <a:srgbClr val="AA014C"/>
      </a:accent2>
      <a:accent3>
        <a:srgbClr val="FFFFFF"/>
      </a:accent3>
      <a:accent4>
        <a:srgbClr val="2A2A2A"/>
      </a:accent4>
      <a:accent5>
        <a:srgbClr val="AACAAA"/>
      </a:accent5>
      <a:accent6>
        <a:srgbClr val="9A0144"/>
      </a:accent6>
      <a:hlink>
        <a:srgbClr val="FF5C00"/>
      </a:hlink>
      <a:folHlink>
        <a:srgbClr val="FDB605"/>
      </a:folHlink>
    </a:clrScheme>
    <a:fontScheme name="SSG_internal_white_r0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SG_internal_white_r06 1">
        <a:dk1>
          <a:srgbClr val="333333"/>
        </a:dk1>
        <a:lt1>
          <a:srgbClr val="FFFFFF"/>
        </a:lt1>
        <a:dk2>
          <a:srgbClr val="087EB9"/>
        </a:dk2>
        <a:lt2>
          <a:srgbClr val="0860A8"/>
        </a:lt2>
        <a:accent1>
          <a:srgbClr val="009900"/>
        </a:accent1>
        <a:accent2>
          <a:srgbClr val="AA014C"/>
        </a:accent2>
        <a:accent3>
          <a:srgbClr val="FFFFFF"/>
        </a:accent3>
        <a:accent4>
          <a:srgbClr val="2A2A2A"/>
        </a:accent4>
        <a:accent5>
          <a:srgbClr val="AACAAA"/>
        </a:accent5>
        <a:accent6>
          <a:srgbClr val="9A0144"/>
        </a:accent6>
        <a:hlink>
          <a:srgbClr val="FF5C00"/>
        </a:hlink>
        <a:folHlink>
          <a:srgbClr val="FDB60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0A9FE8E47E854D92A6F31317A3C608" ma:contentTypeVersion="12" ma:contentTypeDescription="Create a new document." ma:contentTypeScope="" ma:versionID="374fa6d56ebbe358ea799f5092c51f12">
  <xsd:schema xmlns:xsd="http://www.w3.org/2001/XMLSchema" xmlns:xs="http://www.w3.org/2001/XMLSchema" xmlns:p="http://schemas.microsoft.com/office/2006/metadata/properties" xmlns:ns2="5f2f9a59-a684-4e9c-b66b-f410df88de15" xmlns:ns3="a6390a3d-4008-4861-b6e8-5df78f283c37" targetNamespace="http://schemas.microsoft.com/office/2006/metadata/properties" ma:root="true" ma:fieldsID="18b6c0b95db41650b6115ff59ef7aa1f" ns2:_="" ns3:_="">
    <xsd:import namespace="5f2f9a59-a684-4e9c-b66b-f410df88de15"/>
    <xsd:import namespace="a6390a3d-4008-4861-b6e8-5df78f283c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f9a59-a684-4e9c-b66b-f410df88de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390a3d-4008-4861-b6e8-5df78f283c3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7208968-44D3-4A45-B7A9-0BCD9B0AB5C3}"/>
</file>

<file path=customXml/itemProps2.xml><?xml version="1.0" encoding="utf-8"?>
<ds:datastoreItem xmlns:ds="http://schemas.openxmlformats.org/officeDocument/2006/customXml" ds:itemID="{B6A66BBE-2392-4F5A-8430-827A8801319B}"/>
</file>

<file path=customXml/itemProps3.xml><?xml version="1.0" encoding="utf-8"?>
<ds:datastoreItem xmlns:ds="http://schemas.openxmlformats.org/officeDocument/2006/customXml" ds:itemID="{03673913-4E19-4B76-9A12-D52ECCC4CF64}"/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66420</TotalTime>
  <Words>3951</Words>
  <Application>Microsoft Office PowerPoint</Application>
  <PresentationFormat>Widescreen</PresentationFormat>
  <Paragraphs>749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20</vt:i4>
      </vt:variant>
    </vt:vector>
  </HeadingPairs>
  <TitlesOfParts>
    <vt:vector size="36" baseType="lpstr">
      <vt:lpstr>Arial</vt:lpstr>
      <vt:lpstr>Arial Narrow</vt:lpstr>
      <vt:lpstr>Calibri</vt:lpstr>
      <vt:lpstr>Calibri Light</vt:lpstr>
      <vt:lpstr>Neo Sans Intel</vt:lpstr>
      <vt:lpstr>Neo Sans Intel Medium</vt:lpstr>
      <vt:lpstr>Segoe UI</vt:lpstr>
      <vt:lpstr>Trebuchet MS</vt:lpstr>
      <vt:lpstr>Verdana</vt:lpstr>
      <vt:lpstr>Wingdings</vt:lpstr>
      <vt:lpstr>Wingdings 2</vt:lpstr>
      <vt:lpstr>Theme4</vt:lpstr>
      <vt:lpstr>Custom Design</vt:lpstr>
      <vt:lpstr>1_Custom Design</vt:lpstr>
      <vt:lpstr>5_IDGa_logo-Template</vt:lpstr>
      <vt:lpstr>1_Theme4</vt:lpstr>
      <vt:lpstr>Tap Link Training for 10nm</vt:lpstr>
      <vt:lpstr>Basic Tap Link Cluster</vt:lpstr>
      <vt:lpstr>Diff with Legacy Tap (BDX-SKX)</vt:lpstr>
      <vt:lpstr>Legacy Tap (BDX)</vt:lpstr>
      <vt:lpstr>Tap Link (CNL-ICXSP-KNH)</vt:lpstr>
      <vt:lpstr>What’s inside a tap Glue agent.</vt:lpstr>
      <vt:lpstr>Config and Status registers per agent</vt:lpstr>
      <vt:lpstr>IR/DR protocol example</vt:lpstr>
      <vt:lpstr>Info from the model:   </vt:lpstr>
      <vt:lpstr>Example: </vt:lpstr>
      <vt:lpstr>Basic Debug approach for Tap</vt:lpstr>
      <vt:lpstr>IDCODE:</vt:lpstr>
      <vt:lpstr>Overshift: (cltap)  </vt:lpstr>
      <vt:lpstr>Overshift ON TAP LINK(STAP)</vt:lpstr>
      <vt:lpstr>Write-Read:</vt:lpstr>
      <vt:lpstr>Advance Debug approach for Tap</vt:lpstr>
      <vt:lpstr>Disable Tap.</vt:lpstr>
      <vt:lpstr>Disable TDO.</vt:lpstr>
      <vt:lpstr>Address Remapping.</vt:lpstr>
      <vt:lpstr>ICXSP taplink net</vt:lpstr>
    </vt:vector>
  </TitlesOfParts>
  <Company>Intel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Lodman, Miri</dc:creator>
  <cp:lastModifiedBy>Santillan, Enrique J</cp:lastModifiedBy>
  <cp:revision>658</cp:revision>
  <dcterms:created xsi:type="dcterms:W3CDTF">2013-11-28T11:44:31Z</dcterms:created>
  <dcterms:modified xsi:type="dcterms:W3CDTF">2025-07-31T14:50:41Z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0x010100A80A9FE8E47E854D92A6F31317A3C608</vt:lpwstr>
  </property>
</Properties>
</file>