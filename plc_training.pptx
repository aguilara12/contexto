
<file path=[Content_Types].xml><?xml version="1.0" encoding="utf-8"?>
<Types xmlns="http://schemas.openxmlformats.org/package/2006/content-types">
  <Default Extension="png" ContentType="image/png"/>
  <Default Extension="svg" ContentType="image/svg+xml"/>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diagrams/data2.xml" ContentType="application/vnd.openxmlformats-officedocument.drawingml.diagramData+xml"/>
  <Override PartName="/ppt/diagrams/data3.xml" ContentType="application/vnd.openxmlformats-officedocument.drawingml.diagramData+xml"/>
  <Override PartName="/ppt/diagrams/data1.xml" ContentType="application/vnd.openxmlformats-officedocument.drawingml.diagramData+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diagrams/quickStyle3.xml" ContentType="application/vnd.openxmlformats-officedocument.drawingml.diagramStyl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diagrams/layout2.xml" ContentType="application/vnd.openxmlformats-officedocument.drawingml.diagramLayout+xml"/>
  <Override PartName="/ppt/diagrams/colors3.xml" ContentType="application/vnd.openxmlformats-officedocument.drawingml.diagramColors+xml"/>
  <Override PartName="/ppt/diagrams/drawing3.xml" ContentType="application/vnd.ms-office.drawingml.diagramDrawing+xml"/>
  <Override PartName="/ppt/diagrams/drawing1.xml" ContentType="application/vnd.ms-office.drawingml.diagramDrawing+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colors1.xml" ContentType="application/vnd.openxmlformats-officedocument.drawingml.diagramColors+xml"/>
  <Override PartName="/ppt/diagrams/quickStyle1.xml" ContentType="application/vnd.openxmlformats-officedocument.drawingml.diagramStyle+xml"/>
  <Override PartName="/ppt/diagrams/layout1.xml" ContentType="application/vnd.openxmlformats-officedocument.drawingml.diagramLayout+xml"/>
  <Override PartName="/ppt/theme/theme4.xml" ContentType="application/vnd.openxmlformats-officedocument.theme+xml"/>
  <Override PartName="/ppt/diagrams/layout3.xml" ContentType="application/vnd.openxmlformats-officedocument.drawingml.diagramLayout+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67" r:id="rId3"/>
  </p:sldMasterIdLst>
  <p:notesMasterIdLst>
    <p:notesMasterId r:id="rId11"/>
  </p:notesMasterIdLst>
  <p:sldIdLst>
    <p:sldId id="330" r:id="rId4"/>
    <p:sldId id="344" r:id="rId5"/>
    <p:sldId id="536" r:id="rId6"/>
    <p:sldId id="331" r:id="rId7"/>
    <p:sldId id="257" r:id="rId8"/>
    <p:sldId id="535" r:id="rId9"/>
    <p:sldId id="256"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F24D0B-432A-42D6-8EA2-D101D2CFDF4E}" v="9" dt="2022-02-22T16:00:12.04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99" d="100"/>
          <a:sy n="99" d="100"/>
        </p:scale>
        <p:origin x="4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18" Type="http://schemas.openxmlformats.org/officeDocument/2006/relationships/customXml" Target="../customXml/item2.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17" Type="http://schemas.openxmlformats.org/officeDocument/2006/relationships/customXml" Target="../customXml/item1.xml"/><Relationship Id="rId2" Type="http://schemas.openxmlformats.org/officeDocument/2006/relationships/slideMaster" Target="slideMasters/slideMaster2.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customXml" Target="../customXml/item3.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FCEE6C-9FC6-4C53-8EFB-418F379E21CE}" type="doc">
      <dgm:prSet loTypeId="urn:microsoft.com/office/officeart/2005/8/layout/hProcess9" loCatId="process" qsTypeId="urn:microsoft.com/office/officeart/2005/8/quickstyle/simple1" qsCatId="simple" csTypeId="urn:microsoft.com/office/officeart/2005/8/colors/accent1_2" csCatId="accent1" phldr="1"/>
      <dgm:spPr/>
    </dgm:pt>
    <dgm:pt modelId="{115E4E07-FC38-4DBF-BDA0-03CA926EF617}">
      <dgm:prSet phldrT="[Text]" custT="1"/>
      <dgm:spPr>
        <a:solidFill>
          <a:srgbClr val="E96115">
            <a:lumMod val="75000"/>
          </a:srgbClr>
        </a:solidFill>
        <a:ln w="25400" cap="flat" cmpd="sng" algn="ctr">
          <a:solidFill>
            <a:srgbClr val="FFFFFF">
              <a:hueOff val="0"/>
              <a:satOff val="0"/>
              <a:lumOff val="0"/>
              <a:alphaOff val="0"/>
            </a:srgbClr>
          </a:solidFill>
          <a:prstDash val="solid"/>
        </a:ln>
        <a:effectLst/>
      </dgm:spPr>
      <dgm:t>
        <a:bodyPr spcFirstLastPara="0" vert="horz" wrap="square" lIns="53340" tIns="53340" rIns="53340" bIns="53340" numCol="1" spcCol="1270" rtlCol="0" anchor="ctr" anchorCtr="0"/>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4000" kern="1200" dirty="0">
              <a:solidFill>
                <a:srgbClr val="FFFFFF"/>
              </a:solidFill>
              <a:latin typeface="IntelOne Display Light"/>
              <a:ea typeface="Helvetica Neue"/>
              <a:cs typeface="Helvetica Neue"/>
            </a:rPr>
            <a:t>SIE 0p5</a:t>
          </a:r>
        </a:p>
      </dgm:t>
    </dgm:pt>
    <dgm:pt modelId="{811513C3-D9C9-4512-B510-D13C9BF34C48}" type="parTrans" cxnId="{F74C6A64-87D6-4B17-913C-94F59B809741}">
      <dgm:prSet/>
      <dgm:spPr/>
      <dgm:t>
        <a:bodyPr/>
        <a:lstStyle/>
        <a:p>
          <a:endParaRPr lang="en-US"/>
        </a:p>
      </dgm:t>
    </dgm:pt>
    <dgm:pt modelId="{CC5F7D46-46B3-466F-846A-197D0A07F792}" type="sibTrans" cxnId="{F74C6A64-87D6-4B17-913C-94F59B809741}">
      <dgm:prSet/>
      <dgm:spPr/>
      <dgm:t>
        <a:bodyPr/>
        <a:lstStyle/>
        <a:p>
          <a:endParaRPr lang="en-US"/>
        </a:p>
      </dgm:t>
    </dgm:pt>
    <dgm:pt modelId="{4376EA5F-31F7-4695-8751-A11B0E7756AB}" type="pres">
      <dgm:prSet presAssocID="{75FCEE6C-9FC6-4C53-8EFB-418F379E21CE}" presName="CompostProcess" presStyleCnt="0">
        <dgm:presLayoutVars>
          <dgm:dir/>
          <dgm:resizeHandles val="exact"/>
        </dgm:presLayoutVars>
      </dgm:prSet>
      <dgm:spPr/>
    </dgm:pt>
    <dgm:pt modelId="{9B966CF7-C22F-434A-A95D-C43F87A8C825}" type="pres">
      <dgm:prSet presAssocID="{75FCEE6C-9FC6-4C53-8EFB-418F379E21CE}" presName="arrow" presStyleLbl="bgShp" presStyleIdx="0" presStyleCnt="1" custScaleX="117647" custLinFactNeighborX="-3911" custLinFactNeighborY="986"/>
      <dgm:spPr>
        <a:solidFill>
          <a:schemeClr val="tx1">
            <a:lumMod val="85000"/>
            <a:lumOff val="15000"/>
          </a:schemeClr>
        </a:solidFill>
      </dgm:spPr>
    </dgm:pt>
    <dgm:pt modelId="{17986EA8-F2BA-47AA-84EE-0E3987E826B1}" type="pres">
      <dgm:prSet presAssocID="{75FCEE6C-9FC6-4C53-8EFB-418F379E21CE}" presName="linearProcess" presStyleCnt="0"/>
      <dgm:spPr/>
    </dgm:pt>
    <dgm:pt modelId="{F7F1C563-F6B1-4843-8555-4A79FE6A6121}" type="pres">
      <dgm:prSet presAssocID="{115E4E07-FC38-4DBF-BDA0-03CA926EF617}" presName="textNode" presStyleLbl="node1" presStyleIdx="0" presStyleCnt="1" custScaleX="76950" custLinFactX="-10127" custLinFactNeighborX="-100000" custLinFactNeighborY="753">
        <dgm:presLayoutVars>
          <dgm:bulletEnabled val="1"/>
        </dgm:presLayoutVars>
      </dgm:prSet>
      <dgm:spPr>
        <a:xfrm>
          <a:off x="734651" y="742507"/>
          <a:ext cx="2743203" cy="980168"/>
        </a:xfrm>
        <a:prstGeom prst="roundRect">
          <a:avLst/>
        </a:prstGeom>
      </dgm:spPr>
    </dgm:pt>
  </dgm:ptLst>
  <dgm:cxnLst>
    <dgm:cxn modelId="{2C6D0640-C0B6-47CF-89A2-9223C0AE2457}" type="presOf" srcId="{75FCEE6C-9FC6-4C53-8EFB-418F379E21CE}" destId="{4376EA5F-31F7-4695-8751-A11B0E7756AB}" srcOrd="0" destOrd="0" presId="urn:microsoft.com/office/officeart/2005/8/layout/hProcess9"/>
    <dgm:cxn modelId="{F74C6A64-87D6-4B17-913C-94F59B809741}" srcId="{75FCEE6C-9FC6-4C53-8EFB-418F379E21CE}" destId="{115E4E07-FC38-4DBF-BDA0-03CA926EF617}" srcOrd="0" destOrd="0" parTransId="{811513C3-D9C9-4512-B510-D13C9BF34C48}" sibTransId="{CC5F7D46-46B3-466F-846A-197D0A07F792}"/>
    <dgm:cxn modelId="{DA2C85A8-6AF6-4778-BA96-B8EDF5965620}" type="presOf" srcId="{115E4E07-FC38-4DBF-BDA0-03CA926EF617}" destId="{F7F1C563-F6B1-4843-8555-4A79FE6A6121}" srcOrd="0" destOrd="0" presId="urn:microsoft.com/office/officeart/2005/8/layout/hProcess9"/>
    <dgm:cxn modelId="{AF1F3F26-7F57-44E3-93C7-D33C8715D4C9}" type="presParOf" srcId="{4376EA5F-31F7-4695-8751-A11B0E7756AB}" destId="{9B966CF7-C22F-434A-A95D-C43F87A8C825}" srcOrd="0" destOrd="0" presId="urn:microsoft.com/office/officeart/2005/8/layout/hProcess9"/>
    <dgm:cxn modelId="{51540CCB-B820-46AE-8747-C48F7EC6EC61}" type="presParOf" srcId="{4376EA5F-31F7-4695-8751-A11B0E7756AB}" destId="{17986EA8-F2BA-47AA-84EE-0E3987E826B1}" srcOrd="1" destOrd="0" presId="urn:microsoft.com/office/officeart/2005/8/layout/hProcess9"/>
    <dgm:cxn modelId="{7184F48D-4952-4973-AA6D-05BDCC76DC1F}" type="presParOf" srcId="{17986EA8-F2BA-47AA-84EE-0E3987E826B1}" destId="{F7F1C563-F6B1-4843-8555-4A79FE6A6121}" srcOrd="0"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5FCEE6C-9FC6-4C53-8EFB-418F379E21CE}" type="doc">
      <dgm:prSet loTypeId="urn:microsoft.com/office/officeart/2005/8/layout/hProcess9" loCatId="process" qsTypeId="urn:microsoft.com/office/officeart/2005/8/quickstyle/simple1" qsCatId="simple" csTypeId="urn:microsoft.com/office/officeart/2005/8/colors/accent1_2" csCatId="accent1" phldr="1"/>
      <dgm:spPr/>
    </dgm:pt>
    <dgm:pt modelId="{115E4E07-FC38-4DBF-BDA0-03CA926EF617}">
      <dgm:prSet phldrT="[Text]" custT="1"/>
      <dgm:spPr>
        <a:solidFill>
          <a:srgbClr val="E96115">
            <a:lumMod val="75000"/>
          </a:srgbClr>
        </a:solidFill>
        <a:ln w="25400" cap="flat" cmpd="sng" algn="ctr">
          <a:solidFill>
            <a:srgbClr val="FFFFFF">
              <a:hueOff val="0"/>
              <a:satOff val="0"/>
              <a:lumOff val="0"/>
              <a:alphaOff val="0"/>
            </a:srgbClr>
          </a:solidFill>
          <a:prstDash val="solid"/>
        </a:ln>
        <a:effectLst/>
      </dgm:spPr>
      <dgm:t>
        <a:bodyPr spcFirstLastPara="0" vert="horz" wrap="square" lIns="53340" tIns="53340" rIns="53340" bIns="53340" numCol="1" spcCol="1270" rtlCol="0" anchor="ctr" anchorCtr="0"/>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4000" kern="1200" dirty="0">
              <a:solidFill>
                <a:srgbClr val="FFFFFF"/>
              </a:solidFill>
              <a:latin typeface="IntelOne Display Light"/>
              <a:ea typeface="Helvetica Neue"/>
              <a:cs typeface="Helvetica Neue"/>
            </a:rPr>
            <a:t>SIE 0p5</a:t>
          </a:r>
        </a:p>
      </dgm:t>
    </dgm:pt>
    <dgm:pt modelId="{811513C3-D9C9-4512-B510-D13C9BF34C48}" type="parTrans" cxnId="{F74C6A64-87D6-4B17-913C-94F59B809741}">
      <dgm:prSet/>
      <dgm:spPr/>
      <dgm:t>
        <a:bodyPr/>
        <a:lstStyle/>
        <a:p>
          <a:endParaRPr lang="en-US"/>
        </a:p>
      </dgm:t>
    </dgm:pt>
    <dgm:pt modelId="{CC5F7D46-46B3-466F-846A-197D0A07F792}" type="sibTrans" cxnId="{F74C6A64-87D6-4B17-913C-94F59B809741}">
      <dgm:prSet/>
      <dgm:spPr/>
      <dgm:t>
        <a:bodyPr/>
        <a:lstStyle/>
        <a:p>
          <a:endParaRPr lang="en-US"/>
        </a:p>
      </dgm:t>
    </dgm:pt>
    <dgm:pt modelId="{68C1DE02-E6EF-490D-BD11-0D42FDFCAAC9}">
      <dgm:prSet phldrT="[Text]" custT="1"/>
      <dgm:spPr>
        <a:solidFill>
          <a:srgbClr val="EDB200">
            <a:lumMod val="75000"/>
          </a:srgbClr>
        </a:solidFill>
        <a:ln w="25400" cap="flat" cmpd="sng" algn="ctr">
          <a:solidFill>
            <a:srgbClr val="FFFFFF">
              <a:hueOff val="0"/>
              <a:satOff val="0"/>
              <a:lumOff val="0"/>
              <a:alphaOff val="0"/>
            </a:srgbClr>
          </a:solidFill>
          <a:prstDash val="solid"/>
        </a:ln>
        <a:effectLst/>
      </dgm:spPr>
      <dgm:t>
        <a:bodyPr spcFirstLastPara="0" vert="horz" wrap="square" lIns="53340" tIns="53340" rIns="53340" bIns="53340" numCol="1" spcCol="1270" rtlCol="0" anchor="ctr" anchorCtr="0"/>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4000" kern="1200" dirty="0">
              <a:solidFill>
                <a:srgbClr val="FFFFFF"/>
              </a:solidFill>
              <a:latin typeface="IntelOne Display Light"/>
              <a:ea typeface="Helvetica Neue"/>
              <a:cs typeface="Helvetica Neue"/>
            </a:rPr>
            <a:t>SIE 0p8</a:t>
          </a:r>
        </a:p>
      </dgm:t>
    </dgm:pt>
    <dgm:pt modelId="{7B8A7497-8AD4-4C8A-A086-95E9375EEE61}" type="parTrans" cxnId="{1DDAADDD-CE59-406E-8A61-CA344C59D7B0}">
      <dgm:prSet/>
      <dgm:spPr/>
      <dgm:t>
        <a:bodyPr/>
        <a:lstStyle/>
        <a:p>
          <a:endParaRPr lang="en-US"/>
        </a:p>
      </dgm:t>
    </dgm:pt>
    <dgm:pt modelId="{740FA6C4-7BC9-469E-939D-5F63339185F7}" type="sibTrans" cxnId="{1DDAADDD-CE59-406E-8A61-CA344C59D7B0}">
      <dgm:prSet/>
      <dgm:spPr/>
      <dgm:t>
        <a:bodyPr/>
        <a:lstStyle/>
        <a:p>
          <a:endParaRPr lang="en-US"/>
        </a:p>
      </dgm:t>
    </dgm:pt>
    <dgm:pt modelId="{4376EA5F-31F7-4695-8751-A11B0E7756AB}" type="pres">
      <dgm:prSet presAssocID="{75FCEE6C-9FC6-4C53-8EFB-418F379E21CE}" presName="CompostProcess" presStyleCnt="0">
        <dgm:presLayoutVars>
          <dgm:dir/>
          <dgm:resizeHandles val="exact"/>
        </dgm:presLayoutVars>
      </dgm:prSet>
      <dgm:spPr/>
    </dgm:pt>
    <dgm:pt modelId="{9B966CF7-C22F-434A-A95D-C43F87A8C825}" type="pres">
      <dgm:prSet presAssocID="{75FCEE6C-9FC6-4C53-8EFB-418F379E21CE}" presName="arrow" presStyleLbl="bgShp" presStyleIdx="0" presStyleCnt="1" custScaleX="117647" custLinFactNeighborX="-3911" custLinFactNeighborY="986"/>
      <dgm:spPr>
        <a:solidFill>
          <a:schemeClr val="tx1">
            <a:lumMod val="85000"/>
            <a:lumOff val="15000"/>
          </a:schemeClr>
        </a:solidFill>
      </dgm:spPr>
    </dgm:pt>
    <dgm:pt modelId="{17986EA8-F2BA-47AA-84EE-0E3987E826B1}" type="pres">
      <dgm:prSet presAssocID="{75FCEE6C-9FC6-4C53-8EFB-418F379E21CE}" presName="linearProcess" presStyleCnt="0"/>
      <dgm:spPr/>
    </dgm:pt>
    <dgm:pt modelId="{F7F1C563-F6B1-4843-8555-4A79FE6A6121}" type="pres">
      <dgm:prSet presAssocID="{115E4E07-FC38-4DBF-BDA0-03CA926EF617}" presName="textNode" presStyleLbl="node1" presStyleIdx="0" presStyleCnt="2" custScaleX="76950" custLinFactX="-10127" custLinFactNeighborX="-100000" custLinFactNeighborY="753">
        <dgm:presLayoutVars>
          <dgm:bulletEnabled val="1"/>
        </dgm:presLayoutVars>
      </dgm:prSet>
      <dgm:spPr>
        <a:xfrm>
          <a:off x="734651" y="742507"/>
          <a:ext cx="2743203" cy="980168"/>
        </a:xfrm>
        <a:prstGeom prst="roundRect">
          <a:avLst/>
        </a:prstGeom>
      </dgm:spPr>
    </dgm:pt>
    <dgm:pt modelId="{6A59D004-3224-44A5-8CD1-C942DAD2CF61}" type="pres">
      <dgm:prSet presAssocID="{CC5F7D46-46B3-466F-846A-197D0A07F792}" presName="sibTrans" presStyleCnt="0"/>
      <dgm:spPr/>
    </dgm:pt>
    <dgm:pt modelId="{808A5CF2-27BB-4CB9-BBA9-32A709A10CB4}" type="pres">
      <dgm:prSet presAssocID="{68C1DE02-E6EF-490D-BD11-0D42FDFCAAC9}" presName="textNode" presStyleLbl="node1" presStyleIdx="1" presStyleCnt="2" custScaleX="76950" custLinFactX="19027" custLinFactNeighborX="100000" custLinFactNeighborY="2186">
        <dgm:presLayoutVars>
          <dgm:bulletEnabled val="1"/>
        </dgm:presLayoutVars>
      </dgm:prSet>
      <dgm:spPr>
        <a:xfrm>
          <a:off x="6299628" y="756553"/>
          <a:ext cx="2743203" cy="980168"/>
        </a:xfrm>
        <a:prstGeom prst="roundRect">
          <a:avLst/>
        </a:prstGeom>
      </dgm:spPr>
    </dgm:pt>
  </dgm:ptLst>
  <dgm:cxnLst>
    <dgm:cxn modelId="{2C6D0640-C0B6-47CF-89A2-9223C0AE2457}" type="presOf" srcId="{75FCEE6C-9FC6-4C53-8EFB-418F379E21CE}" destId="{4376EA5F-31F7-4695-8751-A11B0E7756AB}" srcOrd="0" destOrd="0" presId="urn:microsoft.com/office/officeart/2005/8/layout/hProcess9"/>
    <dgm:cxn modelId="{F74C6A64-87D6-4B17-913C-94F59B809741}" srcId="{75FCEE6C-9FC6-4C53-8EFB-418F379E21CE}" destId="{115E4E07-FC38-4DBF-BDA0-03CA926EF617}" srcOrd="0" destOrd="0" parTransId="{811513C3-D9C9-4512-B510-D13C9BF34C48}" sibTransId="{CC5F7D46-46B3-466F-846A-197D0A07F792}"/>
    <dgm:cxn modelId="{DA2C85A8-6AF6-4778-BA96-B8EDF5965620}" type="presOf" srcId="{115E4E07-FC38-4DBF-BDA0-03CA926EF617}" destId="{F7F1C563-F6B1-4843-8555-4A79FE6A6121}" srcOrd="0" destOrd="0" presId="urn:microsoft.com/office/officeart/2005/8/layout/hProcess9"/>
    <dgm:cxn modelId="{1DDAADDD-CE59-406E-8A61-CA344C59D7B0}" srcId="{75FCEE6C-9FC6-4C53-8EFB-418F379E21CE}" destId="{68C1DE02-E6EF-490D-BD11-0D42FDFCAAC9}" srcOrd="1" destOrd="0" parTransId="{7B8A7497-8AD4-4C8A-A086-95E9375EEE61}" sibTransId="{740FA6C4-7BC9-469E-939D-5F63339185F7}"/>
    <dgm:cxn modelId="{D17C42FC-C9F5-4168-9FFF-6B41A09CC50C}" type="presOf" srcId="{68C1DE02-E6EF-490D-BD11-0D42FDFCAAC9}" destId="{808A5CF2-27BB-4CB9-BBA9-32A709A10CB4}" srcOrd="0" destOrd="0" presId="urn:microsoft.com/office/officeart/2005/8/layout/hProcess9"/>
    <dgm:cxn modelId="{AF1F3F26-7F57-44E3-93C7-D33C8715D4C9}" type="presParOf" srcId="{4376EA5F-31F7-4695-8751-A11B0E7756AB}" destId="{9B966CF7-C22F-434A-A95D-C43F87A8C825}" srcOrd="0" destOrd="0" presId="urn:microsoft.com/office/officeart/2005/8/layout/hProcess9"/>
    <dgm:cxn modelId="{51540CCB-B820-46AE-8747-C48F7EC6EC61}" type="presParOf" srcId="{4376EA5F-31F7-4695-8751-A11B0E7756AB}" destId="{17986EA8-F2BA-47AA-84EE-0E3987E826B1}" srcOrd="1" destOrd="0" presId="urn:microsoft.com/office/officeart/2005/8/layout/hProcess9"/>
    <dgm:cxn modelId="{7184F48D-4952-4973-AA6D-05BDCC76DC1F}" type="presParOf" srcId="{17986EA8-F2BA-47AA-84EE-0E3987E826B1}" destId="{F7F1C563-F6B1-4843-8555-4A79FE6A6121}" srcOrd="0" destOrd="0" presId="urn:microsoft.com/office/officeart/2005/8/layout/hProcess9"/>
    <dgm:cxn modelId="{7C1079DC-B857-4D1C-9C0F-B967D9C522ED}" type="presParOf" srcId="{17986EA8-F2BA-47AA-84EE-0E3987E826B1}" destId="{6A59D004-3224-44A5-8CD1-C942DAD2CF61}" srcOrd="1" destOrd="0" presId="urn:microsoft.com/office/officeart/2005/8/layout/hProcess9"/>
    <dgm:cxn modelId="{D6626F61-8E59-405B-8EC8-267A686489E6}" type="presParOf" srcId="{17986EA8-F2BA-47AA-84EE-0E3987E826B1}" destId="{808A5CF2-27BB-4CB9-BBA9-32A709A10CB4}" srcOrd="2"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FCEE6C-9FC6-4C53-8EFB-418F379E21CE}" type="doc">
      <dgm:prSet loTypeId="urn:microsoft.com/office/officeart/2005/8/layout/hProcess9" loCatId="process" qsTypeId="urn:microsoft.com/office/officeart/2005/8/quickstyle/simple1" qsCatId="simple" csTypeId="urn:microsoft.com/office/officeart/2005/8/colors/accent1_2" csCatId="accent1" phldr="1"/>
      <dgm:spPr/>
    </dgm:pt>
    <dgm:pt modelId="{115E4E07-FC38-4DBF-BDA0-03CA926EF617}">
      <dgm:prSet phldrT="[Text]"/>
      <dgm:spPr>
        <a:solidFill>
          <a:schemeClr val="accent2">
            <a:lumMod val="75000"/>
          </a:schemeClr>
        </a:solidFill>
      </dgm:spPr>
      <dgm:t>
        <a:bodyPr/>
        <a:lstStyle/>
        <a:p>
          <a:r>
            <a:rPr lang="en-US" dirty="0"/>
            <a:t>SIE 1p0</a:t>
          </a:r>
        </a:p>
      </dgm:t>
    </dgm:pt>
    <dgm:pt modelId="{811513C3-D9C9-4512-B510-D13C9BF34C48}" type="parTrans" cxnId="{F74C6A64-87D6-4B17-913C-94F59B809741}">
      <dgm:prSet/>
      <dgm:spPr/>
      <dgm:t>
        <a:bodyPr/>
        <a:lstStyle/>
        <a:p>
          <a:endParaRPr lang="en-US"/>
        </a:p>
      </dgm:t>
    </dgm:pt>
    <dgm:pt modelId="{CC5F7D46-46B3-466F-846A-197D0A07F792}" type="sibTrans" cxnId="{F74C6A64-87D6-4B17-913C-94F59B809741}">
      <dgm:prSet/>
      <dgm:spPr/>
      <dgm:t>
        <a:bodyPr/>
        <a:lstStyle/>
        <a:p>
          <a:endParaRPr lang="en-US"/>
        </a:p>
      </dgm:t>
    </dgm:pt>
    <dgm:pt modelId="{68C1DE02-E6EF-490D-BD11-0D42FDFCAAC9}">
      <dgm:prSet phldrT="[Text]"/>
      <dgm:spPr>
        <a:solidFill>
          <a:schemeClr val="accent3">
            <a:lumMod val="75000"/>
          </a:schemeClr>
        </a:solidFill>
      </dgm:spPr>
      <dgm:t>
        <a:bodyPr/>
        <a:lstStyle/>
        <a:p>
          <a:r>
            <a:rPr lang="en-US" dirty="0"/>
            <a:t>TI</a:t>
          </a:r>
        </a:p>
        <a:p>
          <a:r>
            <a:rPr lang="en-US" dirty="0"/>
            <a:t>C-Die w16</a:t>
          </a:r>
        </a:p>
        <a:p>
          <a:r>
            <a:rPr lang="en-US" dirty="0"/>
            <a:t>IO-Die w19</a:t>
          </a:r>
        </a:p>
      </dgm:t>
    </dgm:pt>
    <dgm:pt modelId="{7B8A7497-8AD4-4C8A-A086-95E9375EEE61}" type="parTrans" cxnId="{1DDAADDD-CE59-406E-8A61-CA344C59D7B0}">
      <dgm:prSet/>
      <dgm:spPr/>
      <dgm:t>
        <a:bodyPr/>
        <a:lstStyle/>
        <a:p>
          <a:endParaRPr lang="en-US"/>
        </a:p>
      </dgm:t>
    </dgm:pt>
    <dgm:pt modelId="{740FA6C4-7BC9-469E-939D-5F63339185F7}" type="sibTrans" cxnId="{1DDAADDD-CE59-406E-8A61-CA344C59D7B0}">
      <dgm:prSet/>
      <dgm:spPr/>
      <dgm:t>
        <a:bodyPr/>
        <a:lstStyle/>
        <a:p>
          <a:endParaRPr lang="en-US"/>
        </a:p>
      </dgm:t>
    </dgm:pt>
    <dgm:pt modelId="{58CEB357-FEBC-4645-B56A-D59B49F31A32}">
      <dgm:prSet phldrT="[Text]" custT="1"/>
      <dgm:spPr>
        <a:solidFill>
          <a:schemeClr val="accent6">
            <a:lumMod val="75000"/>
          </a:schemeClr>
        </a:solidFill>
      </dgm:spPr>
      <dgm:t>
        <a:bodyPr/>
        <a:lstStyle/>
        <a:p>
          <a:endParaRPr lang="en-US" sz="1700" dirty="0"/>
        </a:p>
        <a:p>
          <a:r>
            <a:rPr lang="en-US" sz="1700" dirty="0"/>
            <a:t>Power On</a:t>
          </a:r>
        </a:p>
        <a:p>
          <a:r>
            <a:rPr lang="en-US" sz="1300" b="1" dirty="0"/>
            <a:t>Wafer: </a:t>
          </a:r>
          <a:r>
            <a:rPr lang="en-US" sz="1300" dirty="0"/>
            <a:t>Cdie w30, IO die w34</a:t>
          </a:r>
        </a:p>
        <a:p>
          <a:r>
            <a:rPr lang="en-US" sz="1300" b="1" dirty="0"/>
            <a:t>MCP: </a:t>
          </a:r>
          <a:r>
            <a:rPr lang="en-US" sz="1300" dirty="0"/>
            <a:t>X1-AP w37, X3-AP w41, X2-SP  w45</a:t>
          </a:r>
        </a:p>
        <a:p>
          <a:endParaRPr lang="en-US" sz="1700" dirty="0"/>
        </a:p>
      </dgm:t>
    </dgm:pt>
    <dgm:pt modelId="{AC7F570C-8460-48EC-AD0D-CD304A5250BA}" type="parTrans" cxnId="{0333631C-D053-4BA9-8A7E-0E8AE311B343}">
      <dgm:prSet/>
      <dgm:spPr/>
      <dgm:t>
        <a:bodyPr/>
        <a:lstStyle/>
        <a:p>
          <a:endParaRPr lang="en-US"/>
        </a:p>
      </dgm:t>
    </dgm:pt>
    <dgm:pt modelId="{7EA4BF93-6A5B-479E-83F9-5E954E06913B}" type="sibTrans" cxnId="{0333631C-D053-4BA9-8A7E-0E8AE311B343}">
      <dgm:prSet/>
      <dgm:spPr/>
      <dgm:t>
        <a:bodyPr/>
        <a:lstStyle/>
        <a:p>
          <a:endParaRPr lang="en-US"/>
        </a:p>
      </dgm:t>
    </dgm:pt>
    <dgm:pt modelId="{4376EA5F-31F7-4695-8751-A11B0E7756AB}" type="pres">
      <dgm:prSet presAssocID="{75FCEE6C-9FC6-4C53-8EFB-418F379E21CE}" presName="CompostProcess" presStyleCnt="0">
        <dgm:presLayoutVars>
          <dgm:dir/>
          <dgm:resizeHandles val="exact"/>
        </dgm:presLayoutVars>
      </dgm:prSet>
      <dgm:spPr/>
    </dgm:pt>
    <dgm:pt modelId="{9B966CF7-C22F-434A-A95D-C43F87A8C825}" type="pres">
      <dgm:prSet presAssocID="{75FCEE6C-9FC6-4C53-8EFB-418F379E21CE}" presName="arrow" presStyleLbl="bgShp" presStyleIdx="0" presStyleCnt="1"/>
      <dgm:spPr>
        <a:solidFill>
          <a:schemeClr val="tx1">
            <a:lumMod val="85000"/>
            <a:lumOff val="15000"/>
          </a:schemeClr>
        </a:solidFill>
      </dgm:spPr>
    </dgm:pt>
    <dgm:pt modelId="{17986EA8-F2BA-47AA-84EE-0E3987E826B1}" type="pres">
      <dgm:prSet presAssocID="{75FCEE6C-9FC6-4C53-8EFB-418F379E21CE}" presName="linearProcess" presStyleCnt="0"/>
      <dgm:spPr/>
    </dgm:pt>
    <dgm:pt modelId="{F7F1C563-F6B1-4843-8555-4A79FE6A6121}" type="pres">
      <dgm:prSet presAssocID="{115E4E07-FC38-4DBF-BDA0-03CA926EF617}" presName="textNode" presStyleLbl="node1" presStyleIdx="0" presStyleCnt="3">
        <dgm:presLayoutVars>
          <dgm:bulletEnabled val="1"/>
        </dgm:presLayoutVars>
      </dgm:prSet>
      <dgm:spPr/>
    </dgm:pt>
    <dgm:pt modelId="{6A59D004-3224-44A5-8CD1-C942DAD2CF61}" type="pres">
      <dgm:prSet presAssocID="{CC5F7D46-46B3-466F-846A-197D0A07F792}" presName="sibTrans" presStyleCnt="0"/>
      <dgm:spPr/>
    </dgm:pt>
    <dgm:pt modelId="{808A5CF2-27BB-4CB9-BBA9-32A709A10CB4}" type="pres">
      <dgm:prSet presAssocID="{68C1DE02-E6EF-490D-BD11-0D42FDFCAAC9}" presName="textNode" presStyleLbl="node1" presStyleIdx="1" presStyleCnt="3">
        <dgm:presLayoutVars>
          <dgm:bulletEnabled val="1"/>
        </dgm:presLayoutVars>
      </dgm:prSet>
      <dgm:spPr/>
    </dgm:pt>
    <dgm:pt modelId="{4D390071-EEC0-48A7-938D-C4139FD7D886}" type="pres">
      <dgm:prSet presAssocID="{740FA6C4-7BC9-469E-939D-5F63339185F7}" presName="sibTrans" presStyleCnt="0"/>
      <dgm:spPr/>
    </dgm:pt>
    <dgm:pt modelId="{6D40D442-F3C0-465D-B720-93FA4E2C143B}" type="pres">
      <dgm:prSet presAssocID="{58CEB357-FEBC-4645-B56A-D59B49F31A32}" presName="textNode" presStyleLbl="node1" presStyleIdx="2" presStyleCnt="3">
        <dgm:presLayoutVars>
          <dgm:bulletEnabled val="1"/>
        </dgm:presLayoutVars>
      </dgm:prSet>
      <dgm:spPr/>
    </dgm:pt>
  </dgm:ptLst>
  <dgm:cxnLst>
    <dgm:cxn modelId="{D3B7FE19-0031-486B-A46E-65AA0FE46671}" type="presOf" srcId="{58CEB357-FEBC-4645-B56A-D59B49F31A32}" destId="{6D40D442-F3C0-465D-B720-93FA4E2C143B}" srcOrd="0" destOrd="0" presId="urn:microsoft.com/office/officeart/2005/8/layout/hProcess9"/>
    <dgm:cxn modelId="{0333631C-D053-4BA9-8A7E-0E8AE311B343}" srcId="{75FCEE6C-9FC6-4C53-8EFB-418F379E21CE}" destId="{58CEB357-FEBC-4645-B56A-D59B49F31A32}" srcOrd="2" destOrd="0" parTransId="{AC7F570C-8460-48EC-AD0D-CD304A5250BA}" sibTransId="{7EA4BF93-6A5B-479E-83F9-5E954E06913B}"/>
    <dgm:cxn modelId="{2C6D0640-C0B6-47CF-89A2-9223C0AE2457}" type="presOf" srcId="{75FCEE6C-9FC6-4C53-8EFB-418F379E21CE}" destId="{4376EA5F-31F7-4695-8751-A11B0E7756AB}" srcOrd="0" destOrd="0" presId="urn:microsoft.com/office/officeart/2005/8/layout/hProcess9"/>
    <dgm:cxn modelId="{F74C6A64-87D6-4B17-913C-94F59B809741}" srcId="{75FCEE6C-9FC6-4C53-8EFB-418F379E21CE}" destId="{115E4E07-FC38-4DBF-BDA0-03CA926EF617}" srcOrd="0" destOrd="0" parTransId="{811513C3-D9C9-4512-B510-D13C9BF34C48}" sibTransId="{CC5F7D46-46B3-466F-846A-197D0A07F792}"/>
    <dgm:cxn modelId="{DA2C85A8-6AF6-4778-BA96-B8EDF5965620}" type="presOf" srcId="{115E4E07-FC38-4DBF-BDA0-03CA926EF617}" destId="{F7F1C563-F6B1-4843-8555-4A79FE6A6121}" srcOrd="0" destOrd="0" presId="urn:microsoft.com/office/officeart/2005/8/layout/hProcess9"/>
    <dgm:cxn modelId="{1DDAADDD-CE59-406E-8A61-CA344C59D7B0}" srcId="{75FCEE6C-9FC6-4C53-8EFB-418F379E21CE}" destId="{68C1DE02-E6EF-490D-BD11-0D42FDFCAAC9}" srcOrd="1" destOrd="0" parTransId="{7B8A7497-8AD4-4C8A-A086-95E9375EEE61}" sibTransId="{740FA6C4-7BC9-469E-939D-5F63339185F7}"/>
    <dgm:cxn modelId="{D17C42FC-C9F5-4168-9FFF-6B41A09CC50C}" type="presOf" srcId="{68C1DE02-E6EF-490D-BD11-0D42FDFCAAC9}" destId="{808A5CF2-27BB-4CB9-BBA9-32A709A10CB4}" srcOrd="0" destOrd="0" presId="urn:microsoft.com/office/officeart/2005/8/layout/hProcess9"/>
    <dgm:cxn modelId="{AF1F3F26-7F57-44E3-93C7-D33C8715D4C9}" type="presParOf" srcId="{4376EA5F-31F7-4695-8751-A11B0E7756AB}" destId="{9B966CF7-C22F-434A-A95D-C43F87A8C825}" srcOrd="0" destOrd="0" presId="urn:microsoft.com/office/officeart/2005/8/layout/hProcess9"/>
    <dgm:cxn modelId="{51540CCB-B820-46AE-8747-C48F7EC6EC61}" type="presParOf" srcId="{4376EA5F-31F7-4695-8751-A11B0E7756AB}" destId="{17986EA8-F2BA-47AA-84EE-0E3987E826B1}" srcOrd="1" destOrd="0" presId="urn:microsoft.com/office/officeart/2005/8/layout/hProcess9"/>
    <dgm:cxn modelId="{7184F48D-4952-4973-AA6D-05BDCC76DC1F}" type="presParOf" srcId="{17986EA8-F2BA-47AA-84EE-0E3987E826B1}" destId="{F7F1C563-F6B1-4843-8555-4A79FE6A6121}" srcOrd="0" destOrd="0" presId="urn:microsoft.com/office/officeart/2005/8/layout/hProcess9"/>
    <dgm:cxn modelId="{7C1079DC-B857-4D1C-9C0F-B967D9C522ED}" type="presParOf" srcId="{17986EA8-F2BA-47AA-84EE-0E3987E826B1}" destId="{6A59D004-3224-44A5-8CD1-C942DAD2CF61}" srcOrd="1" destOrd="0" presId="urn:microsoft.com/office/officeart/2005/8/layout/hProcess9"/>
    <dgm:cxn modelId="{D6626F61-8E59-405B-8EC8-267A686489E6}" type="presParOf" srcId="{17986EA8-F2BA-47AA-84EE-0E3987E826B1}" destId="{808A5CF2-27BB-4CB9-BBA9-32A709A10CB4}" srcOrd="2" destOrd="0" presId="urn:microsoft.com/office/officeart/2005/8/layout/hProcess9"/>
    <dgm:cxn modelId="{4E56E5FE-42A1-42CB-801C-569C8F611B3D}" type="presParOf" srcId="{17986EA8-F2BA-47AA-84EE-0E3987E826B1}" destId="{4D390071-EEC0-48A7-938D-C4139FD7D886}" srcOrd="3" destOrd="0" presId="urn:microsoft.com/office/officeart/2005/8/layout/hProcess9"/>
    <dgm:cxn modelId="{85CABB95-07EB-4E06-B768-0C0E6B6BD552}" type="presParOf" srcId="{17986EA8-F2BA-47AA-84EE-0E3987E826B1}" destId="{6D40D442-F3C0-465D-B720-93FA4E2C143B}" srcOrd="4"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66CF7-C22F-434A-A95D-C43F87A8C825}">
      <dsp:nvSpPr>
        <dsp:cNvPr id="0" name=""/>
        <dsp:cNvSpPr/>
      </dsp:nvSpPr>
      <dsp:spPr>
        <a:xfrm>
          <a:off x="0" y="0"/>
          <a:ext cx="11883048" cy="2450422"/>
        </a:xfrm>
        <a:prstGeom prst="rightArrow">
          <a:avLst/>
        </a:prstGeom>
        <a:solidFill>
          <a:schemeClr val="tx1">
            <a:lumMod val="85000"/>
            <a:lumOff val="15000"/>
          </a:schemeClr>
        </a:solidFill>
        <a:ln>
          <a:noFill/>
        </a:ln>
        <a:effectLst/>
      </dsp:spPr>
      <dsp:style>
        <a:lnRef idx="0">
          <a:scrgbClr r="0" g="0" b="0"/>
        </a:lnRef>
        <a:fillRef idx="1">
          <a:scrgbClr r="0" g="0" b="0"/>
        </a:fillRef>
        <a:effectRef idx="0">
          <a:scrgbClr r="0" g="0" b="0"/>
        </a:effectRef>
        <a:fontRef idx="minor"/>
      </dsp:style>
    </dsp:sp>
    <dsp:sp modelId="{F7F1C563-F6B1-4843-8555-4A79FE6A6121}">
      <dsp:nvSpPr>
        <dsp:cNvPr id="0" name=""/>
        <dsp:cNvSpPr/>
      </dsp:nvSpPr>
      <dsp:spPr>
        <a:xfrm>
          <a:off x="643990" y="742507"/>
          <a:ext cx="2743203" cy="980168"/>
        </a:xfrm>
        <a:prstGeom prst="roundRect">
          <a:avLst/>
        </a:prstGeom>
        <a:solidFill>
          <a:srgbClr val="E96115">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4000" kern="1200" dirty="0">
              <a:solidFill>
                <a:srgbClr val="FFFFFF"/>
              </a:solidFill>
              <a:latin typeface="IntelOne Display Light"/>
              <a:ea typeface="Helvetica Neue"/>
              <a:cs typeface="Helvetica Neue"/>
            </a:rPr>
            <a:t>SIE 0p5</a:t>
          </a:r>
        </a:p>
      </dsp:txBody>
      <dsp:txXfrm>
        <a:off x="691838" y="790355"/>
        <a:ext cx="2647507" cy="88447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66CF7-C22F-434A-A95D-C43F87A8C825}">
      <dsp:nvSpPr>
        <dsp:cNvPr id="0" name=""/>
        <dsp:cNvSpPr/>
      </dsp:nvSpPr>
      <dsp:spPr>
        <a:xfrm>
          <a:off x="0" y="0"/>
          <a:ext cx="11883048" cy="2450422"/>
        </a:xfrm>
        <a:prstGeom prst="rightArrow">
          <a:avLst/>
        </a:prstGeom>
        <a:solidFill>
          <a:schemeClr val="tx1">
            <a:lumMod val="85000"/>
            <a:lumOff val="15000"/>
          </a:schemeClr>
        </a:solidFill>
        <a:ln>
          <a:noFill/>
        </a:ln>
        <a:effectLst/>
      </dsp:spPr>
      <dsp:style>
        <a:lnRef idx="0">
          <a:scrgbClr r="0" g="0" b="0"/>
        </a:lnRef>
        <a:fillRef idx="1">
          <a:scrgbClr r="0" g="0" b="0"/>
        </a:fillRef>
        <a:effectRef idx="0">
          <a:scrgbClr r="0" g="0" b="0"/>
        </a:effectRef>
        <a:fontRef idx="minor"/>
      </dsp:style>
    </dsp:sp>
    <dsp:sp modelId="{F7F1C563-F6B1-4843-8555-4A79FE6A6121}">
      <dsp:nvSpPr>
        <dsp:cNvPr id="0" name=""/>
        <dsp:cNvSpPr/>
      </dsp:nvSpPr>
      <dsp:spPr>
        <a:xfrm>
          <a:off x="1946075" y="742507"/>
          <a:ext cx="2743203" cy="980168"/>
        </a:xfrm>
        <a:prstGeom prst="roundRect">
          <a:avLst/>
        </a:prstGeom>
        <a:solidFill>
          <a:srgbClr val="E96115">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4000" kern="1200" dirty="0">
              <a:solidFill>
                <a:srgbClr val="FFFFFF"/>
              </a:solidFill>
              <a:latin typeface="IntelOne Display Light"/>
              <a:ea typeface="Helvetica Neue"/>
              <a:cs typeface="Helvetica Neue"/>
            </a:rPr>
            <a:t>SIE 0p5</a:t>
          </a:r>
        </a:p>
      </dsp:txBody>
      <dsp:txXfrm>
        <a:off x="1993923" y="790355"/>
        <a:ext cx="2647507" cy="884472"/>
      </dsp:txXfrm>
    </dsp:sp>
    <dsp:sp modelId="{808A5CF2-27BB-4CB9-BBA9-32A709A10CB4}">
      <dsp:nvSpPr>
        <dsp:cNvPr id="0" name=""/>
        <dsp:cNvSpPr/>
      </dsp:nvSpPr>
      <dsp:spPr>
        <a:xfrm>
          <a:off x="7511052" y="756553"/>
          <a:ext cx="2743203" cy="980168"/>
        </a:xfrm>
        <a:prstGeom prst="roundRect">
          <a:avLst/>
        </a:prstGeom>
        <a:solidFill>
          <a:srgbClr val="EDB200">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rtlCol="0" anchor="ctr" anchorCtr="0">
          <a:noAutofit/>
        </a:bodyPr>
        <a:lstStyle/>
        <a:p>
          <a:pPr marL="0" marR="0" lvl="0" indent="0" algn="ctr" defTabSz="622300" rtl="0" eaLnBrk="1" fontAlgn="auto" latinLnBrk="0" hangingPunct="1">
            <a:lnSpc>
              <a:spcPct val="90000"/>
            </a:lnSpc>
            <a:spcBef>
              <a:spcPct val="0"/>
            </a:spcBef>
            <a:spcAft>
              <a:spcPct val="35000"/>
            </a:spcAft>
            <a:buClrTx/>
            <a:buSzTx/>
            <a:buFontTx/>
            <a:buNone/>
            <a:tabLst/>
            <a:defRPr/>
          </a:pPr>
          <a:r>
            <a:rPr lang="en-US" sz="4000" kern="1200" dirty="0">
              <a:solidFill>
                <a:srgbClr val="FFFFFF"/>
              </a:solidFill>
              <a:latin typeface="IntelOne Display Light"/>
              <a:ea typeface="Helvetica Neue"/>
              <a:cs typeface="Helvetica Neue"/>
            </a:rPr>
            <a:t>SIE 0p8</a:t>
          </a:r>
        </a:p>
      </dsp:txBody>
      <dsp:txXfrm>
        <a:off x="7558900" y="804401"/>
        <a:ext cx="2647507" cy="88447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966CF7-C22F-434A-A95D-C43F87A8C825}">
      <dsp:nvSpPr>
        <dsp:cNvPr id="0" name=""/>
        <dsp:cNvSpPr/>
      </dsp:nvSpPr>
      <dsp:spPr>
        <a:xfrm>
          <a:off x="825817" y="0"/>
          <a:ext cx="9359265" cy="2450422"/>
        </a:xfrm>
        <a:prstGeom prst="rightArrow">
          <a:avLst/>
        </a:prstGeom>
        <a:solidFill>
          <a:schemeClr val="tx1">
            <a:lumMod val="85000"/>
            <a:lumOff val="15000"/>
          </a:schemeClr>
        </a:solidFill>
        <a:ln>
          <a:noFill/>
        </a:ln>
        <a:effectLst/>
      </dsp:spPr>
      <dsp:style>
        <a:lnRef idx="0">
          <a:scrgbClr r="0" g="0" b="0"/>
        </a:lnRef>
        <a:fillRef idx="1">
          <a:scrgbClr r="0" g="0" b="0"/>
        </a:fillRef>
        <a:effectRef idx="0">
          <a:scrgbClr r="0" g="0" b="0"/>
        </a:effectRef>
        <a:fontRef idx="minor"/>
      </dsp:style>
    </dsp:sp>
    <dsp:sp modelId="{F7F1C563-F6B1-4843-8555-4A79FE6A6121}">
      <dsp:nvSpPr>
        <dsp:cNvPr id="0" name=""/>
        <dsp:cNvSpPr/>
      </dsp:nvSpPr>
      <dsp:spPr>
        <a:xfrm>
          <a:off x="0" y="735126"/>
          <a:ext cx="3303270" cy="980168"/>
        </a:xfrm>
        <a:prstGeom prst="roundRect">
          <a:avLst/>
        </a:prstGeom>
        <a:solidFill>
          <a:schemeClr val="accent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SIE 1p0</a:t>
          </a:r>
        </a:p>
      </dsp:txBody>
      <dsp:txXfrm>
        <a:off x="47848" y="782974"/>
        <a:ext cx="3207574" cy="884472"/>
      </dsp:txXfrm>
    </dsp:sp>
    <dsp:sp modelId="{808A5CF2-27BB-4CB9-BBA9-32A709A10CB4}">
      <dsp:nvSpPr>
        <dsp:cNvPr id="0" name=""/>
        <dsp:cNvSpPr/>
      </dsp:nvSpPr>
      <dsp:spPr>
        <a:xfrm>
          <a:off x="3853815" y="735126"/>
          <a:ext cx="3303270" cy="980168"/>
        </a:xfrm>
        <a:prstGeom prst="roundRect">
          <a:avLst/>
        </a:prstGeom>
        <a:solidFill>
          <a:schemeClr val="accent3">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en-US" sz="1400" kern="1200" dirty="0"/>
            <a:t>TI</a:t>
          </a:r>
        </a:p>
        <a:p>
          <a:pPr marL="0" lvl="0" indent="0" algn="ctr" defTabSz="622300">
            <a:lnSpc>
              <a:spcPct val="90000"/>
            </a:lnSpc>
            <a:spcBef>
              <a:spcPct val="0"/>
            </a:spcBef>
            <a:spcAft>
              <a:spcPct val="35000"/>
            </a:spcAft>
            <a:buNone/>
          </a:pPr>
          <a:r>
            <a:rPr lang="en-US" sz="1400" kern="1200" dirty="0"/>
            <a:t>C-Die w16</a:t>
          </a:r>
        </a:p>
        <a:p>
          <a:pPr marL="0" lvl="0" indent="0" algn="ctr" defTabSz="622300">
            <a:lnSpc>
              <a:spcPct val="90000"/>
            </a:lnSpc>
            <a:spcBef>
              <a:spcPct val="0"/>
            </a:spcBef>
            <a:spcAft>
              <a:spcPct val="35000"/>
            </a:spcAft>
            <a:buNone/>
          </a:pPr>
          <a:r>
            <a:rPr lang="en-US" sz="1400" kern="1200" dirty="0"/>
            <a:t>IO-Die w19</a:t>
          </a:r>
        </a:p>
      </dsp:txBody>
      <dsp:txXfrm>
        <a:off x="3901663" y="782974"/>
        <a:ext cx="3207574" cy="884472"/>
      </dsp:txXfrm>
    </dsp:sp>
    <dsp:sp modelId="{6D40D442-F3C0-465D-B720-93FA4E2C143B}">
      <dsp:nvSpPr>
        <dsp:cNvPr id="0" name=""/>
        <dsp:cNvSpPr/>
      </dsp:nvSpPr>
      <dsp:spPr>
        <a:xfrm>
          <a:off x="7707630" y="735126"/>
          <a:ext cx="3303270" cy="980168"/>
        </a:xfrm>
        <a:prstGeom prst="roundRect">
          <a:avLst/>
        </a:prstGeom>
        <a:solidFill>
          <a:schemeClr val="accent6">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endParaRPr lang="en-US" sz="1700" kern="1200" dirty="0"/>
        </a:p>
        <a:p>
          <a:pPr marL="0" lvl="0" indent="0" algn="ctr" defTabSz="755650">
            <a:lnSpc>
              <a:spcPct val="90000"/>
            </a:lnSpc>
            <a:spcBef>
              <a:spcPct val="0"/>
            </a:spcBef>
            <a:spcAft>
              <a:spcPct val="35000"/>
            </a:spcAft>
            <a:buNone/>
          </a:pPr>
          <a:r>
            <a:rPr lang="en-US" sz="1700" kern="1200" dirty="0"/>
            <a:t>Power On</a:t>
          </a:r>
        </a:p>
        <a:p>
          <a:pPr marL="0" lvl="0" indent="0" algn="ctr" defTabSz="755650">
            <a:lnSpc>
              <a:spcPct val="90000"/>
            </a:lnSpc>
            <a:spcBef>
              <a:spcPct val="0"/>
            </a:spcBef>
            <a:spcAft>
              <a:spcPct val="35000"/>
            </a:spcAft>
            <a:buNone/>
          </a:pPr>
          <a:r>
            <a:rPr lang="en-US" sz="1300" b="1" kern="1200" dirty="0"/>
            <a:t>Wafer: </a:t>
          </a:r>
          <a:r>
            <a:rPr lang="en-US" sz="1300" kern="1200" dirty="0"/>
            <a:t>Cdie w30, IO die w34</a:t>
          </a:r>
        </a:p>
        <a:p>
          <a:pPr marL="0" lvl="0" indent="0" algn="ctr" defTabSz="755650">
            <a:lnSpc>
              <a:spcPct val="90000"/>
            </a:lnSpc>
            <a:spcBef>
              <a:spcPct val="0"/>
            </a:spcBef>
            <a:spcAft>
              <a:spcPct val="35000"/>
            </a:spcAft>
            <a:buNone/>
          </a:pPr>
          <a:r>
            <a:rPr lang="en-US" sz="1300" b="1" kern="1200" dirty="0"/>
            <a:t>MCP: </a:t>
          </a:r>
          <a:r>
            <a:rPr lang="en-US" sz="1300" kern="1200" dirty="0"/>
            <a:t>X1-AP w37, X3-AP w41, X2-SP  w45</a:t>
          </a:r>
        </a:p>
        <a:p>
          <a:pPr marL="0" lvl="0" indent="0" algn="ctr" defTabSz="755650">
            <a:lnSpc>
              <a:spcPct val="90000"/>
            </a:lnSpc>
            <a:spcBef>
              <a:spcPct val="0"/>
            </a:spcBef>
            <a:spcAft>
              <a:spcPct val="35000"/>
            </a:spcAft>
            <a:buNone/>
          </a:pPr>
          <a:endParaRPr lang="en-US" sz="1700" kern="1200" dirty="0"/>
        </a:p>
      </dsp:txBody>
      <dsp:txXfrm>
        <a:off x="7755478" y="782974"/>
        <a:ext cx="3207574" cy="88447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833AE9-C83F-43E2-9392-9FFE7BA479A5}" type="datetimeFigureOut">
              <a:rPr lang="en-US" smtClean="0"/>
              <a:t>7/3/2022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43FD27-EA1E-4B97-9C55-6E051B14BD6F}" type="slidenum">
              <a:rPr lang="en-US" smtClean="0"/>
              <a:t>‹#›</a:t>
            </a:fld>
            <a:endParaRPr lang="en-US"/>
          </a:p>
        </p:txBody>
      </p:sp>
    </p:spTree>
    <p:extLst>
      <p:ext uri="{BB962C8B-B14F-4D97-AF65-F5344CB8AC3E}">
        <p14:creationId xmlns:p14="http://schemas.microsoft.com/office/powerpoint/2010/main" val="364009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sharepoint.amr.ith.intel.com/sites/PRTHome/SitePages/PRT%20Teams%20Home.aspx"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wiki.ith.intel.com/pages/viewpage.action?pageId=1418965740" TargetMode="External"/><Relationship Id="rId5" Type="http://schemas.openxmlformats.org/officeDocument/2006/relationships/hyperlink" Target="https://sp2010.amr.ith.intel.com/sites/sdl/Pages/Lists/Activities.aspx#ActivityID=106" TargetMode="External"/><Relationship Id="rId4" Type="http://schemas.openxmlformats.org/officeDocument/2006/relationships/hyperlink" Target="http://goto.intel.com/prtspec" TargetMode="Externa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GNR-B0 dates will have some impact on SRF timeline as it moves, required to have 4wk difference between TI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AC259-14B9-4C7D-BFC9-FF17FB47D7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61194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prstClr val="white"/>
                </a:solidFill>
                <a:effectLst>
                  <a:outerShdw blurRad="38100" dist="38100" dir="2700000" algn="tl">
                    <a:srgbClr val="000000">
                      <a:alpha val="43137"/>
                    </a:srgbClr>
                  </a:outerShdw>
                </a:effectLst>
                <a:latin typeface="Intel Clear"/>
              </a:rPr>
              <a:t>PPV Test Program development for HST/STHI  = 100% python, </a:t>
            </a:r>
            <a:r>
              <a:rPr lang="en-US" sz="1200" kern="0" dirty="0" err="1">
                <a:solidFill>
                  <a:prstClr val="white"/>
                </a:solidFill>
                <a:effectLst>
                  <a:outerShdw blurRad="38100" dist="38100" dir="2700000" algn="tl">
                    <a:srgbClr val="000000">
                      <a:alpha val="43137"/>
                    </a:srgbClr>
                  </a:outerShdw>
                </a:effectLst>
                <a:latin typeface="Intel Clear"/>
              </a:rPr>
              <a:t>arquitecture</a:t>
            </a:r>
            <a:r>
              <a:rPr lang="en-US" sz="1200" kern="0" dirty="0">
                <a:solidFill>
                  <a:prstClr val="white"/>
                </a:solidFill>
                <a:effectLst>
                  <a:outerShdw blurRad="38100" dist="38100" dir="2700000" algn="tl">
                    <a:srgbClr val="000000">
                      <a:alpha val="43137"/>
                    </a:srgbClr>
                  </a:outerShdw>
                </a:effectLst>
                <a:latin typeface="Intel Clear"/>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AC259-14B9-4C7D-BFC9-FF17FB47D7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8072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0" dirty="0">
                <a:solidFill>
                  <a:prstClr val="white"/>
                </a:solidFill>
                <a:effectLst>
                  <a:outerShdw blurRad="38100" dist="38100" dir="2700000" algn="tl">
                    <a:srgbClr val="000000">
                      <a:alpha val="43137"/>
                    </a:srgbClr>
                  </a:outerShdw>
                </a:effectLst>
                <a:latin typeface="Intel Clear"/>
              </a:rPr>
              <a:t>PPV Test Program development for HST/STHI  = 100% python, </a:t>
            </a:r>
            <a:r>
              <a:rPr lang="en-US" sz="1200" kern="0" dirty="0" err="1">
                <a:solidFill>
                  <a:prstClr val="white"/>
                </a:solidFill>
                <a:effectLst>
                  <a:outerShdw blurRad="38100" dist="38100" dir="2700000" algn="tl">
                    <a:srgbClr val="000000">
                      <a:alpha val="43137"/>
                    </a:srgbClr>
                  </a:outerShdw>
                </a:effectLst>
                <a:latin typeface="Intel Clear"/>
              </a:rPr>
              <a:t>arquitecture</a:t>
            </a:r>
            <a:r>
              <a:rPr lang="en-US" sz="1200" kern="0" dirty="0">
                <a:solidFill>
                  <a:prstClr val="white"/>
                </a:solidFill>
                <a:effectLst>
                  <a:outerShdw blurRad="38100" dist="38100" dir="2700000" algn="tl">
                    <a:srgbClr val="000000">
                      <a:alpha val="43137"/>
                    </a:srgbClr>
                  </a:outerShdw>
                </a:effectLst>
                <a:latin typeface="Intel Clear"/>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B6AC259-14B9-4C7D-BFC9-FF17FB47D793}"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80721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p:cNvSpPr>
            <a:spLocks noGrp="1" noRot="1" noChangeAspect="1" noTextEdit="1"/>
          </p:cNvSpPr>
          <p:nvPr>
            <p:ph type="sldImg"/>
          </p:nvPr>
        </p:nvSpPr>
        <p:spPr bwMode="auto">
          <a:xfrm>
            <a:off x="381000" y="685800"/>
            <a:ext cx="6096000" cy="3429000"/>
          </a:xfrm>
          <a:noFill/>
          <a:ln>
            <a:solidFill>
              <a:srgbClr val="000000"/>
            </a:solidFill>
            <a:miter lim="800000"/>
            <a:headEnd/>
            <a:tailEnd/>
          </a:ln>
        </p:spPr>
      </p:sp>
      <p:sp>
        <p:nvSpPr>
          <p:cNvPr id="3" name="Notes Placeholder 2"/>
          <p:cNvSpPr>
            <a:spLocks noGrp="1"/>
          </p:cNvSpPr>
          <p:nvPr>
            <p:ph type="body" idx="1"/>
          </p:nvPr>
        </p:nvSpPr>
        <p:spPr/>
        <p:txBody>
          <a:bodyPr>
            <a:normAutofit fontScale="25000" lnSpcReduction="20000"/>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Guidelines and requirements that appear within parenthesis do not require a formal exception.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1. PRT: Problem Response Team, PSIRT: Product Security Incident Response Team, IPU: Intel Platform Updates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Roles &amp; Responsibilities: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It is expected that notification of PRT/PSIRT’s comes from the PRT Chair/Technical Team Lead or IPU BU Rep.</a:t>
            </a: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MC is accountable for BU-approved plan, including product risk assessment, implementation plan, and timeline to ensure customers are protected from repeat PRT/PSIRT-related issues.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Additional information on the PRT and IPU processes can be found here: </a:t>
            </a:r>
          </a:p>
          <a:p>
            <a:pPr marL="0" marR="0" lvl="0" indent="0" algn="l" defTabSz="914377" rtl="0" eaLnBrk="1" fontAlgn="b" latinLnBrk="0" hangingPunct="1">
              <a:lnSpc>
                <a:spcPct val="100000"/>
              </a:lnSpc>
              <a:spcBef>
                <a:spcPts val="0"/>
              </a:spcBef>
              <a:spcAft>
                <a:spcPts val="0"/>
              </a:spcAft>
              <a:buClrTx/>
              <a:buSzTx/>
              <a:buFont typeface="Arial" panose="020B0604020202020204" pitchFamily="34" charset="0"/>
              <a:buNone/>
              <a:tabLst/>
              <a:defRPr/>
            </a:pPr>
            <a:r>
              <a:rPr lang="en-US" sz="1200" u="sng" kern="1200" dirty="0">
                <a:solidFill>
                  <a:schemeClr val="tx1"/>
                </a:solidFill>
                <a:effectLst/>
                <a:latin typeface="+mn-lt"/>
                <a:ea typeface="+mn-ea"/>
                <a:cs typeface="+mn-cs"/>
                <a:hlinkClick r:id="rId3"/>
              </a:rPr>
              <a:t>https://sharepoint.amr.ith.intel.com/sites/PRTHome/SitePages/PRT%20Teams%20Home.aspx</a:t>
            </a:r>
            <a:endParaRPr lang="en-US" sz="1200" u="sng" kern="1200" dirty="0">
              <a:solidFill>
                <a:schemeClr val="tx1"/>
              </a:solidFill>
              <a:effectLst/>
              <a:latin typeface="+mn-lt"/>
              <a:ea typeface="+mn-ea"/>
              <a:cs typeface="+mn-cs"/>
            </a:endParaRPr>
          </a:p>
          <a:p>
            <a:pPr marL="0" marR="0" lvl="0" indent="0" algn="l" defTabSz="914377" rtl="0" eaLnBrk="1" fontAlgn="b" latinLnBrk="0" hangingPunct="1">
              <a:lnSpc>
                <a:spcPct val="100000"/>
              </a:lnSpc>
              <a:spcBef>
                <a:spcPts val="0"/>
              </a:spcBef>
              <a:spcAft>
                <a:spcPts val="0"/>
              </a:spcAft>
              <a:buClrTx/>
              <a:buSzTx/>
              <a:buFont typeface="Arial" panose="020B0604020202020204" pitchFamily="34" charset="0"/>
              <a:buNone/>
              <a:tabLst/>
              <a:defRPr/>
            </a:pPr>
            <a:r>
              <a:rPr lang="en-US" sz="1200" u="sng" kern="1200" dirty="0">
                <a:solidFill>
                  <a:schemeClr val="tx1"/>
                </a:solidFill>
                <a:effectLst/>
                <a:latin typeface="+mn-lt"/>
                <a:ea typeface="+mn-ea"/>
                <a:cs typeface="+mn-cs"/>
                <a:hlinkClick r:id="rId4"/>
              </a:rPr>
              <a:t>http://goto.intel.com/prtspec</a:t>
            </a:r>
            <a:endParaRPr lang="en-US" sz="1200" u="sng" kern="1200" dirty="0">
              <a:solidFill>
                <a:schemeClr val="tx1"/>
              </a:solidFill>
              <a:effectLst/>
              <a:latin typeface="+mn-lt"/>
              <a:ea typeface="+mn-ea"/>
              <a:cs typeface="+mn-cs"/>
            </a:endParaRPr>
          </a:p>
          <a:p>
            <a:pPr marL="0" marR="0" lvl="0" indent="0" algn="l" defTabSz="914377"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377" rtl="0" eaLnBrk="1" fontAlgn="b" latinLnBrk="0" hangingPunct="1">
              <a:lnSpc>
                <a:spcPct val="100000"/>
              </a:lnSpc>
              <a:spcBef>
                <a:spcPts val="0"/>
              </a:spcBef>
              <a:spcAft>
                <a:spcPts val="0"/>
              </a:spcAft>
              <a:buClrTx/>
              <a:buSzTx/>
              <a:buFont typeface="Arial" panose="020B0604020202020204" pitchFamily="34" charset="0"/>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kern="1200" dirty="0">
                <a:solidFill>
                  <a:schemeClr val="tx1"/>
                </a:solidFill>
                <a:effectLst/>
                <a:latin typeface="Intel Clear"/>
                <a:ea typeface="+mn-ea"/>
                <a:cs typeface="+mn-cs"/>
              </a:rPr>
              <a:t>2. LTR</a:t>
            </a:r>
            <a:r>
              <a:rPr lang="en-US" sz="1200" kern="1200" dirty="0">
                <a:solidFill>
                  <a:schemeClr val="tx1"/>
                </a:solidFill>
                <a:effectLst/>
                <a:latin typeface="Intel Clear"/>
                <a:ea typeface="+mn-ea"/>
                <a:cs typeface="+mn-cs"/>
              </a:rPr>
              <a:t> = “Long Term Retention” enables Intel to support and maintain our products post-launch. Unless otherwise documented for a specific BU or product, the default retention period assumption is 10 years post-PRQ. Hardware at PRQ and Integrated Platforms at PV should complete the respective LTR checklists located here: http://goto/ltrchecklists.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Intel Clear"/>
                <a:ea typeface="+mn-ea"/>
                <a:cs typeface="+mn-cs"/>
              </a:rPr>
              <a:t>LTR checklist for HW Includes Class Test,  Manufacturing, and System Validation checklists.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1" i="0" kern="1200" baseline="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baseline="0" dirty="0">
                <a:solidFill>
                  <a:schemeClr val="tx1"/>
                </a:solidFill>
                <a:effectLst/>
                <a:latin typeface="+mn-lt"/>
                <a:ea typeface="+mn-ea"/>
                <a:cs typeface="+mn-cs"/>
              </a:rPr>
              <a:t>3. Defects/Bugs</a:t>
            </a:r>
            <a:r>
              <a:rPr lang="en-US" sz="1200" b="1" i="0" kern="1200" baseline="0" dirty="0">
                <a:solidFill>
                  <a:schemeClr val="tx1"/>
                </a:solidFill>
                <a:effectLst/>
                <a:latin typeface="+mn-lt"/>
                <a:ea typeface="+mn-ea"/>
                <a:cs typeface="+mn-cs"/>
              </a:rPr>
              <a:t>:</a:t>
            </a:r>
            <a:r>
              <a:rPr lang="en-US" sz="1200" b="0" i="0" kern="1200" baseline="0" dirty="0">
                <a:solidFill>
                  <a:schemeClr val="tx1"/>
                </a:solidFill>
                <a:effectLst/>
                <a:latin typeface="+mn-lt"/>
                <a:ea typeface="+mn-ea"/>
                <a:cs typeface="+mn-cs"/>
              </a:rPr>
              <a:t> Record the TOTAL # of open defects in post-silicon phase, by priority or exposure (i.e. critical, high, medium and low) and TOTAL open.  Total % open = (total # of open defects/total # of submitted defects) x 100</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baseline="0" dirty="0">
                <a:solidFill>
                  <a:schemeClr val="tx1"/>
                </a:solidFill>
                <a:effectLst/>
                <a:latin typeface="+mn-lt"/>
                <a:ea typeface="+mn-ea"/>
                <a:cs typeface="+mn-cs"/>
              </a:rPr>
              <a:t>Exposure assessment should be relative to PRQ/PV (not the same as priority which is milestone specific). Include defects of all types (E.G. stability, functional, non-functional) and escalated from any internal or external source (telemetry, customer).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baseline="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baseline="0" dirty="0">
                <a:solidFill>
                  <a:schemeClr val="tx1"/>
                </a:solidFill>
                <a:effectLst/>
                <a:latin typeface="+mn-lt"/>
                <a:ea typeface="+mn-ea"/>
                <a:cs typeface="+mn-cs"/>
              </a:rPr>
              <a:t>Must Fix (P1): A must fix defect is a business impactful issue that can be escalated from any internal or external source (E.G. platform, ingredient, telemetry or customer). Determination of must fix needs to comprehend both engineering and customer impact at that phase of development. E.G. Impact at Alpha will be different than impact at Beta. Engineering impact should be assessed by relevant </a:t>
            </a:r>
            <a:r>
              <a:rPr lang="en-US" sz="1200" b="0" i="0" kern="1200" baseline="0" dirty="0" err="1">
                <a:solidFill>
                  <a:schemeClr val="tx1"/>
                </a:solidFill>
                <a:effectLst/>
                <a:latin typeface="+mn-lt"/>
                <a:ea typeface="+mn-ea"/>
                <a:cs typeface="+mn-cs"/>
              </a:rPr>
              <a:t>sysdebug</a:t>
            </a:r>
            <a:r>
              <a:rPr lang="en-US" sz="1200" b="0" i="0" kern="1200" baseline="0" dirty="0">
                <a:solidFill>
                  <a:schemeClr val="tx1"/>
                </a:solidFill>
                <a:effectLst/>
                <a:latin typeface="+mn-lt"/>
                <a:ea typeface="+mn-ea"/>
                <a:cs typeface="+mn-cs"/>
              </a:rPr>
              <a:t> or equivalent forum and customer impact should be assessed by relevant customer facing rep. For a defect, if customer impact is judged to be acceptable but engineering impact is assessed as must fix, the defect should still be counted as a must fix.</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baseline="0" dirty="0">
                <a:solidFill>
                  <a:schemeClr val="tx1"/>
                </a:solidFill>
                <a:effectLst/>
                <a:latin typeface="+mn-lt"/>
                <a:ea typeface="+mn-ea"/>
                <a:cs typeface="+mn-cs"/>
              </a:rPr>
              <a:t> </a:t>
            </a: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baseline="0" dirty="0">
                <a:solidFill>
                  <a:schemeClr val="tx1"/>
                </a:solidFill>
                <a:effectLst/>
                <a:latin typeface="+mn-lt"/>
                <a:ea typeface="+mn-ea"/>
                <a:cs typeface="+mn-cs"/>
              </a:rPr>
              <a:t>Critical count threshold must include functional defects but does not need to include telemetry or non-functional defects evaluated in stability, KPI and compliance vectors.</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baseline="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sz="1200" b="0" i="0" kern="1200" baseline="0" dirty="0">
                <a:solidFill>
                  <a:schemeClr val="tx1"/>
                </a:solidFill>
                <a:effectLst/>
                <a:latin typeface="+mn-lt"/>
                <a:ea typeface="+mn-ea"/>
                <a:cs typeface="+mn-cs"/>
              </a:rPr>
              <a:t>Priority definitions are in the “Defect Tracking Standard (https://soco.intel.com/docs/DOC-2505271)”. </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sz="1200" b="0" i="0" kern="1200" baseline="0" dirty="0">
              <a:solidFill>
                <a:schemeClr val="tx1"/>
              </a:solidFill>
              <a:effectLst/>
              <a:latin typeface="+mn-lt"/>
              <a:ea typeface="+mn-ea"/>
              <a:cs typeface="+mn-cs"/>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dirty="0"/>
              <a:t>4. </a:t>
            </a:r>
            <a:r>
              <a:rPr lang="en-US" sz="1200" b="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Teams should set their number of systems, cycles, durations, and content per a statistically valid and Business Unit (BU) approved test plan that will yield accurate DPMO results (Ex. CCG NIC, </a:t>
            </a:r>
            <a:r>
              <a:rPr lang="en-US" sz="1200" b="0" i="1" u="none" kern="1200" normalizeH="0" baseline="0" dirty="0" err="1">
                <a:solidFill>
                  <a:schemeClr val="tx1"/>
                </a:solidFill>
                <a:latin typeface="Intel Clear" panose="020B0604020203020204" pitchFamily="34" charset="0"/>
                <a:ea typeface="Verdana" panose="020B0604030504040204" pitchFamily="34" charset="0"/>
                <a:cs typeface="Verdana" panose="020B0604030504040204" pitchFamily="34" charset="0"/>
              </a:rPr>
              <a:t>goto</a:t>
            </a:r>
            <a:r>
              <a:rPr lang="en-US" sz="1200" b="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/NIC). If stability testing cannot be completed on the recommended number of systems (e.g. 10), the total number of opportunities must still be met. For example, if plan was 1000 cycles x 10 systems, with 8 systems, new minimum must be 1250 per system or equivalent. Five systems is generally considered the absolute minimum number of systems. </a:t>
            </a:r>
            <a:r>
              <a:rPr lang="en-US" baseline="0" dirty="0"/>
              <a:t>The number of unique BKCs and HW/SW </a:t>
            </a:r>
            <a:r>
              <a:rPr lang="en-US" baseline="0" dirty="0" err="1"/>
              <a:t>config</a:t>
            </a:r>
            <a:r>
              <a:rPr lang="en-US" baseline="0" dirty="0"/>
              <a:t> </a:t>
            </a:r>
            <a:r>
              <a:rPr lang="en-US" sz="1200" kern="1200" dirty="0">
                <a:solidFill>
                  <a:schemeClr val="tx1"/>
                </a:solidFill>
                <a:effectLst/>
                <a:latin typeface="+mn-lt"/>
                <a:ea typeface="+mn-ea"/>
                <a:cs typeface="+mn-cs"/>
              </a:rPr>
              <a:t>variations </a:t>
            </a:r>
            <a:r>
              <a:rPr lang="en-US" baseline="0" dirty="0"/>
              <a:t>that require stability testing should be reviewed and approved by the BU. The HW component DPMO is set intentionally lower (i.e. higher quality bar) than the platform level at certain milestones, which is possible because component teams may remove other </a:t>
            </a:r>
            <a:r>
              <a:rPr kumimoji="0" lang="en-US" sz="1200" b="0" i="0" u="none" strike="noStrike" kern="1200" cap="none" normalizeH="0" baseline="0" noProof="0" dirty="0">
                <a:ln>
                  <a:noFill/>
                </a:ln>
                <a:solidFill>
                  <a:schemeClr val="tx1"/>
                </a:solidFill>
                <a:effectLst/>
                <a:latin typeface="Verdana" pitchFamily="34" charset="0"/>
                <a:ea typeface="+mn-ea"/>
                <a:cs typeface="Arial" charset="0"/>
              </a:rPr>
              <a:t>known unstable HW or SW ingredients to focus on the specific HW being assessed. Ex. at ES2, the stability testing may have been completed with the Alpha SW stack which has a platform DPMO expectation of 2000, but he ES2 HW must also support a later release of Beta SW which will require &lt;= 500 DPMO.  </a:t>
            </a:r>
          </a:p>
          <a:p>
            <a:pPr marL="0" marR="0" indent="0" algn="l" defTabSz="914400" rtl="0" eaLnBrk="1" fontAlgn="base" latinLnBrk="0" hangingPunct="1">
              <a:lnSpc>
                <a:spcPct val="100000"/>
              </a:lnSpc>
              <a:spcBef>
                <a:spcPct val="30000"/>
              </a:spcBef>
              <a:spcAft>
                <a:spcPct val="0"/>
              </a:spcAft>
              <a:buClrTx/>
              <a:buSzTx/>
              <a:buFontTx/>
              <a:buNone/>
              <a:tabLst/>
              <a:defRPr/>
            </a:pPr>
            <a:endParaRPr kumimoji="0" lang="en-US" sz="1200" b="0" i="0" u="none" strike="noStrike" kern="1200" cap="none" normalizeH="0" baseline="0" noProof="0" dirty="0">
              <a:ln>
                <a:noFill/>
              </a:ln>
              <a:solidFill>
                <a:schemeClr val="tx1"/>
              </a:solidFill>
              <a:effectLst/>
              <a:latin typeface="Verdana" pitchFamily="34" charset="0"/>
              <a:ea typeface="+mn-ea"/>
              <a:cs typeface="Arial" charset="0"/>
            </a:endParaRPr>
          </a:p>
          <a:p>
            <a:pPr marL="0" marR="0" indent="0" algn="l" defTabSz="914400" rtl="0" eaLnBrk="1" fontAlgn="base" latinLnBrk="0" hangingPunct="1">
              <a:lnSpc>
                <a:spcPct val="100000"/>
              </a:lnSpc>
              <a:spcBef>
                <a:spcPct val="30000"/>
              </a:spcBef>
              <a:spcAft>
                <a:spcPct val="0"/>
              </a:spcAft>
              <a:buClrTx/>
              <a:buSzTx/>
              <a:buFontTx/>
              <a:buNone/>
              <a:tabLst/>
              <a:defRPr/>
            </a:pPr>
            <a:r>
              <a:rPr lang="en-US" sz="1200" kern="1200" dirty="0">
                <a:solidFill>
                  <a:schemeClr val="tx1"/>
                </a:solidFill>
                <a:effectLst/>
                <a:latin typeface="+mn-lt"/>
                <a:ea typeface="+mn-ea"/>
                <a:cs typeface="+mn-cs"/>
              </a:rPr>
              <a:t>DPMO and cycles/system recommendation aligns to Nickel Conformance 2.0 targets. Exceptions are not required for recommended criteria which appear in parenthesis.</a:t>
            </a:r>
          </a:p>
          <a:p>
            <a:pPr marL="0" marR="0" indent="0" algn="l" defTabSz="914400" rtl="0" eaLnBrk="1" fontAlgn="base" latinLnBrk="0" hangingPunct="1">
              <a:lnSpc>
                <a:spcPct val="100000"/>
              </a:lnSpc>
              <a:spcBef>
                <a:spcPct val="30000"/>
              </a:spcBef>
              <a:spcAft>
                <a:spcPct val="0"/>
              </a:spcAft>
              <a:buClrTx/>
              <a:buSzTx/>
              <a:buFontTx/>
              <a:buNone/>
              <a:tabLst/>
              <a:defRPr/>
            </a:pP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r>
              <a:rPr lang="en-US" dirty="0"/>
              <a:t>5. </a:t>
            </a:r>
            <a:r>
              <a:rPr lang="en-US" sz="1200" b="0" i="0" kern="1200" dirty="0">
                <a:solidFill>
                  <a:schemeClr val="tx1"/>
                </a:solidFill>
                <a:effectLst/>
                <a:latin typeface="+mn-lt"/>
                <a:ea typeface="+mn-ea"/>
                <a:cs typeface="+mn-cs"/>
              </a:rPr>
              <a:t>Attempt rate = Pass rate + Fail rate. Blocked</a:t>
            </a:r>
            <a:r>
              <a:rPr lang="en-US" sz="1200" b="0" i="0" kern="1200" baseline="0" dirty="0">
                <a:solidFill>
                  <a:schemeClr val="tx1"/>
                </a:solidFill>
                <a:effectLst/>
                <a:latin typeface="+mn-lt"/>
                <a:ea typeface="+mn-ea"/>
                <a:cs typeface="+mn-cs"/>
              </a:rPr>
              <a:t> test cases are not part of ‘Attempted’ (e.g. </a:t>
            </a:r>
            <a:r>
              <a:rPr lang="en-US" sz="1200" b="0" baseline="0" dirty="0">
                <a:solidFill>
                  <a:schemeClr val="tx1"/>
                </a:solidFill>
                <a:latin typeface="Verdana" pitchFamily="34" charset="0"/>
              </a:rPr>
              <a:t>Total no of test cases = 1000, No of blocked test cases = 100, no of failed test cases = 50, no of passed test cases = 850, then attempt rate = 90%, pass rate = 85%.)</a:t>
            </a:r>
            <a:endParaRPr lang="en-US" dirty="0"/>
          </a:p>
          <a:p>
            <a:pPr marL="0" marR="0" lvl="0" indent="0" algn="l" defTabSz="914400" rtl="0" eaLnBrk="1" fontAlgn="base" latinLnBrk="0" hangingPunct="1">
              <a:lnSpc>
                <a:spcPct val="100000"/>
              </a:lnSpc>
              <a:spcBef>
                <a:spcPct val="30000"/>
              </a:spcBef>
              <a:spcAft>
                <a:spcPct val="0"/>
              </a:spcAft>
              <a:buClrTx/>
              <a:buSzTx/>
              <a:buFontTx/>
              <a:buNone/>
              <a:tabLst/>
              <a:defRPr/>
            </a:pPr>
            <a:endParaRPr kumimoji="0" lang="en-US" sz="1200" b="0" i="0" u="none" strike="noStrike" kern="1200" cap="none" spc="0" normalizeH="0" baseline="0" noProof="0" dirty="0">
              <a:ln>
                <a:noFill/>
              </a:ln>
              <a:solidFill>
                <a:schemeClr val="tx1"/>
              </a:solidFill>
              <a:effectLst/>
              <a:uLnTx/>
              <a:uFillTx/>
              <a:latin typeface="Verdana" pitchFamily="34" charset="0"/>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Verdana" pitchFamily="34" charset="0"/>
                <a:ea typeface="+mn-ea"/>
                <a:cs typeface="+mn-cs"/>
              </a:rPr>
              <a:t>Some portion of the PRQ testing must be done with t</a:t>
            </a:r>
            <a:r>
              <a:rPr kumimoji="0" lang="en-US" sz="1200" b="0" i="0" u="none" strike="noStrike" kern="1200" cap="none" spc="0" normalizeH="0" baseline="0" dirty="0">
                <a:ln>
                  <a:noFill/>
                </a:ln>
                <a:solidFill>
                  <a:schemeClr val="tx1"/>
                </a:solidFill>
                <a:effectLst/>
                <a:uLnTx/>
                <a:uFillTx/>
                <a:latin typeface="Verdana" pitchFamily="34" charset="0"/>
                <a:ea typeface="+mn-ea"/>
                <a:cs typeface="+mn-cs"/>
              </a:rPr>
              <a:t>he BKC full software stack at production candidate (PC) level or better. </a:t>
            </a:r>
            <a:r>
              <a:rPr kumimoji="0" lang="en-US" sz="1200" b="1" i="0" u="none" strike="noStrike" kern="1200" cap="none" spc="0" normalizeH="0" baseline="0" dirty="0">
                <a:ln>
                  <a:noFill/>
                </a:ln>
                <a:solidFill>
                  <a:schemeClr val="tx1"/>
                </a:solidFill>
                <a:effectLst/>
                <a:uLnTx/>
                <a:uFillTx/>
                <a:latin typeface="Verdana" pitchFamily="34" charset="0"/>
                <a:ea typeface="+mn-ea"/>
                <a:cs typeface="+mn-cs"/>
              </a:rPr>
              <a:t>What is PC? </a:t>
            </a:r>
            <a:r>
              <a:rPr kumimoji="0" lang="en-US" sz="1200" b="0" i="0" u="none" strike="noStrike" kern="1200" cap="none" spc="0" normalizeH="0" baseline="0" dirty="0">
                <a:ln>
                  <a:noFill/>
                </a:ln>
                <a:solidFill>
                  <a:schemeClr val="tx1"/>
                </a:solidFill>
                <a:effectLst/>
                <a:uLnTx/>
                <a:uFillTx/>
                <a:latin typeface="Verdana" pitchFamily="34" charset="0"/>
                <a:ea typeface="+mn-ea"/>
                <a:cs typeface="+mn-cs"/>
              </a:rPr>
              <a:t>Because some programs may release PRQ and PV at nearly the same time, the QRC avoids saying PV software must be previously “released”, else we have a chicken/egg problem. Not all teams have a formal “PC” milestone for SW and UQRC does not require it. The term is used in this context to highlight that the SW stack has no KNOWN issues that would block customer use of the SW for launching their product. Ex. A set of drivers that pass internal ingredient PV criteria may come together and be a “production candidate (aka PV candidate). That SW stack will not become PV quality level until internal integration/validation testing has been completed and critical customer feedback/issues have been addressed.</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mn-lt"/>
                <a:ea typeface="+mn-ea"/>
                <a:cs typeface="+mn-cs"/>
              </a:rPr>
              <a:t>6</a:t>
            </a:r>
            <a:r>
              <a:rPr lang="en-US" sz="1200" kern="1200" dirty="0">
                <a:solidFill>
                  <a:schemeClr val="tx1"/>
                </a:solidFill>
                <a:effectLst/>
                <a:latin typeface="+mn-lt"/>
                <a:ea typeface="+mn-ea"/>
                <a:cs typeface="+mn-cs"/>
              </a:rPr>
              <a:t>. Follow SDL requirement “Scan binaries for known vulnerabilities” in SDL classic (</a:t>
            </a:r>
            <a:r>
              <a:rPr lang="en-US" sz="1200" u="sng" kern="1200" dirty="0">
                <a:solidFill>
                  <a:schemeClr val="tx1"/>
                </a:solidFill>
                <a:effectLst/>
                <a:latin typeface="+mn-lt"/>
                <a:ea typeface="+mn-ea"/>
                <a:cs typeface="+mn-cs"/>
                <a:hlinkClick r:id="rId5"/>
              </a:rPr>
              <a:t>https://sp2010.amr.ith.intel.com/sites/sdl/Pages/Lists/Activities.aspx#ActivityID=106</a:t>
            </a:r>
            <a:r>
              <a:rPr lang="en-US" sz="1200" kern="1200" dirty="0">
                <a:solidFill>
                  <a:schemeClr val="tx1"/>
                </a:solidFill>
                <a:effectLst/>
                <a:latin typeface="+mn-lt"/>
                <a:ea typeface="+mn-ea"/>
                <a:cs typeface="+mn-cs"/>
              </a:rPr>
              <a:t>).  See full IPAS security requirements in the UQRC Reference Material slides in this assessment package.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SOC microcode patch space requirements can be found here: </a:t>
            </a:r>
            <a:r>
              <a:rPr lang="en-US" dirty="0">
                <a:hlinkClick r:id="rId6"/>
              </a:rPr>
              <a:t>https://wiki.ith.intel.com/pages/viewpage.action?pageId=1418965740</a:t>
            </a:r>
            <a:r>
              <a:rPr lang="en-US" dirty="0"/>
              <a:t>. Note: Security level (S3, S4, S5) are not completed unless updated in SDL tool. </a:t>
            </a:r>
            <a:endParaRPr lang="en-US"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kern="1200" dirty="0">
              <a:solidFill>
                <a:schemeClr val="tx1"/>
              </a:solidFill>
              <a:effectLst/>
              <a:latin typeface="Intel Clea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Intel Clear"/>
                <a:ea typeface="+mn-ea"/>
                <a:cs typeface="+mn-cs"/>
              </a:rPr>
              <a:t>7</a:t>
            </a:r>
            <a:r>
              <a:rPr lang="en-US" sz="1200" kern="1200" dirty="0">
                <a:solidFill>
                  <a:schemeClr val="tx1"/>
                </a:solidFill>
                <a:effectLst/>
                <a:latin typeface="Intel Clear"/>
                <a:ea typeface="+mn-ea"/>
                <a:cs typeface="+mn-cs"/>
              </a:rPr>
              <a:t>. Outgoing DPM targets</a:t>
            </a:r>
            <a:r>
              <a:rPr lang="en-US" sz="1200" kern="1200" baseline="0" dirty="0">
                <a:solidFill>
                  <a:schemeClr val="tx1"/>
                </a:solidFill>
                <a:effectLst/>
                <a:latin typeface="Intel Clear"/>
                <a:ea typeface="+mn-ea"/>
                <a:cs typeface="+mn-cs"/>
              </a:rPr>
              <a:t> may vary dependent on measurement socket. Ex: </a:t>
            </a:r>
            <a:r>
              <a:rPr lang="en-US" sz="1200" i="1" u="sng" dirty="0">
                <a:solidFill>
                  <a:schemeClr val="accent1">
                    <a:lumMod val="50000"/>
                  </a:schemeClr>
                </a:solidFill>
                <a:effectLst/>
                <a:latin typeface="Intel Clear" panose="020B0604020203020204" pitchFamily="34" charset="0"/>
                <a:ea typeface="Intel Clear" panose="020B0604020203020204" pitchFamily="34" charset="0"/>
                <a:cs typeface="Intel Clear" panose="020B0604020203020204" pitchFamily="34" charset="0"/>
              </a:rPr>
              <a:t>&lt; </a:t>
            </a:r>
            <a:r>
              <a:rPr lang="en-US" sz="1200" kern="1200" baseline="0" dirty="0">
                <a:solidFill>
                  <a:schemeClr val="tx1"/>
                </a:solidFill>
                <a:effectLst/>
                <a:latin typeface="Intel Clear"/>
                <a:ea typeface="+mn-ea"/>
                <a:cs typeface="+mn-cs"/>
              </a:rPr>
              <a:t>500 DPM @ PPV, </a:t>
            </a:r>
            <a:r>
              <a:rPr lang="en-US" sz="1200" i="1" u="sng" dirty="0">
                <a:solidFill>
                  <a:schemeClr val="accent1">
                    <a:lumMod val="50000"/>
                  </a:schemeClr>
                </a:solidFill>
                <a:effectLst/>
                <a:latin typeface="Intel Clear" panose="020B0604020203020204" pitchFamily="34" charset="0"/>
                <a:ea typeface="Intel Clear" panose="020B0604020203020204" pitchFamily="34" charset="0"/>
                <a:cs typeface="Intel Clear" panose="020B0604020203020204" pitchFamily="34" charset="0"/>
              </a:rPr>
              <a:t>&lt; </a:t>
            </a:r>
            <a:r>
              <a:rPr lang="en-US" sz="1200" kern="1200" baseline="0" dirty="0">
                <a:solidFill>
                  <a:schemeClr val="tx1"/>
                </a:solidFill>
                <a:effectLst/>
                <a:latin typeface="Intel Clear"/>
                <a:ea typeface="+mn-ea"/>
                <a:cs typeface="+mn-cs"/>
              </a:rPr>
              <a:t>200 DPM @ EQA at PRQ. See </a:t>
            </a:r>
            <a:r>
              <a:rPr lang="en-US" sz="1200" kern="1200" baseline="0" dirty="0" err="1">
                <a:solidFill>
                  <a:schemeClr val="tx1"/>
                </a:solidFill>
                <a:effectLst/>
                <a:latin typeface="Intel Clear"/>
                <a:ea typeface="+mn-ea"/>
                <a:cs typeface="+mn-cs"/>
              </a:rPr>
              <a:t>iQual</a:t>
            </a:r>
            <a:r>
              <a:rPr lang="en-US" sz="1200" kern="1200" baseline="0" dirty="0">
                <a:solidFill>
                  <a:schemeClr val="tx1"/>
                </a:solidFill>
                <a:effectLst/>
                <a:latin typeface="Intel Clear"/>
                <a:ea typeface="+mn-ea"/>
                <a:cs typeface="+mn-cs"/>
              </a:rPr>
              <a:t> for product specific details. </a:t>
            </a:r>
            <a:endParaRPr lang="en-US" dirty="0"/>
          </a:p>
          <a:p>
            <a:pPr marL="0" indent="0" eaLnBrk="1" hangingPunct="1">
              <a:buFontTx/>
              <a:buNone/>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8. Must meet product-specific Reliability goals defined in </a:t>
            </a:r>
            <a:r>
              <a:rPr lang="en-US" dirty="0" err="1"/>
              <a:t>iQual</a:t>
            </a:r>
            <a:r>
              <a:rPr lang="en-US" dirty="0"/>
              <a:t>.  Early Life fail rate based on 30-day failures.  For QS, expect </a:t>
            </a:r>
            <a:r>
              <a:rPr lang="en-US" sz="1200" kern="1200" dirty="0">
                <a:solidFill>
                  <a:schemeClr val="tx1"/>
                </a:solidFill>
                <a:effectLst/>
                <a:latin typeface="+mn-lt"/>
                <a:ea typeface="+mn-ea"/>
                <a:cs typeface="+mn-cs"/>
              </a:rPr>
              <a:t>50% extended life test done and trending to meet end of life goal for all targeted market segments.  For PRQ, meet failure rate goal at end of life for all targeted market segments.  </a:t>
            </a:r>
            <a:endParaRPr lang="en-US" dirty="0"/>
          </a:p>
          <a:p>
            <a:pPr marL="0" indent="0" eaLnBrk="1" hangingPunct="1">
              <a:buFontTx/>
              <a:buNone/>
              <a:defRPr/>
            </a:pPr>
            <a:endParaRPr lang="en-US" dirty="0"/>
          </a:p>
          <a:p>
            <a:pPr marL="0" indent="0" eaLnBrk="1" hangingPunct="1">
              <a:buFontTx/>
              <a:buNone/>
              <a:defRPr/>
            </a:pPr>
            <a:r>
              <a:rPr lang="en-US" dirty="0"/>
              <a:t>9.</a:t>
            </a:r>
            <a:r>
              <a:rPr lang="en-US" baseline="0" dirty="0"/>
              <a:t> </a:t>
            </a:r>
            <a:r>
              <a:rPr lang="en-US" dirty="0"/>
              <a:t>Similar to older HW QRC versions that required “Platform Interoperability”.</a:t>
            </a:r>
            <a:r>
              <a:rPr lang="en-US" baseline="0" dirty="0"/>
              <a:t> </a:t>
            </a:r>
            <a:r>
              <a:rPr lang="en-US" dirty="0"/>
              <a:t>B</a:t>
            </a:r>
            <a:r>
              <a:rPr lang="en-US" baseline="0" dirty="0"/>
              <a:t>efore ship release and quality declaration, </a:t>
            </a:r>
            <a:r>
              <a:rPr lang="en-US" dirty="0"/>
              <a:t>Integrated platform regression testing</a:t>
            </a:r>
            <a:r>
              <a:rPr lang="en-US" baseline="0" dirty="0"/>
              <a:t> </a:t>
            </a:r>
            <a:r>
              <a:rPr lang="en-US" dirty="0"/>
              <a:t>should be completed</a:t>
            </a:r>
            <a:r>
              <a:rPr lang="en-US" baseline="0" dirty="0"/>
              <a:t> </a:t>
            </a:r>
            <a:r>
              <a:rPr lang="en-US" dirty="0"/>
              <a:t>and results collected in support of Integrated</a:t>
            </a:r>
            <a:r>
              <a:rPr lang="en-US" baseline="0" dirty="0"/>
              <a:t> Platform requirements, </a:t>
            </a:r>
            <a:r>
              <a:rPr lang="en-US" u="sng" baseline="0" dirty="0"/>
              <a:t>sufficient to enable initial grading</a:t>
            </a:r>
            <a:r>
              <a:rPr lang="en-US" baseline="0" dirty="0"/>
              <a:t>, but does not require c</a:t>
            </a:r>
            <a:r>
              <a:rPr lang="en-US" dirty="0"/>
              <a:t>losure of all issues or closure</a:t>
            </a:r>
            <a:r>
              <a:rPr lang="en-US" baseline="0" dirty="0"/>
              <a:t> of platform-related exceptions. Can leverage N-1 BKC testing if no changes expected to HW dependent FW/MCU/MRC/</a:t>
            </a:r>
            <a:r>
              <a:rPr lang="en-US" baseline="0" dirty="0" err="1"/>
              <a:t>Pcode</a:t>
            </a:r>
            <a:r>
              <a:rPr lang="en-US" baseline="0" dirty="0"/>
              <a:t>/</a:t>
            </a:r>
            <a:r>
              <a:rPr lang="en-US" baseline="0" dirty="0" err="1"/>
              <a:t>Ucode</a:t>
            </a:r>
            <a:r>
              <a:rPr lang="en-US" baseline="0" dirty="0"/>
              <a:t>/etc.</a:t>
            </a:r>
          </a:p>
          <a:p>
            <a:pPr marL="0" indent="0" eaLnBrk="1" hangingPunct="1">
              <a:buFontTx/>
              <a:buNone/>
              <a:defRPr/>
            </a:pPr>
            <a:endParaRPr lang="en-US" baseline="0" dirty="0"/>
          </a:p>
          <a:p>
            <a:pPr marL="0" indent="0" eaLnBrk="1" hangingPunct="1">
              <a:buFontTx/>
              <a:buNone/>
              <a:defRPr/>
            </a:pPr>
            <a:r>
              <a:rPr lang="en-US" baseline="0" dirty="0"/>
              <a:t>Platform milestone-gating issues should be resolved such that HW defects do not block Platform milestones. For example, ES1 should not block Platform Alpha, ES2 should not block Platform Beta, etc. If Platform milestone-gating HW defects are not resolved by HW milestone declaration, then an Exception should be filed.  </a:t>
            </a:r>
          </a:p>
          <a:p>
            <a:endParaRPr lang="en-US" sz="1200" kern="1200" dirty="0">
              <a:solidFill>
                <a:schemeClr val="tx1"/>
              </a:solidFill>
              <a:effectLst/>
              <a:latin typeface="Intel Clear"/>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 </a:t>
            </a:r>
          </a:p>
          <a:p>
            <a:pPr marL="0" indent="0" eaLnBrk="1" hangingPunct="1">
              <a:buFontTx/>
              <a:buNone/>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F8DF46B-2E9D-4BE4-91F4-491EBFED0E9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503705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6DA6C9-107F-4BA9-BE2E-90EA7AE817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0A137D-6210-4372-AF27-AE8C0007309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BA107B4-A156-4065-94CD-69B9B9243333}"/>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5" name="Footer Placeholder 4">
            <a:extLst>
              <a:ext uri="{FF2B5EF4-FFF2-40B4-BE49-F238E27FC236}">
                <a16:creationId xmlns:a16="http://schemas.microsoft.com/office/drawing/2014/main" id="{8C60B661-4ACE-4713-8158-C6E2BE5B876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CE929A5-7482-4FD4-B6B8-395644CD284C}"/>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3967680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02CDD-12B8-4A10-AC2F-802061F4E8A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FD80CF-C5CD-4964-B915-EDF4A890E13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A31E28-7F3C-48BB-B3CC-27D4C1616E80}"/>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5" name="Footer Placeholder 4">
            <a:extLst>
              <a:ext uri="{FF2B5EF4-FFF2-40B4-BE49-F238E27FC236}">
                <a16:creationId xmlns:a16="http://schemas.microsoft.com/office/drawing/2014/main" id="{16217962-6DF1-49A8-BFB6-5E397BA5EC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954E7A-E135-43F4-A118-3B585E60884D}"/>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58605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7174F-EB3C-4546-9E70-6FF486071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724A7D5-8A00-45E1-902A-CD2F3A86ADF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C4839F1-7150-4A4C-B1DF-6D12CABA1DC9}"/>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5" name="Footer Placeholder 4">
            <a:extLst>
              <a:ext uri="{FF2B5EF4-FFF2-40B4-BE49-F238E27FC236}">
                <a16:creationId xmlns:a16="http://schemas.microsoft.com/office/drawing/2014/main" id="{5275692F-7232-4662-918C-433A8629EB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3413DA-35D3-486C-BCC4-E3F5B64CEDFF}"/>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431775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B281-1F53-4962-B898-780023DD095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3D69815-E854-4AAC-8733-C88B12F9947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D10D21D-4EC9-4262-9F5B-839CB3DE8B4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335C64F-D469-4C0E-B840-EE8F5990B7ED}"/>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6" name="Footer Placeholder 5">
            <a:extLst>
              <a:ext uri="{FF2B5EF4-FFF2-40B4-BE49-F238E27FC236}">
                <a16:creationId xmlns:a16="http://schemas.microsoft.com/office/drawing/2014/main" id="{631211D8-9F2F-45D8-9435-3521104E0F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ED60D60-FF02-48CA-9712-5D043D033BFB}"/>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117756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483EA-CD00-4828-BFF5-5065CA9144D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D7C6118-B78D-42A4-9031-60E1A5DB978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A08822E-E467-47F0-A486-905CAEA72C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7C3405D-1EFD-48CF-BE79-D6A03485A5A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E39E1D9-216F-4BD2-9745-067D72859DA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3F3085-1EDD-4841-BF90-A55307C75C6F}"/>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8" name="Footer Placeholder 7">
            <a:extLst>
              <a:ext uri="{FF2B5EF4-FFF2-40B4-BE49-F238E27FC236}">
                <a16:creationId xmlns:a16="http://schemas.microsoft.com/office/drawing/2014/main" id="{D0305829-2040-4016-A56F-5EB8EDE1F1D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95C3B3-7F54-47D3-AF91-3E198CC1C324}"/>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3163673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30328-2DCD-4DBE-8B75-E5696D16589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C9BDAEB-8390-4CC9-9CA0-745326E1D4C0}"/>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4" name="Footer Placeholder 3">
            <a:extLst>
              <a:ext uri="{FF2B5EF4-FFF2-40B4-BE49-F238E27FC236}">
                <a16:creationId xmlns:a16="http://schemas.microsoft.com/office/drawing/2014/main" id="{B8AA8C6B-C569-44B4-993F-4D6BA71E779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8AE838-14FB-4F35-A941-37E7C8E5F788}"/>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1797165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D2EE8-7466-4942-947F-55B633B382D2}"/>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3" name="Footer Placeholder 2">
            <a:extLst>
              <a:ext uri="{FF2B5EF4-FFF2-40B4-BE49-F238E27FC236}">
                <a16:creationId xmlns:a16="http://schemas.microsoft.com/office/drawing/2014/main" id="{4CE54A94-798E-4D09-9007-0E98E548BEC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A9A4690-5AD8-4637-A20B-30E1D59350C7}"/>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522893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2F389B-FF7A-4712-A352-C818787CB3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51297DF-BFFA-41EA-A6F6-9829939F641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60A8027-AE62-4717-95C5-881201EFA75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E5BEF90-D985-4038-9AB6-D6BA718C03BB}"/>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6" name="Footer Placeholder 5">
            <a:extLst>
              <a:ext uri="{FF2B5EF4-FFF2-40B4-BE49-F238E27FC236}">
                <a16:creationId xmlns:a16="http://schemas.microsoft.com/office/drawing/2014/main" id="{A5AB751E-3B70-4994-8902-EEE7F0AC15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63C48A-5F0B-4DB3-8C36-512055505F9A}"/>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16630804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0FAE82-78EE-4F5D-8125-B815810ACDE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295D8E-5963-434D-9FFA-A155C9A59F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B3C7F83-D218-4594-9BA9-E3F5BE31908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5BE03E-1CB9-4997-8706-B6C48B19BBE5}"/>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6" name="Footer Placeholder 5">
            <a:extLst>
              <a:ext uri="{FF2B5EF4-FFF2-40B4-BE49-F238E27FC236}">
                <a16:creationId xmlns:a16="http://schemas.microsoft.com/office/drawing/2014/main" id="{AFD60A93-8898-4E9D-B4A0-DC17D9A909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DCE8104-11A2-4566-B687-5CDD8C9F697A}"/>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876288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08654C-C1C3-4507-8714-549808ADAA3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CE54AD1-B91A-4E61-8EA5-8B392611BFA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D2F579-BD0D-403C-8C15-0D01BF036377}"/>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5" name="Footer Placeholder 4">
            <a:extLst>
              <a:ext uri="{FF2B5EF4-FFF2-40B4-BE49-F238E27FC236}">
                <a16:creationId xmlns:a16="http://schemas.microsoft.com/office/drawing/2014/main" id="{2AE4508D-F1C0-4E6B-B7C2-C502F61846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A536CE4-5415-481D-B8CB-A9DDB82A0874}"/>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19464457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944CCF-6090-4F4F-B085-C1AFB7E0273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6E94823-A30E-49B1-A054-E9D7081F0D2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24FF2C-9E06-49A4-9F29-AF48BCD4381B}"/>
              </a:ext>
            </a:extLst>
          </p:cNvPr>
          <p:cNvSpPr>
            <a:spLocks noGrp="1"/>
          </p:cNvSpPr>
          <p:nvPr>
            <p:ph type="dt" sz="half" idx="10"/>
          </p:nvPr>
        </p:nvSpPr>
        <p:spPr/>
        <p:txBody>
          <a:bodyPr/>
          <a:lstStyle/>
          <a:p>
            <a:fld id="{653F182C-36BD-43F6-8BD2-3D684F74B7F8}" type="datetimeFigureOut">
              <a:rPr lang="en-US" smtClean="0"/>
              <a:t>7/3/2022</a:t>
            </a:fld>
            <a:endParaRPr lang="en-US"/>
          </a:p>
        </p:txBody>
      </p:sp>
      <p:sp>
        <p:nvSpPr>
          <p:cNvPr id="5" name="Footer Placeholder 4">
            <a:extLst>
              <a:ext uri="{FF2B5EF4-FFF2-40B4-BE49-F238E27FC236}">
                <a16:creationId xmlns:a16="http://schemas.microsoft.com/office/drawing/2014/main" id="{A20BA9EF-8522-4331-AA0A-D7CB64805AE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2C83E81-ED7D-4FE5-A95C-32842EC16C99}"/>
              </a:ext>
            </a:extLst>
          </p:cNvPr>
          <p:cNvSpPr>
            <a:spLocks noGrp="1"/>
          </p:cNvSpPr>
          <p:nvPr>
            <p:ph type="sldNum" sz="quarter" idx="12"/>
          </p:nvPr>
        </p:nvSpPr>
        <p:spPr/>
        <p:txBody>
          <a:bodyPr/>
          <a:lstStyle/>
          <a:p>
            <a:fld id="{A5743BA9-0ED4-492F-900B-AE37AD137F0C}" type="slidenum">
              <a:rPr lang="en-US" smtClean="0"/>
              <a:t>‹#›</a:t>
            </a:fld>
            <a:endParaRPr lang="en-US"/>
          </a:p>
        </p:txBody>
      </p:sp>
    </p:spTree>
    <p:extLst>
      <p:ext uri="{BB962C8B-B14F-4D97-AF65-F5344CB8AC3E}">
        <p14:creationId xmlns:p14="http://schemas.microsoft.com/office/powerpoint/2010/main" val="24152979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2890A4D6-0966-42F2-8D24-721165C84EF7}" type="datetime1">
              <a:rPr lang="en-US" smtClean="0"/>
              <a:pPr>
                <a:defRPr/>
              </a:pPr>
              <a:t>7/3/2022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HW-QRC Rev 1.5</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20AF32D-350F-4BD0-AC2F-C36C11DB69A0}" type="slidenum">
              <a:rPr lang="en-US"/>
              <a:pPr>
                <a:defRPr/>
              </a:pPr>
              <a:t>‹#›</a:t>
            </a:fld>
            <a:endParaRPr lang="en-US" dirty="0"/>
          </a:p>
        </p:txBody>
      </p:sp>
    </p:spTree>
    <p:extLst>
      <p:ext uri="{BB962C8B-B14F-4D97-AF65-F5344CB8AC3E}">
        <p14:creationId xmlns:p14="http://schemas.microsoft.com/office/powerpoint/2010/main" val="38894662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4FD75040-398D-4EA3-B36C-33B72ED4AB91}" type="datetime1">
              <a:rPr lang="en-US" smtClean="0"/>
              <a:pPr>
                <a:defRPr/>
              </a:pPr>
              <a:t>7/3/2022</a:t>
            </a:fld>
            <a:endParaRPr lang="en-US" dirty="0"/>
          </a:p>
        </p:txBody>
      </p:sp>
      <p:sp>
        <p:nvSpPr>
          <p:cNvPr id="5" name="Footer Placeholder 4"/>
          <p:cNvSpPr>
            <a:spLocks noGrp="1"/>
          </p:cNvSpPr>
          <p:nvPr>
            <p:ph type="ftr" sz="quarter" idx="11"/>
          </p:nvPr>
        </p:nvSpPr>
        <p:spPr/>
        <p:txBody>
          <a:bodyPr/>
          <a:lstStyle>
            <a:lvl1pPr>
              <a:defRPr/>
            </a:lvl1pPr>
          </a:lstStyle>
          <a:p>
            <a:pPr>
              <a:defRPr/>
            </a:pPr>
            <a:r>
              <a:rPr lang="en-US"/>
              <a:t>HW-QRC Rev 1.5</a:t>
            </a: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326BF9BA-2093-490C-BB3A-940CC13F7282}" type="slidenum">
              <a:rPr lang="en-US"/>
              <a:pPr>
                <a:defRPr/>
              </a:pPr>
              <a:t>‹#›</a:t>
            </a:fld>
            <a:endParaRPr lang="en-US" dirty="0"/>
          </a:p>
        </p:txBody>
      </p:sp>
    </p:spTree>
    <p:extLst>
      <p:ext uri="{BB962C8B-B14F-4D97-AF65-F5344CB8AC3E}">
        <p14:creationId xmlns:p14="http://schemas.microsoft.com/office/powerpoint/2010/main" val="36385783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86FB04DA-7B34-4970-A5BC-21B3BC0D4C72}" type="datetime1">
              <a:rPr lang="en-US" smtClean="0"/>
              <a:pPr>
                <a:defRPr/>
              </a:pPr>
              <a:t>7/3/2022</a:t>
            </a:fld>
            <a:endParaRPr lang="en-US" dirty="0"/>
          </a:p>
        </p:txBody>
      </p:sp>
      <p:sp>
        <p:nvSpPr>
          <p:cNvPr id="6" name="Footer Placeholder 4"/>
          <p:cNvSpPr>
            <a:spLocks noGrp="1"/>
          </p:cNvSpPr>
          <p:nvPr>
            <p:ph type="ftr" sz="quarter" idx="11"/>
          </p:nvPr>
        </p:nvSpPr>
        <p:spPr/>
        <p:txBody>
          <a:bodyPr/>
          <a:lstStyle>
            <a:lvl1pPr>
              <a:defRPr/>
            </a:lvl1pPr>
          </a:lstStyle>
          <a:p>
            <a:pPr>
              <a:defRPr/>
            </a:pPr>
            <a:r>
              <a:rPr lang="en-US"/>
              <a:t>HW-QRC Rev 1.5</a:t>
            </a: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8533CF46-70BC-483D-A18B-820B7BB37007}" type="slidenum">
              <a:rPr lang="en-US"/>
              <a:pPr>
                <a:defRPr/>
              </a:pPr>
              <a:t>‹#›</a:t>
            </a:fld>
            <a:endParaRPr lang="en-US" dirty="0"/>
          </a:p>
        </p:txBody>
      </p:sp>
    </p:spTree>
    <p:extLst>
      <p:ext uri="{BB962C8B-B14F-4D97-AF65-F5344CB8AC3E}">
        <p14:creationId xmlns:p14="http://schemas.microsoft.com/office/powerpoint/2010/main" val="1759485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AA106DFA-E46E-4AE7-BAAF-6F3AC1233870}" type="datetime1">
              <a:rPr lang="en-US" smtClean="0"/>
              <a:pPr>
                <a:defRPr/>
              </a:pPr>
              <a:t>7/3/2022</a:t>
            </a:fld>
            <a:endParaRPr lang="en-US" dirty="0"/>
          </a:p>
        </p:txBody>
      </p:sp>
      <p:sp>
        <p:nvSpPr>
          <p:cNvPr id="4" name="Footer Placeholder 4"/>
          <p:cNvSpPr>
            <a:spLocks noGrp="1"/>
          </p:cNvSpPr>
          <p:nvPr>
            <p:ph type="ftr" sz="quarter" idx="11"/>
          </p:nvPr>
        </p:nvSpPr>
        <p:spPr/>
        <p:txBody>
          <a:bodyPr/>
          <a:lstStyle>
            <a:lvl1pPr>
              <a:defRPr/>
            </a:lvl1pPr>
          </a:lstStyle>
          <a:p>
            <a:pPr>
              <a:defRPr/>
            </a:pPr>
            <a:r>
              <a:rPr lang="en-US"/>
              <a:t>HW-QRC Rev 1.5</a:t>
            </a: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DEAA51A0-C034-4D54-8C28-12F716AFE1C9}" type="slidenum">
              <a:rPr lang="en-US"/>
              <a:pPr>
                <a:defRPr/>
              </a:pPr>
              <a:t>‹#›</a:t>
            </a:fld>
            <a:endParaRPr lang="en-US" dirty="0"/>
          </a:p>
        </p:txBody>
      </p:sp>
    </p:spTree>
    <p:extLst>
      <p:ext uri="{BB962C8B-B14F-4D97-AF65-F5344CB8AC3E}">
        <p14:creationId xmlns:p14="http://schemas.microsoft.com/office/powerpoint/2010/main" val="3966641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93AF4C43-10F9-483A-A135-3CA887F6A18F}" type="datetime1">
              <a:rPr lang="en-US" smtClean="0"/>
              <a:pPr>
                <a:defRPr/>
              </a:pPr>
              <a:t>7/3/2022</a:t>
            </a:fld>
            <a:endParaRPr lang="en-US" dirty="0"/>
          </a:p>
        </p:txBody>
      </p:sp>
      <p:sp>
        <p:nvSpPr>
          <p:cNvPr id="3" name="Footer Placeholder 4"/>
          <p:cNvSpPr>
            <a:spLocks noGrp="1"/>
          </p:cNvSpPr>
          <p:nvPr>
            <p:ph type="ftr" sz="quarter" idx="11"/>
          </p:nvPr>
        </p:nvSpPr>
        <p:spPr/>
        <p:txBody>
          <a:bodyPr/>
          <a:lstStyle>
            <a:lvl1pPr>
              <a:defRPr/>
            </a:lvl1pPr>
          </a:lstStyle>
          <a:p>
            <a:pPr>
              <a:defRPr/>
            </a:pPr>
            <a:r>
              <a:rPr lang="en-US"/>
              <a:t>HW-QRC Rev 1.5</a:t>
            </a: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2D0F384A-0E47-4023-8D81-E623D54ADF7F}" type="slidenum">
              <a:rPr lang="en-US"/>
              <a:pPr>
                <a:defRPr/>
              </a:pPr>
              <a:t>‹#›</a:t>
            </a:fld>
            <a:endParaRPr lang="en-US" dirty="0"/>
          </a:p>
        </p:txBody>
      </p:sp>
    </p:spTree>
    <p:extLst>
      <p:ext uri="{BB962C8B-B14F-4D97-AF65-F5344CB8AC3E}">
        <p14:creationId xmlns:p14="http://schemas.microsoft.com/office/powerpoint/2010/main" val="9866423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49"/>
            <a:ext cx="4011084" cy="1162051"/>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Footer Placeholder 4"/>
          <p:cNvSpPr>
            <a:spLocks noGrp="1"/>
          </p:cNvSpPr>
          <p:nvPr>
            <p:ph type="ftr" sz="quarter" idx="10"/>
          </p:nvPr>
        </p:nvSpPr>
        <p:spPr>
          <a:xfrm>
            <a:off x="0" y="6492876"/>
            <a:ext cx="3860800" cy="365125"/>
          </a:xfrm>
        </p:spPr>
        <p:txBody>
          <a:bodyPr/>
          <a:lstStyle>
            <a:lvl1pPr algn="l">
              <a:defRPr sz="1400" smtClean="0">
                <a:solidFill>
                  <a:schemeClr val="bg1"/>
                </a:solidFill>
              </a:defRPr>
            </a:lvl1pPr>
          </a:lstStyle>
          <a:p>
            <a:pPr>
              <a:defRPr/>
            </a:pPr>
            <a:r>
              <a:rPr lang="en-US">
                <a:solidFill>
                  <a:prstClr val="white"/>
                </a:solidFill>
              </a:rPr>
              <a:t>HW-QRC Rev 1.5</a:t>
            </a:r>
            <a:endParaRPr lang="en-US" dirty="0">
              <a:solidFill>
                <a:prstClr val="white"/>
              </a:solidFill>
            </a:endParaRPr>
          </a:p>
        </p:txBody>
      </p:sp>
      <p:sp>
        <p:nvSpPr>
          <p:cNvPr id="6" name="Slide Number Placeholder 5"/>
          <p:cNvSpPr>
            <a:spLocks noGrp="1"/>
          </p:cNvSpPr>
          <p:nvPr>
            <p:ph type="sldNum" sz="quarter" idx="11"/>
          </p:nvPr>
        </p:nvSpPr>
        <p:spPr/>
        <p:txBody>
          <a:bodyPr/>
          <a:lstStyle>
            <a:lvl1pPr>
              <a:defRPr/>
            </a:lvl1pPr>
          </a:lstStyle>
          <a:p>
            <a:pPr>
              <a:defRPr/>
            </a:pPr>
            <a:fld id="{B4169B33-E151-426E-A376-CF806FCDF8F2}" type="slidenum">
              <a:rPr lang="en-US"/>
              <a:pPr>
                <a:defRPr/>
              </a:pPr>
              <a:t>‹#›</a:t>
            </a:fld>
            <a:endParaRPr lang="en-US" dirty="0"/>
          </a:p>
        </p:txBody>
      </p:sp>
    </p:spTree>
    <p:extLst>
      <p:ext uri="{BB962C8B-B14F-4D97-AF65-F5344CB8AC3E}">
        <p14:creationId xmlns:p14="http://schemas.microsoft.com/office/powerpoint/2010/main" val="166206595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dirty="0">
              <a:latin typeface="+mj-lt"/>
            </a:endParaRPr>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Clear Light</a:t>
            </a:r>
            <a:endParaRPr dirty="0"/>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mj-lt"/>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One Text" panose="020B0503020203020204" pitchFamily="34" charset="0"/>
                <a:ea typeface="Intel Clear" panose="020B0604020203020204" pitchFamily="34" charset="0"/>
                <a:cs typeface="Intel Clear" panose="020B0604020203020204" pitchFamily="34" charset="0"/>
              </a:defRPr>
            </a:lvl1pPr>
          </a:lstStyle>
          <a:p>
            <a:r>
              <a:rPr lang="en-US" dirty="0"/>
              <a:t>18pt Intel One Text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176728415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1_Title Blue A">
    <p:bg>
      <p:bgPr>
        <a:solidFill>
          <a:schemeClr val="accent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3343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_Title Blue 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AC655120-FF6C-4770-A6DB-DB9BA1DD12FD}"/>
              </a:ext>
            </a:extLst>
          </p:cNvPr>
          <p:cNvGrpSpPr/>
          <p:nvPr userDrawn="1"/>
        </p:nvGrpSpPr>
        <p:grpSpPr>
          <a:xfrm>
            <a:off x="425450" y="599797"/>
            <a:ext cx="5927705" cy="5761248"/>
            <a:chOff x="711050" y="1107615"/>
            <a:chExt cx="5303196" cy="5154276"/>
          </a:xfrm>
        </p:grpSpPr>
        <p:sp>
          <p:nvSpPr>
            <p:cNvPr id="74" name="Rectangle"/>
            <p:cNvSpPr/>
            <p:nvPr/>
          </p:nvSpPr>
          <p:spPr>
            <a:xfrm>
              <a:off x="1604344" y="1107615"/>
              <a:ext cx="4409902" cy="4154917"/>
            </a:xfrm>
            <a:prstGeom prst="rect">
              <a:avLst/>
            </a:prstGeom>
            <a:solidFill>
              <a:srgbClr val="B35533">
                <a:alpha val="80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dirty="0">
                <a:latin typeface="+mj-lt"/>
              </a:endParaRPr>
            </a:p>
          </p:txBody>
        </p:sp>
        <p:sp>
          <p:nvSpPr>
            <p:cNvPr id="80" name="Square"/>
            <p:cNvSpPr/>
            <p:nvPr/>
          </p:nvSpPr>
          <p:spPr>
            <a:xfrm>
              <a:off x="996090" y="5260267"/>
              <a:ext cx="607299" cy="607299"/>
            </a:xfrm>
            <a:prstGeom prst="rect">
              <a:avLst/>
            </a:prstGeom>
            <a:solidFill>
              <a:schemeClr val="accent2"/>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81" name="Rectangle"/>
            <p:cNvSpPr/>
            <p:nvPr/>
          </p:nvSpPr>
          <p:spPr>
            <a:xfrm>
              <a:off x="711050" y="4978168"/>
              <a:ext cx="286654" cy="282073"/>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82" name="Square"/>
            <p:cNvSpPr/>
            <p:nvPr/>
          </p:nvSpPr>
          <p:spPr>
            <a:xfrm>
              <a:off x="996090" y="4821845"/>
              <a:ext cx="157461" cy="157461"/>
            </a:xfrm>
            <a:prstGeom prst="rect">
              <a:avLst/>
            </a:prstGeom>
            <a:solidFill>
              <a:srgbClr val="D76F76"/>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603389" y="5865090"/>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chemeClr val="accent1"/>
              </a:solidFill>
              <a:ln w="9525"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p>
            </p:txBody>
          </p:sp>
        </p:grpSp>
      </p:gr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696210" y="861552"/>
            <a:ext cx="4384674" cy="332398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200">
                <a:solidFill>
                  <a:schemeClr val="bg1"/>
                </a:solidFill>
                <a:latin typeface="+mn-lt"/>
              </a:defRPr>
            </a:lvl1pPr>
          </a:lstStyle>
          <a:p>
            <a:r>
              <a:rPr lang="en-US" sz="8000" dirty="0"/>
              <a:t>Title </a:t>
            </a:r>
            <a:br>
              <a:rPr lang="en-US" sz="8000" dirty="0"/>
            </a:br>
            <a:r>
              <a:rPr lang="en-US" sz="8000" dirty="0"/>
              <a:t>Intel One </a:t>
            </a:r>
            <a:br>
              <a:rPr lang="en-US" sz="8000" dirty="0"/>
            </a:br>
            <a:r>
              <a:rPr lang="en-US" sz="8000" dirty="0"/>
              <a:t>Light</a:t>
            </a:r>
            <a:endParaRPr dirty="0"/>
          </a:p>
        </p:txBody>
      </p:sp>
    </p:spTree>
    <p:extLst>
      <p:ext uri="{BB962C8B-B14F-4D97-AF65-F5344CB8AC3E}">
        <p14:creationId xmlns:p14="http://schemas.microsoft.com/office/powerpoint/2010/main" val="32141787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dirty="0">
              <a:latin typeface="+mj-lt"/>
            </a:endParaRPr>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0" i="0">
                <a:solidFill>
                  <a:srgbClr val="00C7FD"/>
                </a:solidFill>
                <a:latin typeface="+mj-lt"/>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chemeClr val="bg1"/>
                </a:solidFill>
              </a:defRPr>
            </a:lvl1pPr>
          </a:lstStyle>
          <a:p>
            <a:r>
              <a:rPr lang="en-US" dirty="0"/>
              <a:t>75 </a:t>
            </a:r>
            <a:r>
              <a:rPr lang="en-US" dirty="0" err="1"/>
              <a:t>pt</a:t>
            </a:r>
            <a:r>
              <a:rPr lang="en-US" dirty="0"/>
              <a:t> Intel One Light</a:t>
            </a:r>
            <a:endParaRPr dirty="0"/>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One Text" panose="020B0503020203020204" pitchFamily="34" charset="0"/>
                <a:ea typeface="Intel Clear" panose="020B0604020203020204" pitchFamily="34" charset="0"/>
                <a:cs typeface="Intel Clear" panose="020B0604020203020204" pitchFamily="34" charset="0"/>
              </a:defRPr>
            </a:lvl1pPr>
          </a:lstStyle>
          <a:p>
            <a:r>
              <a:rPr lang="en-US" dirty="0"/>
              <a:t>18pt Intel One Text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dirty="0"/>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dirty="0"/>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dirty="0"/>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5912578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dirty="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rgbClr val="525252"/>
                </a:solidFill>
              </a:defRPr>
            </a:lvl1pPr>
          </a:lstStyle>
          <a:p>
            <a:r>
              <a:rPr lang="en-US" dirty="0"/>
              <a:t>75 </a:t>
            </a:r>
            <a:r>
              <a:rPr lang="en-US" dirty="0" err="1"/>
              <a:t>pt</a:t>
            </a:r>
            <a:r>
              <a:rPr lang="en-US" dirty="0"/>
              <a:t> Intel One Display</a:t>
            </a:r>
            <a:endParaRPr dirty="0"/>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0" i="0">
                <a:solidFill>
                  <a:schemeClr val="accent1"/>
                </a:solidFill>
                <a:latin typeface="+mj-lt"/>
                <a:ea typeface="Intel Clear" panose="020B0604020203020204" pitchFamily="34" charset="0"/>
                <a:cs typeface="Intel Clear" panose="020B0604020203020204" pitchFamily="34" charset="0"/>
              </a:defRPr>
            </a:lvl1pPr>
          </a:lstStyle>
          <a:p>
            <a:r>
              <a:rPr lang="en-US" dirty="0"/>
              <a:t>16pt Intel One Display Regular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One Text" panose="020B0503020203020204" pitchFamily="34" charset="0"/>
                <a:ea typeface="Intel Clear" panose="020B0604020203020204" pitchFamily="34" charset="0"/>
                <a:cs typeface="Intel Clear" panose="020B0604020203020204" pitchFamily="34" charset="0"/>
              </a:defRPr>
            </a:lvl1pPr>
          </a:lstStyle>
          <a:p>
            <a:r>
              <a:rPr lang="en-US" dirty="0"/>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5872548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One Display Light Text Goes Here</a:t>
            </a:r>
          </a:p>
        </p:txBody>
      </p:sp>
    </p:spTree>
    <p:extLst>
      <p:ext uri="{BB962C8B-B14F-4D97-AF65-F5344CB8AC3E}">
        <p14:creationId xmlns:p14="http://schemas.microsoft.com/office/powerpoint/2010/main" val="288355687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483010" y="6407451"/>
            <a:ext cx="1125397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dirty="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a:bodyPr>
          <a:lstStyle>
            <a:lvl1pPr>
              <a:defRPr sz="4000">
                <a:solidFill>
                  <a:schemeClr val="bg1"/>
                </a:solidFill>
              </a:defRPr>
            </a:lvl1pPr>
          </a:lstStyle>
          <a:p>
            <a:r>
              <a:rPr lang="en-US" dirty="0"/>
              <a:t>40pt Intel One Display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r>
              <a:rPr lang="en-US"/>
              <a:t>Click to edit Master text styles</a:t>
            </a:r>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9" name="Rectangle">
            <a:extLst>
              <a:ext uri="{FF2B5EF4-FFF2-40B4-BE49-F238E27FC236}">
                <a16:creationId xmlns:a16="http://schemas.microsoft.com/office/drawing/2014/main" id="{BC8F2013-22F1-4658-A96B-AED7BDBBC14A}"/>
              </a:ext>
            </a:extLst>
          </p:cNvPr>
          <p:cNvSpPr/>
          <p:nvPr userDrawn="1"/>
        </p:nvSpPr>
        <p:spPr>
          <a:xfrm>
            <a:off x="335141" y="6266414"/>
            <a:ext cx="143327" cy="141037"/>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solidFill>
                <a:schemeClr val="bg1"/>
              </a:solidFill>
            </a:endParaRPr>
          </a:p>
        </p:txBody>
      </p:sp>
      <p:sp>
        <p:nvSpPr>
          <p:cNvPr id="13" name="TextBox 12">
            <a:extLst>
              <a:ext uri="{FF2B5EF4-FFF2-40B4-BE49-F238E27FC236}">
                <a16:creationId xmlns:a16="http://schemas.microsoft.com/office/drawing/2014/main" id="{61CF9D38-64A3-4E0B-AB7F-48EB89A82362}"/>
              </a:ext>
            </a:extLst>
          </p:cNvPr>
          <p:cNvSpPr txBox="1"/>
          <p:nvPr userDrawn="1"/>
        </p:nvSpPr>
        <p:spPr>
          <a:xfrm>
            <a:off x="592915" y="6448367"/>
            <a:ext cx="5010026" cy="384721"/>
          </a:xfrm>
          <a:prstGeom prst="rect">
            <a:avLst/>
          </a:prstGeom>
          <a:noFill/>
        </p:spPr>
        <p:txBody>
          <a:bodyPr vert="horz" wrap="square" lIns="0" tIns="0" rIns="0" bIns="0" rtlCol="0">
            <a:spAutoFit/>
          </a:bodyPr>
          <a:lstStyle/>
          <a:p>
            <a:pPr defTabSz="457189"/>
            <a:r>
              <a:rPr lang="en-US" sz="1400" spc="50" dirty="0">
                <a:solidFill>
                  <a:prstClr val="white"/>
                </a:solidFill>
                <a:latin typeface="+mn-lt"/>
                <a:ea typeface="Intel Clear" panose="020B0604020203020204" pitchFamily="34" charset="0"/>
                <a:cs typeface="Intel Clear" panose="020B0604020203020204" pitchFamily="34" charset="0"/>
              </a:rPr>
              <a:t>Manufacturing and Product Engineering (MPE)</a:t>
            </a:r>
            <a:endParaRPr lang="en-US" sz="1400" dirty="0">
              <a:solidFill>
                <a:prstClr val="white"/>
              </a:solidFill>
              <a:latin typeface="+mn-lt"/>
              <a:ea typeface="Intel Clear Pro" panose="020B0804020202060201" pitchFamily="34" charset="0"/>
              <a:cs typeface="Intel Clear Pro" panose="020B0804020202060201" pitchFamily="34" charset="0"/>
            </a:endParaRPr>
          </a:p>
          <a:p>
            <a:pPr defTabSz="457189">
              <a:defRPr/>
            </a:pPr>
            <a:r>
              <a:rPr lang="en-US" sz="1100" b="0" i="1" dirty="0">
                <a:solidFill>
                  <a:prstClr val="white"/>
                </a:solidFill>
                <a:ea typeface="Intel Clear" panose="020B0604020203020204" pitchFamily="34" charset="0"/>
              </a:rPr>
              <a:t>Making Manufacturing Development a Competitive Advantage</a:t>
            </a:r>
            <a:endParaRPr lang="en-US" sz="1100" b="0" i="1" dirty="0">
              <a:solidFill>
                <a:prstClr val="white"/>
              </a:solidFill>
            </a:endParaRPr>
          </a:p>
        </p:txBody>
      </p:sp>
      <p:sp>
        <p:nvSpPr>
          <p:cNvPr id="17" name="Rectangle 16">
            <a:extLst>
              <a:ext uri="{FF2B5EF4-FFF2-40B4-BE49-F238E27FC236}">
                <a16:creationId xmlns:a16="http://schemas.microsoft.com/office/drawing/2014/main" id="{E7AB4E38-5383-48DE-A844-43547EB0CE84}"/>
              </a:ext>
            </a:extLst>
          </p:cNvPr>
          <p:cNvSpPr/>
          <p:nvPr userDrawn="1"/>
        </p:nvSpPr>
        <p:spPr>
          <a:xfrm>
            <a:off x="5040266" y="6533219"/>
            <a:ext cx="2111476" cy="246221"/>
          </a:xfrm>
          <a:prstGeom prst="rect">
            <a:avLst/>
          </a:prstGeom>
        </p:spPr>
        <p:txBody>
          <a:bodyPr wrap="none">
            <a:spAutoFit/>
          </a:bodyPr>
          <a:lstStyle/>
          <a:p>
            <a:pPr algn="ctr"/>
            <a:r>
              <a:rPr lang="en-US" sz="1000" dirty="0">
                <a:solidFill>
                  <a:schemeClr val="bg1"/>
                </a:solidFill>
              </a:rPr>
              <a:t>Intel Confidential | Internal Use Only</a:t>
            </a:r>
          </a:p>
        </p:txBody>
      </p:sp>
    </p:spTree>
    <p:extLst>
      <p:ext uri="{BB962C8B-B14F-4D97-AF65-F5344CB8AC3E}">
        <p14:creationId xmlns:p14="http://schemas.microsoft.com/office/powerpoint/2010/main" val="2068853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rgbClr val="525252"/>
                </a:solidFill>
              </a:defRPr>
            </a:lvl1pPr>
          </a:lstStyle>
          <a:p>
            <a:r>
              <a:rPr lang="en-US" dirty="0"/>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IntelOne Text" panose="020B0503020203020204" pitchFamily="34" charset="0"/>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15164795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b" anchorCtr="0">
            <a:noAutofit/>
          </a:bodyPr>
          <a:lstStyle>
            <a:lvl1pPr>
              <a:defRPr sz="4800">
                <a:solidFill>
                  <a:schemeClr val="bg1"/>
                </a:solidFill>
              </a:defRPr>
            </a:lvl1pPr>
          </a:lstStyle>
          <a:p>
            <a:r>
              <a:rPr lang="en-US" dirty="0"/>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IntelOne Text" panose="020B0503020203020204" pitchFamily="34" charset="0"/>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7A58491C-D0AF-472F-8321-3016FECB9A19}"/>
              </a:ext>
            </a:extLst>
          </p:cNvPr>
          <p:cNvSpPr/>
          <p:nvPr userDrawn="1"/>
        </p:nvSpPr>
        <p:spPr>
          <a:xfrm>
            <a:off x="483010" y="6407451"/>
            <a:ext cx="1125397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18" name="Square">
            <a:extLst>
              <a:ext uri="{FF2B5EF4-FFF2-40B4-BE49-F238E27FC236}">
                <a16:creationId xmlns:a16="http://schemas.microsoft.com/office/drawing/2014/main" id="{89451A1B-FE64-431E-A0F9-549A12FD3E0A}"/>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dirty="0"/>
          </a:p>
        </p:txBody>
      </p:sp>
      <p:sp>
        <p:nvSpPr>
          <p:cNvPr id="19" name="TextBox 18">
            <a:extLst>
              <a:ext uri="{FF2B5EF4-FFF2-40B4-BE49-F238E27FC236}">
                <a16:creationId xmlns:a16="http://schemas.microsoft.com/office/drawing/2014/main" id="{08E2FA5C-4D60-4760-9754-D68A0CCE97D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0" name="Image" descr="Image">
            <a:extLst>
              <a:ext uri="{FF2B5EF4-FFF2-40B4-BE49-F238E27FC236}">
                <a16:creationId xmlns:a16="http://schemas.microsoft.com/office/drawing/2014/main" id="{9259B747-7E0B-44EB-871F-ED616149C07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a:extLst>
              <a:ext uri="{FF2B5EF4-FFF2-40B4-BE49-F238E27FC236}">
                <a16:creationId xmlns:a16="http://schemas.microsoft.com/office/drawing/2014/main" id="{91F40920-83AD-4668-9C81-25BFE2B7B588}"/>
              </a:ext>
            </a:extLst>
          </p:cNvPr>
          <p:cNvSpPr/>
          <p:nvPr userDrawn="1"/>
        </p:nvSpPr>
        <p:spPr>
          <a:xfrm>
            <a:off x="335141" y="6266414"/>
            <a:ext cx="143327" cy="141037"/>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solidFill>
                <a:schemeClr val="bg1"/>
              </a:solidFill>
            </a:endParaRPr>
          </a:p>
        </p:txBody>
      </p:sp>
      <p:sp>
        <p:nvSpPr>
          <p:cNvPr id="11" name="TextBox 10">
            <a:extLst>
              <a:ext uri="{FF2B5EF4-FFF2-40B4-BE49-F238E27FC236}">
                <a16:creationId xmlns:a16="http://schemas.microsoft.com/office/drawing/2014/main" id="{77D736F1-6509-4218-9241-46EC0A7A35B3}"/>
              </a:ext>
            </a:extLst>
          </p:cNvPr>
          <p:cNvSpPr txBox="1"/>
          <p:nvPr userDrawn="1"/>
        </p:nvSpPr>
        <p:spPr>
          <a:xfrm>
            <a:off x="592915" y="6448367"/>
            <a:ext cx="4808534" cy="384721"/>
          </a:xfrm>
          <a:prstGeom prst="rect">
            <a:avLst/>
          </a:prstGeom>
          <a:noFill/>
        </p:spPr>
        <p:txBody>
          <a:bodyPr vert="horz" wrap="square" lIns="0" tIns="0" rIns="0" bIns="0" rtlCol="0">
            <a:spAutoFit/>
          </a:bodyPr>
          <a:lstStyle/>
          <a:p>
            <a:pPr defTabSz="457189"/>
            <a:r>
              <a:rPr lang="en-US" sz="1400" spc="50" dirty="0">
                <a:solidFill>
                  <a:prstClr val="white"/>
                </a:solidFill>
                <a:latin typeface="+mn-lt"/>
                <a:ea typeface="Intel Clear" panose="020B0604020203020204" pitchFamily="34" charset="0"/>
                <a:cs typeface="Intel Clear" panose="020B0604020203020204" pitchFamily="34" charset="0"/>
              </a:rPr>
              <a:t>Manufacturing and Product Engineering (MPE)</a:t>
            </a:r>
            <a:endParaRPr lang="en-US" sz="1400" dirty="0">
              <a:solidFill>
                <a:prstClr val="white"/>
              </a:solidFill>
              <a:latin typeface="+mn-lt"/>
              <a:ea typeface="Intel Clear Pro" panose="020B0804020202060201" pitchFamily="34" charset="0"/>
              <a:cs typeface="Intel Clear Pro" panose="020B0804020202060201" pitchFamily="34" charset="0"/>
            </a:endParaRPr>
          </a:p>
          <a:p>
            <a:pPr defTabSz="457189">
              <a:defRPr/>
            </a:pPr>
            <a:r>
              <a:rPr lang="en-US" sz="1100" b="0" i="1" dirty="0">
                <a:solidFill>
                  <a:prstClr val="white"/>
                </a:solidFill>
                <a:ea typeface="Intel Clear" panose="020B0604020203020204" pitchFamily="34" charset="0"/>
              </a:rPr>
              <a:t>Making Manufacturing Development a Competitive Advantage</a:t>
            </a:r>
            <a:endParaRPr lang="en-US" sz="1100" b="0" i="1" dirty="0">
              <a:solidFill>
                <a:prstClr val="white"/>
              </a:solidFill>
            </a:endParaRPr>
          </a:p>
        </p:txBody>
      </p:sp>
      <p:sp>
        <p:nvSpPr>
          <p:cNvPr id="12" name="Rectangle 11">
            <a:extLst>
              <a:ext uri="{FF2B5EF4-FFF2-40B4-BE49-F238E27FC236}">
                <a16:creationId xmlns:a16="http://schemas.microsoft.com/office/drawing/2014/main" id="{1FFE20E4-DFB3-4767-BE54-535259926CFA}"/>
              </a:ext>
            </a:extLst>
          </p:cNvPr>
          <p:cNvSpPr/>
          <p:nvPr userDrawn="1"/>
        </p:nvSpPr>
        <p:spPr>
          <a:xfrm>
            <a:off x="5040266" y="6533219"/>
            <a:ext cx="2111476" cy="246221"/>
          </a:xfrm>
          <a:prstGeom prst="rect">
            <a:avLst/>
          </a:prstGeom>
        </p:spPr>
        <p:txBody>
          <a:bodyPr wrap="none">
            <a:spAutoFit/>
          </a:bodyPr>
          <a:lstStyle/>
          <a:p>
            <a:pPr algn="ctr"/>
            <a:r>
              <a:rPr lang="en-US" sz="1000" dirty="0">
                <a:solidFill>
                  <a:schemeClr val="bg1"/>
                </a:solidFill>
              </a:rPr>
              <a:t>Intel Confidential | Internal Use Only</a:t>
            </a:r>
          </a:p>
        </p:txBody>
      </p:sp>
    </p:spTree>
    <p:extLst>
      <p:ext uri="{BB962C8B-B14F-4D97-AF65-F5344CB8AC3E}">
        <p14:creationId xmlns:p14="http://schemas.microsoft.com/office/powerpoint/2010/main" val="3006776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One Display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4425181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IntelOne Text" panose="020B0503020203020204" pitchFamily="34" charset="0"/>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3997878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IntelOne Text" panose="020B0503020203020204" pitchFamily="34" charset="0"/>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525490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4000">
                <a:solidFill>
                  <a:srgbClr val="525252"/>
                </a:solidFill>
              </a:defRPr>
            </a:lvl1pPr>
          </a:lstStyle>
          <a:p>
            <a:r>
              <a:rPr lang="en-US" dirty="0"/>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30193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image" Target="../media/image1.png"/><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6FFA20-7DFE-4CD9-AD99-847E40F8F0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B96D199-EB18-44EE-AA95-5939CC1260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993EC3E-4345-4508-BDC5-A5EB0F5387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53F182C-36BD-43F6-8BD2-3D684F74B7F8}" type="datetimeFigureOut">
              <a:rPr lang="en-US" smtClean="0"/>
              <a:t>7/3/2022</a:t>
            </a:fld>
            <a:endParaRPr lang="en-US"/>
          </a:p>
        </p:txBody>
      </p:sp>
      <p:sp>
        <p:nvSpPr>
          <p:cNvPr id="5" name="Footer Placeholder 4">
            <a:extLst>
              <a:ext uri="{FF2B5EF4-FFF2-40B4-BE49-F238E27FC236}">
                <a16:creationId xmlns:a16="http://schemas.microsoft.com/office/drawing/2014/main" id="{E9CE83AB-D2BD-4238-8CBE-AD62F58C6A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943F2E-C9F0-484E-BCFE-410AEB53D7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5743BA9-0ED4-492F-900B-AE37AD137F0C}" type="slidenum">
              <a:rPr lang="en-US" smtClean="0"/>
              <a:t>‹#›</a:t>
            </a:fld>
            <a:endParaRPr lang="en-US"/>
          </a:p>
        </p:txBody>
      </p:sp>
    </p:spTree>
    <p:extLst>
      <p:ext uri="{BB962C8B-B14F-4D97-AF65-F5344CB8AC3E}">
        <p14:creationId xmlns:p14="http://schemas.microsoft.com/office/powerpoint/2010/main" val="20422793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9"/>
            <a:ext cx="109728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2"/>
            <a:ext cx="2844800" cy="365125"/>
          </a:xfrm>
          <a:prstGeom prst="rect">
            <a:avLst/>
          </a:prstGeom>
        </p:spPr>
        <p:txBody>
          <a:bodyPr vert="horz" wrap="square" lIns="91440" tIns="45720" rIns="91440" bIns="45720" numCol="1" anchor="ctr" anchorCtr="0" compatLnSpc="1">
            <a:prstTxWarp prst="textNoShape">
              <a:avLst/>
            </a:prstTxWarp>
          </a:bodyPr>
          <a:lstStyle>
            <a:lvl1pPr>
              <a:defRPr sz="1200" smtClean="0">
                <a:solidFill>
                  <a:srgbClr val="898989"/>
                </a:solidFill>
                <a:latin typeface="Calibri" pitchFamily="34" charset="0"/>
              </a:defRPr>
            </a:lvl1pPr>
          </a:lstStyle>
          <a:p>
            <a:pPr defTabSz="914377" fontAlgn="base">
              <a:spcBef>
                <a:spcPct val="0"/>
              </a:spcBef>
              <a:spcAft>
                <a:spcPct val="0"/>
              </a:spcAft>
              <a:defRPr/>
            </a:pPr>
            <a:fld id="{6A6DA64E-1F9A-4E00-8807-EE678821F5EA}" type="datetime1">
              <a:rPr lang="en-US">
                <a:cs typeface="Arial" charset="0"/>
              </a:rPr>
              <a:pPr defTabSz="914377" fontAlgn="base">
                <a:spcBef>
                  <a:spcPct val="0"/>
                </a:spcBef>
                <a:spcAft>
                  <a:spcPct val="0"/>
                </a:spcAft>
                <a:defRPr/>
              </a:pPr>
              <a:t>7/3/2022</a:t>
            </a:fld>
            <a:endParaRPr lang="en-US" dirty="0">
              <a:cs typeface="Arial" charset="0"/>
            </a:endParaRPr>
          </a:p>
        </p:txBody>
      </p:sp>
      <p:sp>
        <p:nvSpPr>
          <p:cNvPr id="5" name="Footer Placeholder 4"/>
          <p:cNvSpPr>
            <a:spLocks noGrp="1"/>
          </p:cNvSpPr>
          <p:nvPr>
            <p:ph type="ftr" sz="quarter" idx="3"/>
          </p:nvPr>
        </p:nvSpPr>
        <p:spPr>
          <a:xfrm>
            <a:off x="4165600" y="6356352"/>
            <a:ext cx="3860800" cy="365125"/>
          </a:xfrm>
          <a:prstGeom prst="rect">
            <a:avLst/>
          </a:prstGeom>
        </p:spPr>
        <p:txBody>
          <a:bodyPr vert="horz" wrap="square" lIns="91440" tIns="45720" rIns="91440" bIns="45720" numCol="1" anchor="ctr" anchorCtr="0" compatLnSpc="1">
            <a:prstTxWarp prst="textNoShape">
              <a:avLst/>
            </a:prstTxWarp>
          </a:bodyPr>
          <a:lstStyle>
            <a:lvl1pPr algn="ctr">
              <a:defRPr sz="1200" smtClean="0">
                <a:solidFill>
                  <a:srgbClr val="898989"/>
                </a:solidFill>
                <a:latin typeface="Calibri" pitchFamily="34" charset="0"/>
              </a:defRPr>
            </a:lvl1pPr>
          </a:lstStyle>
          <a:p>
            <a:pPr defTabSz="914377" fontAlgn="base">
              <a:spcBef>
                <a:spcPct val="0"/>
              </a:spcBef>
              <a:spcAft>
                <a:spcPct val="0"/>
              </a:spcAft>
              <a:defRPr/>
            </a:pPr>
            <a:r>
              <a:rPr lang="en-US">
                <a:cs typeface="Arial" charset="0"/>
              </a:rPr>
              <a:t>HW-QRC Rev 1.5</a:t>
            </a:r>
            <a:endParaRPr lang="en-US" dirty="0">
              <a:cs typeface="Arial" charset="0"/>
            </a:endParaRPr>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200">
                <a:solidFill>
                  <a:prstClr val="black">
                    <a:tint val="75000"/>
                  </a:prstClr>
                </a:solidFill>
                <a:latin typeface="+mn-lt"/>
                <a:cs typeface="+mn-cs"/>
              </a:defRPr>
            </a:lvl1pPr>
          </a:lstStyle>
          <a:p>
            <a:pPr defTabSz="914377">
              <a:defRPr/>
            </a:pPr>
            <a:fld id="{99F84910-367D-4036-8F5F-48C0DD877B22}" type="slidenum">
              <a:rPr lang="en-US" smtClean="0"/>
              <a:pPr defTabSz="914377">
                <a:defRPr/>
              </a:pPr>
              <a:t>‹#›</a:t>
            </a:fld>
            <a:endParaRPr lang="en-US" dirty="0"/>
          </a:p>
        </p:txBody>
      </p:sp>
    </p:spTree>
    <p:extLst>
      <p:ext uri="{BB962C8B-B14F-4D97-AF65-F5344CB8AC3E}">
        <p14:creationId xmlns:p14="http://schemas.microsoft.com/office/powerpoint/2010/main" val="1741150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hf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189" algn="ctr" rtl="0" fontAlgn="base">
        <a:spcBef>
          <a:spcPct val="0"/>
        </a:spcBef>
        <a:spcAft>
          <a:spcPct val="0"/>
        </a:spcAft>
        <a:defRPr sz="4400">
          <a:solidFill>
            <a:schemeClr val="tx1"/>
          </a:solidFill>
          <a:latin typeface="Calibri" pitchFamily="34" charset="0"/>
        </a:defRPr>
      </a:lvl6pPr>
      <a:lvl7pPr marL="914377" algn="ctr" rtl="0" fontAlgn="base">
        <a:spcBef>
          <a:spcPct val="0"/>
        </a:spcBef>
        <a:spcAft>
          <a:spcPct val="0"/>
        </a:spcAft>
        <a:defRPr sz="4400">
          <a:solidFill>
            <a:schemeClr val="tx1"/>
          </a:solidFill>
          <a:latin typeface="Calibri" pitchFamily="34" charset="0"/>
        </a:defRPr>
      </a:lvl7pPr>
      <a:lvl8pPr marL="1371566" algn="ctr" rtl="0" fontAlgn="base">
        <a:spcBef>
          <a:spcPct val="0"/>
        </a:spcBef>
        <a:spcAft>
          <a:spcPct val="0"/>
        </a:spcAft>
        <a:defRPr sz="4400">
          <a:solidFill>
            <a:schemeClr val="tx1"/>
          </a:solidFill>
          <a:latin typeface="Calibri" pitchFamily="34" charset="0"/>
        </a:defRPr>
      </a:lvl8pPr>
      <a:lvl9pPr marL="1828754" algn="ctr" rtl="0" fontAlgn="base">
        <a:spcBef>
          <a:spcPct val="0"/>
        </a:spcBef>
        <a:spcAft>
          <a:spcPct val="0"/>
        </a:spcAft>
        <a:defRPr sz="4400">
          <a:solidFill>
            <a:schemeClr val="tx1"/>
          </a:solidFill>
          <a:latin typeface="Calibri" pitchFamily="34" charset="0"/>
        </a:defRPr>
      </a:lvl9pPr>
    </p:titleStyle>
    <p:bodyStyle>
      <a:lvl1pPr marL="342891" indent="-342891"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32" indent="-285744"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2971" indent="-228594"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160"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349" indent="-228594"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478468" y="6407451"/>
            <a:ext cx="11258519" cy="450549"/>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a:bodyPr>
          <a:lstStyle/>
          <a:p>
            <a:r>
              <a:rPr lang="en-US" dirty="0"/>
              <a:t>Body copy Intel One Text28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p>
            <a:r>
              <a:rPr lang="en-US" dirty="0"/>
              <a:t>40pt Intel One Display Light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040267" y="6533219"/>
            <a:ext cx="2111475" cy="230832"/>
          </a:xfrm>
          <a:prstGeom prst="rect">
            <a:avLst/>
          </a:prstGeom>
        </p:spPr>
        <p:txBody>
          <a:bodyPr wrap="none">
            <a:spAutoFit/>
          </a:bodyPr>
          <a:lstStyle/>
          <a:p>
            <a:pPr algn="ctr"/>
            <a:r>
              <a:rPr lang="en-US" sz="900" dirty="0">
                <a:solidFill>
                  <a:schemeClr val="bg1"/>
                </a:solidFill>
                <a:latin typeface="IntelOne Text" panose="020B0503020203020204" pitchFamily="34" charset="0"/>
              </a:rPr>
              <a:t>Intel Confidential | Internal Use Only</a:t>
            </a:r>
          </a:p>
        </p:txBody>
      </p:sp>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dirty="0">
              <a:ln>
                <a:noFill/>
              </a:ln>
              <a:solidFill>
                <a:schemeClr val="bg2"/>
              </a:solidFill>
              <a:effectLst/>
              <a:uFillTx/>
              <a:latin typeface="+mn-lt"/>
              <a:ea typeface="+mn-ea"/>
              <a:cs typeface="+mn-cs"/>
              <a:sym typeface="Helvetica Neue"/>
            </a:endParaRPr>
          </a:p>
        </p:txBody>
      </p:sp>
      <p:sp>
        <p:nvSpPr>
          <p:cNvPr id="10" name="Rectangle">
            <a:extLst>
              <a:ext uri="{FF2B5EF4-FFF2-40B4-BE49-F238E27FC236}">
                <a16:creationId xmlns:a16="http://schemas.microsoft.com/office/drawing/2014/main" id="{640ED836-9E0C-4204-844E-E2CE6A738EEE}"/>
              </a:ext>
            </a:extLst>
          </p:cNvPr>
          <p:cNvSpPr/>
          <p:nvPr userDrawn="1"/>
        </p:nvSpPr>
        <p:spPr>
          <a:xfrm>
            <a:off x="335141" y="6266414"/>
            <a:ext cx="143327" cy="141037"/>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dirty="0">
              <a:solidFill>
                <a:schemeClr val="bg1"/>
              </a:solidFill>
            </a:endParaRPr>
          </a:p>
        </p:txBody>
      </p:sp>
      <p:grpSp>
        <p:nvGrpSpPr>
          <p:cNvPr id="8" name="Group 7">
            <a:extLst>
              <a:ext uri="{FF2B5EF4-FFF2-40B4-BE49-F238E27FC236}">
                <a16:creationId xmlns:a16="http://schemas.microsoft.com/office/drawing/2014/main" id="{91990DAE-EBB2-4849-9E2C-165F22D1DB67}"/>
              </a:ext>
            </a:extLst>
          </p:cNvPr>
          <p:cNvGrpSpPr/>
          <p:nvPr userDrawn="1"/>
        </p:nvGrpSpPr>
        <p:grpSpPr>
          <a:xfrm>
            <a:off x="11574310" y="155716"/>
            <a:ext cx="617689" cy="631291"/>
            <a:chOff x="11574310" y="155716"/>
            <a:chExt cx="617689" cy="631291"/>
          </a:xfrm>
        </p:grpSpPr>
        <p:sp>
          <p:nvSpPr>
            <p:cNvPr id="7" name="Rectangle 6">
              <a:extLst>
                <a:ext uri="{FF2B5EF4-FFF2-40B4-BE49-F238E27FC236}">
                  <a16:creationId xmlns:a16="http://schemas.microsoft.com/office/drawing/2014/main" id="{DBA66EC6-07D0-405C-831E-0ACD6A917D80}"/>
                </a:ext>
              </a:extLst>
            </p:cNvPr>
            <p:cNvSpPr/>
            <p:nvPr userDrawn="1"/>
          </p:nvSpPr>
          <p:spPr>
            <a:xfrm>
              <a:off x="11574310" y="155716"/>
              <a:ext cx="462562" cy="462562"/>
            </a:xfrm>
            <a:prstGeom prst="rect">
              <a:avLst/>
            </a:prstGeom>
            <a:solidFill>
              <a:schemeClr val="accent1">
                <a:alpha val="10000"/>
              </a:schemeClr>
            </a:solidFill>
            <a:ln w="12700">
              <a:miter lim="400000"/>
            </a:ln>
          </p:spPr>
          <p:txBody>
            <a:bodyPr lIns="0" tIns="0" rIns="0" bIns="0" rtlCol="0" anchor="ctr"/>
            <a:lstStyle/>
            <a:p>
              <a:pPr algn="ctr" defTabSz="412750">
                <a:lnSpc>
                  <a:spcPct val="100000"/>
                </a:lnSpc>
                <a:spcBef>
                  <a:spcPts val="0"/>
                </a:spcBef>
              </a:pPr>
              <a:endParaRPr lang="en-US" sz="1600" dirty="0">
                <a:solidFill>
                  <a:srgbClr val="FFFFFF"/>
                </a:solidFill>
                <a:latin typeface="+mj-lt"/>
                <a:ea typeface="Helvetica Neue Medium"/>
                <a:cs typeface="Helvetica Neue Medium"/>
                <a:sym typeface="Helvetica Neue Medium"/>
              </a:endParaRPr>
            </a:p>
          </p:txBody>
        </p:sp>
        <p:sp>
          <p:nvSpPr>
            <p:cNvPr id="13" name="Rectangle 12">
              <a:extLst>
                <a:ext uri="{FF2B5EF4-FFF2-40B4-BE49-F238E27FC236}">
                  <a16:creationId xmlns:a16="http://schemas.microsoft.com/office/drawing/2014/main" id="{9AEDE626-1C36-4422-9E30-8012124F8C04}"/>
                </a:ext>
              </a:extLst>
            </p:cNvPr>
            <p:cNvSpPr/>
            <p:nvPr userDrawn="1"/>
          </p:nvSpPr>
          <p:spPr>
            <a:xfrm>
              <a:off x="12023270" y="618278"/>
              <a:ext cx="168729" cy="168729"/>
            </a:xfrm>
            <a:prstGeom prst="rect">
              <a:avLst/>
            </a:prstGeom>
            <a:solidFill>
              <a:schemeClr val="accent1">
                <a:alpha val="23000"/>
              </a:schemeClr>
            </a:solidFill>
            <a:ln w="12700">
              <a:miter lim="400000"/>
            </a:ln>
          </p:spPr>
          <p:txBody>
            <a:bodyPr lIns="0" tIns="0" rIns="0" bIns="0" rtlCol="0" anchor="ctr"/>
            <a:lstStyle/>
            <a:p>
              <a:pPr algn="ctr" defTabSz="412750">
                <a:lnSpc>
                  <a:spcPct val="100000"/>
                </a:lnSpc>
                <a:spcBef>
                  <a:spcPts val="0"/>
                </a:spcBef>
              </a:pPr>
              <a:endParaRPr lang="en-US" sz="1600" dirty="0">
                <a:solidFill>
                  <a:srgbClr val="FFFFFF"/>
                </a:solidFill>
                <a:latin typeface="+mj-lt"/>
                <a:ea typeface="Helvetica Neue Medium"/>
                <a:cs typeface="Helvetica Neue Medium"/>
                <a:sym typeface="Helvetica Neue Medium"/>
              </a:endParaRPr>
            </a:p>
          </p:txBody>
        </p:sp>
      </p:grpSp>
      <p:grpSp>
        <p:nvGrpSpPr>
          <p:cNvPr id="14" name="Group 13">
            <a:extLst>
              <a:ext uri="{FF2B5EF4-FFF2-40B4-BE49-F238E27FC236}">
                <a16:creationId xmlns:a16="http://schemas.microsoft.com/office/drawing/2014/main" id="{35B23803-0300-45CD-A9DD-2819A4C8C104}"/>
              </a:ext>
            </a:extLst>
          </p:cNvPr>
          <p:cNvGrpSpPr/>
          <p:nvPr userDrawn="1"/>
        </p:nvGrpSpPr>
        <p:grpSpPr>
          <a:xfrm rot="10800000">
            <a:off x="-5601" y="0"/>
            <a:ext cx="617689" cy="631291"/>
            <a:chOff x="11574310" y="155716"/>
            <a:chExt cx="617689" cy="631291"/>
          </a:xfrm>
        </p:grpSpPr>
        <p:sp>
          <p:nvSpPr>
            <p:cNvPr id="15" name="Rectangle 14">
              <a:extLst>
                <a:ext uri="{FF2B5EF4-FFF2-40B4-BE49-F238E27FC236}">
                  <a16:creationId xmlns:a16="http://schemas.microsoft.com/office/drawing/2014/main" id="{B09A16B9-22C1-4F03-BBC8-4271C03E4672}"/>
                </a:ext>
              </a:extLst>
            </p:cNvPr>
            <p:cNvSpPr/>
            <p:nvPr userDrawn="1"/>
          </p:nvSpPr>
          <p:spPr>
            <a:xfrm>
              <a:off x="11574310" y="155716"/>
              <a:ext cx="462562" cy="462562"/>
            </a:xfrm>
            <a:prstGeom prst="rect">
              <a:avLst/>
            </a:prstGeom>
            <a:solidFill>
              <a:schemeClr val="accent4">
                <a:alpha val="10000"/>
              </a:schemeClr>
            </a:solidFill>
            <a:ln w="12700">
              <a:miter lim="400000"/>
            </a:ln>
          </p:spPr>
          <p:txBody>
            <a:bodyPr lIns="0" tIns="0" rIns="0" bIns="0" rtlCol="0" anchor="ctr"/>
            <a:lstStyle/>
            <a:p>
              <a:pPr algn="ctr" defTabSz="412750">
                <a:lnSpc>
                  <a:spcPct val="100000"/>
                </a:lnSpc>
                <a:spcBef>
                  <a:spcPts val="0"/>
                </a:spcBef>
              </a:pPr>
              <a:endParaRPr lang="en-US" sz="1600" dirty="0">
                <a:solidFill>
                  <a:srgbClr val="FFFFFF"/>
                </a:solidFill>
                <a:latin typeface="+mj-lt"/>
                <a:ea typeface="Helvetica Neue Medium"/>
                <a:cs typeface="Helvetica Neue Medium"/>
                <a:sym typeface="Helvetica Neue Medium"/>
              </a:endParaRPr>
            </a:p>
          </p:txBody>
        </p:sp>
        <p:sp>
          <p:nvSpPr>
            <p:cNvPr id="16" name="Rectangle 15">
              <a:extLst>
                <a:ext uri="{FF2B5EF4-FFF2-40B4-BE49-F238E27FC236}">
                  <a16:creationId xmlns:a16="http://schemas.microsoft.com/office/drawing/2014/main" id="{490D9B99-625B-4DE7-9292-5AB25DAF4B8C}"/>
                </a:ext>
              </a:extLst>
            </p:cNvPr>
            <p:cNvSpPr/>
            <p:nvPr userDrawn="1"/>
          </p:nvSpPr>
          <p:spPr>
            <a:xfrm>
              <a:off x="12023270" y="618278"/>
              <a:ext cx="168729" cy="168729"/>
            </a:xfrm>
            <a:prstGeom prst="rect">
              <a:avLst/>
            </a:prstGeom>
            <a:solidFill>
              <a:schemeClr val="accent4">
                <a:alpha val="23000"/>
              </a:schemeClr>
            </a:solidFill>
            <a:ln w="12700">
              <a:miter lim="400000"/>
            </a:ln>
          </p:spPr>
          <p:txBody>
            <a:bodyPr lIns="0" tIns="0" rIns="0" bIns="0" rtlCol="0" anchor="ctr"/>
            <a:lstStyle/>
            <a:p>
              <a:pPr algn="ctr" defTabSz="412750">
                <a:lnSpc>
                  <a:spcPct val="100000"/>
                </a:lnSpc>
                <a:spcBef>
                  <a:spcPts val="0"/>
                </a:spcBef>
              </a:pPr>
              <a:endParaRPr lang="en-US" sz="1600" dirty="0">
                <a:solidFill>
                  <a:srgbClr val="FFFFFF"/>
                </a:solidFill>
                <a:latin typeface="+mj-lt"/>
                <a:ea typeface="Helvetica Neue Medium"/>
                <a:cs typeface="Helvetica Neue Medium"/>
                <a:sym typeface="Helvetica Neue Medium"/>
              </a:endParaRPr>
            </a:p>
          </p:txBody>
        </p:sp>
      </p:grpSp>
      <p:pic>
        <p:nvPicPr>
          <p:cNvPr id="17" name="Image" descr="Image">
            <a:extLst>
              <a:ext uri="{FF2B5EF4-FFF2-40B4-BE49-F238E27FC236}">
                <a16:creationId xmlns:a16="http://schemas.microsoft.com/office/drawing/2014/main" id="{2DFAE57E-D078-4D78-838B-4961C2646598}"/>
              </a:ext>
            </a:extLst>
          </p:cNvPr>
          <p:cNvPicPr>
            <a:picLocks noChangeAspect="1"/>
          </p:cNvPicPr>
          <p:nvPr userDrawn="1"/>
        </p:nvPicPr>
        <p:blipFill>
          <a:blip r:embed="rId15"/>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5E55A005-1922-4F8F-B6DA-AB8E3D2A5868}"/>
              </a:ext>
            </a:extLst>
          </p:cNvPr>
          <p:cNvSpPr txBox="1"/>
          <p:nvPr userDrawn="1"/>
        </p:nvSpPr>
        <p:spPr>
          <a:xfrm>
            <a:off x="592915" y="6480266"/>
            <a:ext cx="4910615" cy="353943"/>
          </a:xfrm>
          <a:prstGeom prst="rect">
            <a:avLst/>
          </a:prstGeom>
          <a:noFill/>
        </p:spPr>
        <p:txBody>
          <a:bodyPr vert="horz" wrap="square" lIns="0" tIns="0" rIns="0" bIns="0" rtlCol="0">
            <a:spAutoFit/>
          </a:bodyPr>
          <a:lstStyle/>
          <a:p>
            <a:pPr defTabSz="457189"/>
            <a:r>
              <a:rPr lang="en-US" sz="1200" spc="50" dirty="0">
                <a:solidFill>
                  <a:prstClr val="white"/>
                </a:solidFill>
                <a:latin typeface="IntelOne Text" panose="020B0503020203020204" pitchFamily="34" charset="0"/>
                <a:ea typeface="Intel Clear" panose="020B0604020203020204" pitchFamily="34" charset="0"/>
                <a:cs typeface="Intel Clear" panose="020B0604020203020204" pitchFamily="34" charset="0"/>
              </a:rPr>
              <a:t>Manufacturing and Product Engineering (MPE)</a:t>
            </a:r>
            <a:endParaRPr lang="en-US" sz="1200" dirty="0">
              <a:solidFill>
                <a:prstClr val="white"/>
              </a:solidFill>
              <a:latin typeface="IntelOne Text" panose="020B0503020203020204" pitchFamily="34" charset="0"/>
              <a:ea typeface="Intel Clear Pro" panose="020B0804020202060201" pitchFamily="34" charset="0"/>
              <a:cs typeface="Intel Clear Pro" panose="020B0804020202060201" pitchFamily="34" charset="0"/>
            </a:endParaRPr>
          </a:p>
          <a:p>
            <a:pPr defTabSz="457189">
              <a:defRPr/>
            </a:pPr>
            <a:r>
              <a:rPr lang="en-US" sz="1050" b="0" i="1" dirty="0">
                <a:solidFill>
                  <a:prstClr val="white"/>
                </a:solidFill>
                <a:latin typeface="IntelOne Text" panose="020B0503020203020204" pitchFamily="34" charset="0"/>
                <a:ea typeface="Intel Clear" panose="020B0604020203020204" pitchFamily="34" charset="0"/>
              </a:rPr>
              <a:t>Making Manufacturing Development a Competitive Advantage</a:t>
            </a:r>
            <a:endParaRPr lang="en-US" sz="1050" b="0" i="1" dirty="0">
              <a:solidFill>
                <a:prstClr val="white"/>
              </a:solidFill>
              <a:latin typeface="IntelOne Text" panose="020B0503020203020204" pitchFamily="34" charset="0"/>
            </a:endParaRPr>
          </a:p>
        </p:txBody>
      </p:sp>
    </p:spTree>
    <p:extLst>
      <p:ext uri="{BB962C8B-B14F-4D97-AF65-F5344CB8AC3E}">
        <p14:creationId xmlns:p14="http://schemas.microsoft.com/office/powerpoint/2010/main" val="4213805077"/>
      </p:ext>
    </p:extLst>
  </p:cSld>
  <p:clrMap bg1="lt1" tx1="dk1" bg2="lt2" tx2="dk2" accent1="accent1" accent2="accent2" accent3="accent3" accent4="accent4" accent5="accent5" accent6="accent6" hlink="hlink" folHlink="folHlink"/>
  <p:sldLayoutIdLst>
    <p:sldLayoutId id="2147483668" r:id="rId1"/>
    <p:sldLayoutId id="2147483669" r:id="rId2"/>
    <p:sldLayoutId id="2147483670" r:id="rId3"/>
    <p:sldLayoutId id="2147483671" r:id="rId4"/>
    <p:sldLayoutId id="2147483672" r:id="rId5"/>
    <p:sldLayoutId id="2147483673" r:id="rId6"/>
    <p:sldLayoutId id="2147483674" r:id="rId7"/>
    <p:sldLayoutId id="2147483675" r:id="rId8"/>
    <p:sldLayoutId id="2147483676" r:id="rId9"/>
    <p:sldLayoutId id="2147483677" r:id="rId10"/>
    <p:sldLayoutId id="2147483678" r:id="rId11"/>
    <p:sldLayoutId id="2147483679" r:id="rId12"/>
    <p:sldLayoutId id="2147483680" r:id="rId13"/>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marL="0" marR="0" indent="0" algn="l" defTabSz="609600" eaLnBrk="1" latinLnBrk="0" hangingPunct="1">
        <a:lnSpc>
          <a:spcPct val="90000"/>
        </a:lnSpc>
        <a:spcBef>
          <a:spcPts val="0"/>
        </a:spcBef>
        <a:spcAft>
          <a:spcPts val="0"/>
        </a:spcAft>
        <a:buClrTx/>
        <a:buSzTx/>
        <a:buFontTx/>
        <a:buNone/>
        <a:tabLst/>
        <a:defRPr sz="4000" b="0" i="0" u="none" strike="noStrike" cap="none" spc="0" baseline="0">
          <a:solidFill>
            <a:schemeClr val="bg2"/>
          </a:solidFill>
          <a:uFillTx/>
          <a:latin typeface="+mn-lt"/>
          <a:ea typeface="Intel Clear Light" panose="020B0404020203020204" pitchFamily="34" charset="0"/>
          <a:cs typeface="Intel Clear Light" panose="020B0404020203020204" pitchFamily="34" charset="0"/>
          <a:sym typeface="Helvetica"/>
        </a:defRPr>
      </a:lvl1pPr>
      <a:lvl2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eaLnBrk="1" latinLnBrk="0" hangingPunct="1">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eaLnBrk="1" latinLnBrk="0" hangingPunct="1">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IntelOne Text" panose="020B0503020203020204" pitchFamily="34" charset="0"/>
          <a:ea typeface="Intel Clear Light" panose="020B0404020203020204" pitchFamily="34" charset="0"/>
          <a:cs typeface="Intel Clear Light" panose="020B0404020203020204" pitchFamily="34" charset="0"/>
          <a:sym typeface="Helvetica"/>
        </a:defRPr>
      </a:lvl1pPr>
      <a:lvl2pPr marL="431800" marR="0" indent="-203200" algn="l" defTabSz="609600" eaLnBrk="1" latinLnBrk="0" hangingPunct="1">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IntelOne Text" panose="020B0503020203020204" pitchFamily="34" charset="0"/>
          <a:ea typeface="Intel Clear Light" panose="020B0404020203020204" pitchFamily="34" charset="0"/>
          <a:cs typeface="Intel Clear Light" panose="020B0404020203020204" pitchFamily="34" charset="0"/>
          <a:sym typeface="Helvetica"/>
        </a:defRPr>
      </a:lvl2pPr>
      <a:lvl3pPr marL="686594" marR="0" indent="-197644"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One Text" panose="020B0503020203020204" pitchFamily="34" charset="0"/>
          <a:ea typeface="Intel Clear Light" panose="020B0404020203020204" pitchFamily="34" charset="0"/>
          <a:cs typeface="Intel Clear Light" panose="020B0404020203020204" pitchFamily="34" charset="0"/>
          <a:sym typeface="Helvetica"/>
        </a:defRPr>
      </a:lvl3pPr>
      <a:lvl4pPr marL="9199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IntelOne Text" panose="020B0503020203020204" pitchFamily="34" charset="0"/>
          <a:ea typeface="Intel Clear Light" panose="020B0404020203020204" pitchFamily="34" charset="0"/>
          <a:cs typeface="Intel Clear Light" panose="020B0404020203020204" pitchFamily="34" charset="0"/>
          <a:sym typeface="Helvetica"/>
        </a:defRPr>
      </a:lvl4pPr>
      <a:lvl5pPr marL="1148557" marR="0" indent="-228600" algn="l" defTabSz="609600" eaLnBrk="1" latinLnBrk="0" hangingPunct="1">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IntelOne Text" panose="020B0503020203020204" pitchFamily="34" charset="0"/>
          <a:ea typeface="Intel Clear Light" panose="020B0404020203020204" pitchFamily="34" charset="0"/>
          <a:cs typeface="Intel Clear Light" panose="020B0404020203020204" pitchFamily="34" charset="0"/>
          <a:sym typeface="Helvetica"/>
        </a:defRPr>
      </a:lvl5pPr>
      <a:lvl6pPr marL="0" marR="0" indent="5715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eaLnBrk="1" latinLnBrk="0" hangingPunct="1">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eaLnBrk="1" latinLnBrk="0" hangingPunct="1">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7.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notesSlide" Target="../notesSlides/notesSlide2.xml"/><Relationship Id="rId7" Type="http://schemas.openxmlformats.org/officeDocument/2006/relationships/diagramColors" Target="../diagrams/colors1.xml"/><Relationship Id="rId2" Type="http://schemas.openxmlformats.org/officeDocument/2006/relationships/slideLayout" Target="../slideLayouts/slideLayout27.xml"/><Relationship Id="rId1" Type="http://schemas.openxmlformats.org/officeDocument/2006/relationships/vmlDrawing" Target="../drawings/vmlDrawing1.vml"/><Relationship Id="rId6" Type="http://schemas.openxmlformats.org/officeDocument/2006/relationships/diagramQuickStyle" Target="../diagrams/quickStyle1.xml"/><Relationship Id="rId5" Type="http://schemas.openxmlformats.org/officeDocument/2006/relationships/diagramLayout" Target="../diagrams/layout1.xml"/><Relationship Id="rId10" Type="http://schemas.openxmlformats.org/officeDocument/2006/relationships/image" Target="../media/image6.emf"/><Relationship Id="rId4" Type="http://schemas.openxmlformats.org/officeDocument/2006/relationships/diagramData" Target="../diagrams/data1.xml"/><Relationship Id="rId9" Type="http://schemas.openxmlformats.org/officeDocument/2006/relationships/package" Target="../embeddings/Microsoft_Excel_Worksheet.xlsx"/></Relationships>
</file>

<file path=ppt/slides/_rels/slide3.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notesSlide" Target="../notesSlides/notesSlide3.xml"/><Relationship Id="rId7" Type="http://schemas.openxmlformats.org/officeDocument/2006/relationships/diagramColors" Target="../diagrams/colors2.xml"/><Relationship Id="rId2" Type="http://schemas.openxmlformats.org/officeDocument/2006/relationships/slideLayout" Target="../slideLayouts/slideLayout27.xml"/><Relationship Id="rId1" Type="http://schemas.openxmlformats.org/officeDocument/2006/relationships/vmlDrawing" Target="../drawings/vmlDrawing2.vml"/><Relationship Id="rId6" Type="http://schemas.openxmlformats.org/officeDocument/2006/relationships/diagramQuickStyle" Target="../diagrams/quickStyle2.xml"/><Relationship Id="rId5" Type="http://schemas.openxmlformats.org/officeDocument/2006/relationships/diagramLayout" Target="../diagrams/layout2.xml"/><Relationship Id="rId10" Type="http://schemas.openxmlformats.org/officeDocument/2006/relationships/image" Target="../media/image6.emf"/><Relationship Id="rId4" Type="http://schemas.openxmlformats.org/officeDocument/2006/relationships/diagramData" Target="../diagrams/data2.xml"/><Relationship Id="rId9" Type="http://schemas.openxmlformats.org/officeDocument/2006/relationships/package" Target="../embeddings/Microsoft_Excel_Worksheet1.xlsx"/></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75EFB9-508D-49FF-8DD0-69920E7D1446}"/>
              </a:ext>
            </a:extLst>
          </p:cNvPr>
          <p:cNvSpPr>
            <a:spLocks noGrp="1"/>
          </p:cNvSpPr>
          <p:nvPr>
            <p:ph type="title"/>
          </p:nvPr>
        </p:nvSpPr>
        <p:spPr>
          <a:xfrm>
            <a:off x="571370" y="133350"/>
            <a:ext cx="11010816" cy="476250"/>
          </a:xfrm>
        </p:spPr>
        <p:txBody>
          <a:bodyPr/>
          <a:lstStyle/>
          <a:p>
            <a:r>
              <a:rPr lang="en-US" dirty="0"/>
              <a:t>Pre-Si schedule</a:t>
            </a:r>
          </a:p>
        </p:txBody>
      </p:sp>
      <p:pic>
        <p:nvPicPr>
          <p:cNvPr id="9" name="Picture 8">
            <a:extLst>
              <a:ext uri="{FF2B5EF4-FFF2-40B4-BE49-F238E27FC236}">
                <a16:creationId xmlns:a16="http://schemas.microsoft.com/office/drawing/2014/main" id="{863A6B61-D2FE-4DBD-9B4A-DED66075E5BD}"/>
              </a:ext>
            </a:extLst>
          </p:cNvPr>
          <p:cNvPicPr>
            <a:picLocks noChangeAspect="1"/>
          </p:cNvPicPr>
          <p:nvPr/>
        </p:nvPicPr>
        <p:blipFill>
          <a:blip r:embed="rId3"/>
          <a:stretch>
            <a:fillRect/>
          </a:stretch>
        </p:blipFill>
        <p:spPr>
          <a:xfrm>
            <a:off x="609729" y="797264"/>
            <a:ext cx="11082085" cy="5436250"/>
          </a:xfrm>
          <a:prstGeom prst="rect">
            <a:avLst/>
          </a:prstGeom>
        </p:spPr>
      </p:pic>
    </p:spTree>
    <p:extLst>
      <p:ext uri="{BB962C8B-B14F-4D97-AF65-F5344CB8AC3E}">
        <p14:creationId xmlns:p14="http://schemas.microsoft.com/office/powerpoint/2010/main" val="15750182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3749-117A-4D8C-A409-D08857701CC0}"/>
              </a:ext>
            </a:extLst>
          </p:cNvPr>
          <p:cNvSpPr>
            <a:spLocks noGrp="1"/>
          </p:cNvSpPr>
          <p:nvPr>
            <p:ph type="title"/>
          </p:nvPr>
        </p:nvSpPr>
        <p:spPr>
          <a:xfrm>
            <a:off x="571286" y="117309"/>
            <a:ext cx="11010816" cy="952499"/>
          </a:xfrm>
        </p:spPr>
        <p:txBody>
          <a:bodyPr/>
          <a:lstStyle/>
          <a:p>
            <a:r>
              <a:rPr lang="en-US" dirty="0"/>
              <a:t>MFG MPE High Level Tasks </a:t>
            </a:r>
          </a:p>
        </p:txBody>
      </p:sp>
      <p:graphicFrame>
        <p:nvGraphicFramePr>
          <p:cNvPr id="4" name="Content Placeholder 3">
            <a:extLst>
              <a:ext uri="{FF2B5EF4-FFF2-40B4-BE49-F238E27FC236}">
                <a16:creationId xmlns:a16="http://schemas.microsoft.com/office/drawing/2014/main" id="{C7A6EBFA-B1CD-4BD8-A99B-741C00820F87}"/>
              </a:ext>
            </a:extLst>
          </p:cNvPr>
          <p:cNvGraphicFramePr>
            <a:graphicFrameLocks noGrp="1"/>
          </p:cNvGraphicFramePr>
          <p:nvPr>
            <p:ph sz="quarter" idx="28"/>
            <p:extLst>
              <p:ext uri="{D42A27DB-BD31-4B8C-83A1-F6EECF244321}">
                <p14:modId xmlns:p14="http://schemas.microsoft.com/office/powerpoint/2010/main" val="3589437069"/>
              </p:ext>
            </p:extLst>
          </p:nvPr>
        </p:nvGraphicFramePr>
        <p:xfrm>
          <a:off x="337292" y="117310"/>
          <a:ext cx="11883054" cy="24504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Rectangle: Rounded Corners 5">
            <a:extLst>
              <a:ext uri="{FF2B5EF4-FFF2-40B4-BE49-F238E27FC236}">
                <a16:creationId xmlns:a16="http://schemas.microsoft.com/office/drawing/2014/main" id="{D391F65B-CCAF-4288-9296-4D5080F2B2BE}"/>
              </a:ext>
            </a:extLst>
          </p:cNvPr>
          <p:cNvSpPr/>
          <p:nvPr/>
        </p:nvSpPr>
        <p:spPr>
          <a:xfrm>
            <a:off x="0" y="2676024"/>
            <a:ext cx="5757908" cy="928688"/>
          </a:xfrm>
          <a:prstGeom prst="roundRect">
            <a:avLst/>
          </a:prstGeom>
          <a:solidFill>
            <a:schemeClr val="accent6">
              <a:lumMod val="75000"/>
            </a:schemeClr>
          </a:solidFill>
          <a:ln w="28575" cap="flat" cmpd="sng" algn="ctr">
            <a:solidFill>
              <a:schemeClr val="accent2">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rPr>
              <a:t>50% HVM UM Validation completed.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rPr>
              <a:t>TVPV and TP Infrastructure ready to start 0p8. </a:t>
            </a:r>
          </a:p>
        </p:txBody>
      </p:sp>
      <p:sp>
        <p:nvSpPr>
          <p:cNvPr id="8" name="Rounded Rectangle 7">
            <a:extLst>
              <a:ext uri="{FF2B5EF4-FFF2-40B4-BE49-F238E27FC236}">
                <a16:creationId xmlns:a16="http://schemas.microsoft.com/office/drawing/2014/main" id="{CAD11AB5-39E8-4C88-BF8C-DD0A3DEB44F6}"/>
              </a:ext>
            </a:extLst>
          </p:cNvPr>
          <p:cNvSpPr/>
          <p:nvPr/>
        </p:nvSpPr>
        <p:spPr>
          <a:xfrm>
            <a:off x="0" y="3724965"/>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50% HVM usage model validation completed.</a:t>
            </a:r>
          </a:p>
        </p:txBody>
      </p:sp>
      <p:sp>
        <p:nvSpPr>
          <p:cNvPr id="9" name="Rounded Rectangle 7">
            <a:extLst>
              <a:ext uri="{FF2B5EF4-FFF2-40B4-BE49-F238E27FC236}">
                <a16:creationId xmlns:a16="http://schemas.microsoft.com/office/drawing/2014/main" id="{CEFED265-FCC8-4844-A68D-8F72D69E2FB3}"/>
              </a:ext>
            </a:extLst>
          </p:cNvPr>
          <p:cNvSpPr/>
          <p:nvPr/>
        </p:nvSpPr>
        <p:spPr>
          <a:xfrm>
            <a:off x="1989221" y="3724965"/>
            <a:ext cx="1836644" cy="924498"/>
          </a:xfrm>
          <a:prstGeom prst="rect">
            <a:avLst/>
          </a:prstGeom>
          <a:solidFill>
            <a:schemeClr val="bg2">
              <a:lumMod val="50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Full HVM reset passing with injections</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0" name="Rounded Rectangle 7">
            <a:extLst>
              <a:ext uri="{FF2B5EF4-FFF2-40B4-BE49-F238E27FC236}">
                <a16:creationId xmlns:a16="http://schemas.microsoft.com/office/drawing/2014/main" id="{62FB1EC4-3A9D-4731-9A62-62929629AA80}"/>
              </a:ext>
            </a:extLst>
          </p:cNvPr>
          <p:cNvSpPr/>
          <p:nvPr/>
        </p:nvSpPr>
        <p:spPr>
          <a:xfrm>
            <a:off x="0" y="4824413"/>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Emulation capability enabled/bring up</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1" name="Rounded Rectangle 7">
            <a:extLst>
              <a:ext uri="{FF2B5EF4-FFF2-40B4-BE49-F238E27FC236}">
                <a16:creationId xmlns:a16="http://schemas.microsoft.com/office/drawing/2014/main" id="{AFAD2995-CB8A-49B5-8BE5-0FDF9C9C5D82}"/>
              </a:ext>
            </a:extLst>
          </p:cNvPr>
          <p:cNvSpPr/>
          <p:nvPr/>
        </p:nvSpPr>
        <p:spPr>
          <a:xfrm>
            <a:off x="1989221" y="4824413"/>
            <a:ext cx="1836644" cy="924498"/>
          </a:xfrm>
          <a:prstGeom prst="rect">
            <a:avLst/>
          </a:prstGeom>
          <a:solidFill>
            <a:schemeClr val="tx1">
              <a:lumMod val="85000"/>
              <a:lumOff val="15000"/>
            </a:schemeClr>
          </a:solidFill>
          <a:ln w="28575">
            <a:solidFill>
              <a:schemeClr val="accent2">
                <a:lumMod val="50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Strategies defined for Die Recovery, UPS, Qual</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2" name="Rounded Rectangle 7">
            <a:extLst>
              <a:ext uri="{FF2B5EF4-FFF2-40B4-BE49-F238E27FC236}">
                <a16:creationId xmlns:a16="http://schemas.microsoft.com/office/drawing/2014/main" id="{D37B698C-EBE1-45AA-9EF1-E14329C25155}"/>
              </a:ext>
            </a:extLst>
          </p:cNvPr>
          <p:cNvSpPr/>
          <p:nvPr/>
        </p:nvSpPr>
        <p:spPr>
          <a:xfrm>
            <a:off x="0"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MTL/GRR/GNR Learnings incorporated</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2" name="Rounded Rectangle 7">
            <a:extLst>
              <a:ext uri="{FF2B5EF4-FFF2-40B4-BE49-F238E27FC236}">
                <a16:creationId xmlns:a16="http://schemas.microsoft.com/office/drawing/2014/main" id="{5340927D-9B06-425D-91E4-896111321CC1}"/>
              </a:ext>
            </a:extLst>
          </p:cNvPr>
          <p:cNvSpPr/>
          <p:nvPr/>
        </p:nvSpPr>
        <p:spPr>
          <a:xfrm>
            <a:off x="1989221"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PPV content 100k/10k reviewed</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 </a:t>
            </a:r>
          </a:p>
        </p:txBody>
      </p:sp>
      <p:sp>
        <p:nvSpPr>
          <p:cNvPr id="24" name="Rounded Rectangle 7">
            <a:extLst>
              <a:ext uri="{FF2B5EF4-FFF2-40B4-BE49-F238E27FC236}">
                <a16:creationId xmlns:a16="http://schemas.microsoft.com/office/drawing/2014/main" id="{CBAF3DE5-C916-489D-9BF4-117C67EF5DE1}"/>
              </a:ext>
            </a:extLst>
          </p:cNvPr>
          <p:cNvSpPr/>
          <p:nvPr/>
        </p:nvSpPr>
        <p:spPr>
          <a:xfrm>
            <a:off x="3969631" y="4830196"/>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Audit SRF pin map for TIU reuse</a:t>
            </a:r>
          </a:p>
        </p:txBody>
      </p:sp>
      <p:sp>
        <p:nvSpPr>
          <p:cNvPr id="26" name="Rounded Rectangle 7">
            <a:extLst>
              <a:ext uri="{FF2B5EF4-FFF2-40B4-BE49-F238E27FC236}">
                <a16:creationId xmlns:a16="http://schemas.microsoft.com/office/drawing/2014/main" id="{14124025-CE39-47EA-95BB-EF1098B98FD3}"/>
              </a:ext>
            </a:extLst>
          </p:cNvPr>
          <p:cNvSpPr/>
          <p:nvPr/>
        </p:nvSpPr>
        <p:spPr>
          <a:xfrm>
            <a:off x="3961477" y="3712220"/>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TVPV infrastructure ready to support HVM content conversion</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7" name="Rounded Rectangle 7">
            <a:extLst>
              <a:ext uri="{FF2B5EF4-FFF2-40B4-BE49-F238E27FC236}">
                <a16:creationId xmlns:a16="http://schemas.microsoft.com/office/drawing/2014/main" id="{8723D4CD-F030-4BDB-AC40-A7300D6468CE}"/>
              </a:ext>
            </a:extLst>
          </p:cNvPr>
          <p:cNvSpPr/>
          <p:nvPr/>
        </p:nvSpPr>
        <p:spPr>
          <a:xfrm>
            <a:off x="3969631"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TP development infra ready</a:t>
            </a:r>
          </a:p>
        </p:txBody>
      </p:sp>
      <p:graphicFrame>
        <p:nvGraphicFramePr>
          <p:cNvPr id="3" name="Object 2">
            <a:extLst>
              <a:ext uri="{FF2B5EF4-FFF2-40B4-BE49-F238E27FC236}">
                <a16:creationId xmlns:a16="http://schemas.microsoft.com/office/drawing/2014/main" id="{96568C1D-7A36-4F44-85BD-D4AC174CC76A}"/>
              </a:ext>
            </a:extLst>
          </p:cNvPr>
          <p:cNvGraphicFramePr>
            <a:graphicFrameLocks noChangeAspect="1"/>
          </p:cNvGraphicFramePr>
          <p:nvPr/>
        </p:nvGraphicFramePr>
        <p:xfrm>
          <a:off x="9361882" y="87622"/>
          <a:ext cx="914400" cy="771525"/>
        </p:xfrm>
        <a:graphic>
          <a:graphicData uri="http://schemas.openxmlformats.org/presentationml/2006/ole">
            <mc:AlternateContent xmlns:mc="http://schemas.openxmlformats.org/markup-compatibility/2006">
              <mc:Choice xmlns:v="urn:schemas-microsoft-com:vml" Requires="v">
                <p:oleObj spid="_x0000_s1026" name="Worksheet" showAsIcon="1" r:id="rId9" imgW="914400" imgH="771525" progId="Excel.Sheet.12">
                  <p:embed/>
                </p:oleObj>
              </mc:Choice>
              <mc:Fallback>
                <p:oleObj name="Worksheet" showAsIcon="1" r:id="rId9" imgW="914400" imgH="771525" progId="Excel.Sheet.12">
                  <p:embed/>
                  <p:pic>
                    <p:nvPicPr>
                      <p:cNvPr id="3" name="Object 2">
                        <a:extLst>
                          <a:ext uri="{FF2B5EF4-FFF2-40B4-BE49-F238E27FC236}">
                            <a16:creationId xmlns:a16="http://schemas.microsoft.com/office/drawing/2014/main" id="{96568C1D-7A36-4F44-85BD-D4AC174CC76A}"/>
                          </a:ext>
                        </a:extLst>
                      </p:cNvPr>
                      <p:cNvPicPr/>
                      <p:nvPr/>
                    </p:nvPicPr>
                    <p:blipFill>
                      <a:blip r:embed="rId10"/>
                      <a:stretch>
                        <a:fillRect/>
                      </a:stretch>
                    </p:blipFill>
                    <p:spPr>
                      <a:xfrm>
                        <a:off x="9361882" y="87622"/>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5276801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3749-117A-4D8C-A409-D08857701CC0}"/>
              </a:ext>
            </a:extLst>
          </p:cNvPr>
          <p:cNvSpPr>
            <a:spLocks noGrp="1"/>
          </p:cNvSpPr>
          <p:nvPr>
            <p:ph type="title"/>
          </p:nvPr>
        </p:nvSpPr>
        <p:spPr>
          <a:xfrm>
            <a:off x="571286" y="117309"/>
            <a:ext cx="11010816" cy="952499"/>
          </a:xfrm>
        </p:spPr>
        <p:txBody>
          <a:bodyPr/>
          <a:lstStyle/>
          <a:p>
            <a:r>
              <a:rPr lang="en-US" dirty="0"/>
              <a:t>MFG MPE High Level Tasks </a:t>
            </a:r>
          </a:p>
        </p:txBody>
      </p:sp>
      <p:graphicFrame>
        <p:nvGraphicFramePr>
          <p:cNvPr id="4" name="Content Placeholder 3">
            <a:extLst>
              <a:ext uri="{FF2B5EF4-FFF2-40B4-BE49-F238E27FC236}">
                <a16:creationId xmlns:a16="http://schemas.microsoft.com/office/drawing/2014/main" id="{C7A6EBFA-B1CD-4BD8-A99B-741C00820F87}"/>
              </a:ext>
            </a:extLst>
          </p:cNvPr>
          <p:cNvGraphicFramePr>
            <a:graphicFrameLocks noGrp="1"/>
          </p:cNvGraphicFramePr>
          <p:nvPr>
            <p:ph sz="quarter" idx="28"/>
            <p:extLst>
              <p:ext uri="{D42A27DB-BD31-4B8C-83A1-F6EECF244321}">
                <p14:modId xmlns:p14="http://schemas.microsoft.com/office/powerpoint/2010/main" val="4202797705"/>
              </p:ext>
            </p:extLst>
          </p:nvPr>
        </p:nvGraphicFramePr>
        <p:xfrm>
          <a:off x="337292" y="117310"/>
          <a:ext cx="11883054" cy="24504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Rectangle: Rounded Corners 4">
            <a:extLst>
              <a:ext uri="{FF2B5EF4-FFF2-40B4-BE49-F238E27FC236}">
                <a16:creationId xmlns:a16="http://schemas.microsoft.com/office/drawing/2014/main" id="{1E043FD5-A334-422E-9EE8-A05EB7E4ECF4}"/>
              </a:ext>
            </a:extLst>
          </p:cNvPr>
          <p:cNvSpPr/>
          <p:nvPr/>
        </p:nvSpPr>
        <p:spPr>
          <a:xfrm>
            <a:off x="5870391" y="2645656"/>
            <a:ext cx="304800" cy="4212344"/>
          </a:xfrm>
          <a:prstGeom prst="roundRect">
            <a:avLst/>
          </a:prstGeom>
          <a:solidFill>
            <a:schemeClr val="accent3">
              <a:lumMod val="75000"/>
            </a:schemeClr>
          </a:solidFill>
          <a:ln w="12700">
            <a:miter lim="400000"/>
          </a:ln>
        </p:spPr>
        <p:txBody>
          <a:bodyPr lIns="0" tIns="0" rIns="0" bIns="0" rtlCol="0" anchor="ctr"/>
          <a:lstStyle/>
          <a:p>
            <a:pPr marL="0" marR="0" lvl="0" indent="0" algn="ctr" defTabSz="4127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IntelOne Display Regular"/>
              <a:sym typeface="Helvetica Neue Medium"/>
            </a:endParaRPr>
          </a:p>
        </p:txBody>
      </p:sp>
      <p:sp>
        <p:nvSpPr>
          <p:cNvPr id="6" name="Rectangle: Rounded Corners 5">
            <a:extLst>
              <a:ext uri="{FF2B5EF4-FFF2-40B4-BE49-F238E27FC236}">
                <a16:creationId xmlns:a16="http://schemas.microsoft.com/office/drawing/2014/main" id="{D391F65B-CCAF-4288-9296-4D5080F2B2BE}"/>
              </a:ext>
            </a:extLst>
          </p:cNvPr>
          <p:cNvSpPr/>
          <p:nvPr/>
        </p:nvSpPr>
        <p:spPr>
          <a:xfrm>
            <a:off x="0" y="2676024"/>
            <a:ext cx="5757908" cy="928688"/>
          </a:xfrm>
          <a:prstGeom prst="roundRect">
            <a:avLst/>
          </a:prstGeom>
          <a:solidFill>
            <a:schemeClr val="accent6">
              <a:lumMod val="75000"/>
            </a:schemeClr>
          </a:solidFill>
          <a:ln w="28575" cap="flat" cmpd="sng" algn="ctr">
            <a:solidFill>
              <a:schemeClr val="accent2">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rPr>
              <a:t>50% HVM UM Validation completed.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rPr>
              <a:t>TVPV and TP Infrastructure ready to start 0p8. </a:t>
            </a:r>
          </a:p>
        </p:txBody>
      </p:sp>
      <p:sp>
        <p:nvSpPr>
          <p:cNvPr id="7" name="Rectangle: Rounded Corners 6">
            <a:extLst>
              <a:ext uri="{FF2B5EF4-FFF2-40B4-BE49-F238E27FC236}">
                <a16:creationId xmlns:a16="http://schemas.microsoft.com/office/drawing/2014/main" id="{F850BC69-AF35-4D2B-BC22-3D1DCA0D4464}"/>
              </a:ext>
            </a:extLst>
          </p:cNvPr>
          <p:cNvSpPr/>
          <p:nvPr/>
        </p:nvSpPr>
        <p:spPr>
          <a:xfrm>
            <a:off x="6223558" y="2676024"/>
            <a:ext cx="5996788" cy="928688"/>
          </a:xfrm>
          <a:prstGeom prst="roundRect">
            <a:avLst/>
          </a:prstGeom>
          <a:solidFill>
            <a:schemeClr val="accent2">
              <a:lumMod val="75000"/>
            </a:schemeClr>
          </a:solidFill>
          <a:ln w="28575" cap="flat" cmpd="sng" algn="ctr">
            <a:solidFill>
              <a:schemeClr val="accent6">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rPr>
              <a:t>90% HVM UM Validation completed. TVPV infrastructure exercised, and content integrated with Test Program. </a:t>
            </a:r>
          </a:p>
        </p:txBody>
      </p:sp>
      <p:sp>
        <p:nvSpPr>
          <p:cNvPr id="8" name="Rounded Rectangle 7">
            <a:extLst>
              <a:ext uri="{FF2B5EF4-FFF2-40B4-BE49-F238E27FC236}">
                <a16:creationId xmlns:a16="http://schemas.microsoft.com/office/drawing/2014/main" id="{CAD11AB5-39E8-4C88-BF8C-DD0A3DEB44F6}"/>
              </a:ext>
            </a:extLst>
          </p:cNvPr>
          <p:cNvSpPr/>
          <p:nvPr/>
        </p:nvSpPr>
        <p:spPr>
          <a:xfrm>
            <a:off x="0" y="3724965"/>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50% HVM usage model validation completed.</a:t>
            </a:r>
          </a:p>
        </p:txBody>
      </p:sp>
      <p:sp>
        <p:nvSpPr>
          <p:cNvPr id="9" name="Rounded Rectangle 7">
            <a:extLst>
              <a:ext uri="{FF2B5EF4-FFF2-40B4-BE49-F238E27FC236}">
                <a16:creationId xmlns:a16="http://schemas.microsoft.com/office/drawing/2014/main" id="{CEFED265-FCC8-4844-A68D-8F72D69E2FB3}"/>
              </a:ext>
            </a:extLst>
          </p:cNvPr>
          <p:cNvSpPr/>
          <p:nvPr/>
        </p:nvSpPr>
        <p:spPr>
          <a:xfrm>
            <a:off x="1989221" y="3724965"/>
            <a:ext cx="1836644" cy="924498"/>
          </a:xfrm>
          <a:prstGeom prst="rect">
            <a:avLst/>
          </a:prstGeom>
          <a:solidFill>
            <a:schemeClr val="bg2">
              <a:lumMod val="50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Full HVM reset passing with injections</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0" name="Rounded Rectangle 7">
            <a:extLst>
              <a:ext uri="{FF2B5EF4-FFF2-40B4-BE49-F238E27FC236}">
                <a16:creationId xmlns:a16="http://schemas.microsoft.com/office/drawing/2014/main" id="{62FB1EC4-3A9D-4731-9A62-62929629AA80}"/>
              </a:ext>
            </a:extLst>
          </p:cNvPr>
          <p:cNvSpPr/>
          <p:nvPr/>
        </p:nvSpPr>
        <p:spPr>
          <a:xfrm>
            <a:off x="0" y="4824413"/>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Emulation capability enabled/bring up</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1" name="Rounded Rectangle 7">
            <a:extLst>
              <a:ext uri="{FF2B5EF4-FFF2-40B4-BE49-F238E27FC236}">
                <a16:creationId xmlns:a16="http://schemas.microsoft.com/office/drawing/2014/main" id="{AFAD2995-CB8A-49B5-8BE5-0FDF9C9C5D82}"/>
              </a:ext>
            </a:extLst>
          </p:cNvPr>
          <p:cNvSpPr/>
          <p:nvPr/>
        </p:nvSpPr>
        <p:spPr>
          <a:xfrm>
            <a:off x="1989221" y="4824413"/>
            <a:ext cx="1836644" cy="924498"/>
          </a:xfrm>
          <a:prstGeom prst="rect">
            <a:avLst/>
          </a:prstGeom>
          <a:solidFill>
            <a:schemeClr val="tx1">
              <a:lumMod val="85000"/>
              <a:lumOff val="15000"/>
            </a:schemeClr>
          </a:solidFill>
          <a:ln w="28575">
            <a:solidFill>
              <a:schemeClr val="accent2">
                <a:lumMod val="50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Strategies defined for Die Recovery, UPS, Qual</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2" name="Rounded Rectangle 7">
            <a:extLst>
              <a:ext uri="{FF2B5EF4-FFF2-40B4-BE49-F238E27FC236}">
                <a16:creationId xmlns:a16="http://schemas.microsoft.com/office/drawing/2014/main" id="{D37B698C-EBE1-45AA-9EF1-E14329C25155}"/>
              </a:ext>
            </a:extLst>
          </p:cNvPr>
          <p:cNvSpPr/>
          <p:nvPr/>
        </p:nvSpPr>
        <p:spPr>
          <a:xfrm>
            <a:off x="0"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MTL/GRR/GNR Learnings incorporated</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3" name="Rounded Rectangle 7">
            <a:extLst>
              <a:ext uri="{FF2B5EF4-FFF2-40B4-BE49-F238E27FC236}">
                <a16:creationId xmlns:a16="http://schemas.microsoft.com/office/drawing/2014/main" id="{3DF7BE58-2131-46C0-B77D-94A7E10E52AE}"/>
              </a:ext>
            </a:extLst>
          </p:cNvPr>
          <p:cNvSpPr/>
          <p:nvPr/>
        </p:nvSpPr>
        <p:spPr>
          <a:xfrm>
            <a:off x="6223558" y="3713005"/>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9</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0% HVM usage model validation completed</a:t>
            </a:r>
          </a:p>
        </p:txBody>
      </p:sp>
      <p:sp>
        <p:nvSpPr>
          <p:cNvPr id="14" name="Rounded Rectangle 7">
            <a:extLst>
              <a:ext uri="{FF2B5EF4-FFF2-40B4-BE49-F238E27FC236}">
                <a16:creationId xmlns:a16="http://schemas.microsoft.com/office/drawing/2014/main" id="{CF1C011E-36FC-46FD-9F47-8B23BAD9DBED}"/>
              </a:ext>
            </a:extLst>
          </p:cNvPr>
          <p:cNvSpPr/>
          <p:nvPr/>
        </p:nvSpPr>
        <p:spPr>
          <a:xfrm>
            <a:off x="6247461" y="5862508"/>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SIU </a:t>
            </a:r>
            <a:r>
              <a:rPr kumimoji="0" lang="en-US" sz="1300" b="0" i="0" u="none" strike="noStrike" kern="0" cap="none" spc="0" normalizeH="0" baseline="0" noProof="0" dirty="0" err="1">
                <a:ln>
                  <a:noFill/>
                </a:ln>
                <a:solidFill>
                  <a:prstClr val="white"/>
                </a:solidFill>
                <a:effectLst>
                  <a:outerShdw blurRad="38100" dist="38100" dir="2700000" algn="tl">
                    <a:srgbClr val="000000">
                      <a:alpha val="43137"/>
                    </a:srgbClr>
                  </a:outerShdw>
                </a:effectLst>
                <a:uLnTx/>
                <a:uFillTx/>
                <a:latin typeface="Intel Clear"/>
                <a:ea typeface="+mn-ea"/>
                <a:cs typeface="+mn-cs"/>
              </a:rPr>
              <a:t>Tspec</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 submitted </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for SRF CDIE</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5" name="Rounded Rectangle 7">
            <a:extLst>
              <a:ext uri="{FF2B5EF4-FFF2-40B4-BE49-F238E27FC236}">
                <a16:creationId xmlns:a16="http://schemas.microsoft.com/office/drawing/2014/main" id="{9F94D7C9-05DD-455C-9777-2B531ACE4D4E}"/>
              </a:ext>
            </a:extLst>
          </p:cNvPr>
          <p:cNvSpPr/>
          <p:nvPr/>
        </p:nvSpPr>
        <p:spPr>
          <a:xfrm>
            <a:off x="8267310" y="3713005"/>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Full HVM reset passing (injection less)</a:t>
            </a:r>
          </a:p>
        </p:txBody>
      </p:sp>
      <p:sp>
        <p:nvSpPr>
          <p:cNvPr id="16" name="Rounded Rectangle 7">
            <a:extLst>
              <a:ext uri="{FF2B5EF4-FFF2-40B4-BE49-F238E27FC236}">
                <a16:creationId xmlns:a16="http://schemas.microsoft.com/office/drawing/2014/main" id="{D9238901-E110-466F-AA9B-E959AB085203}"/>
              </a:ext>
            </a:extLst>
          </p:cNvPr>
          <p:cNvSpPr/>
          <p:nvPr/>
        </p:nvSpPr>
        <p:spPr>
          <a:xfrm>
            <a:off x="8303630" y="5865286"/>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PPV/CMV Python migration/scripting completed</a:t>
            </a:r>
          </a:p>
        </p:txBody>
      </p:sp>
      <p:sp>
        <p:nvSpPr>
          <p:cNvPr id="17" name="Rounded Rectangle 7">
            <a:extLst>
              <a:ext uri="{FF2B5EF4-FFF2-40B4-BE49-F238E27FC236}">
                <a16:creationId xmlns:a16="http://schemas.microsoft.com/office/drawing/2014/main" id="{A073DE75-44B8-4BBD-8239-1327291277FA}"/>
              </a:ext>
            </a:extLst>
          </p:cNvPr>
          <p:cNvSpPr/>
          <p:nvPr/>
        </p:nvSpPr>
        <p:spPr>
          <a:xfrm>
            <a:off x="6247461" y="4745796"/>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Run emulation on targeted breadth content</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9" name="Rounded Rectangle 7">
            <a:extLst>
              <a:ext uri="{FF2B5EF4-FFF2-40B4-BE49-F238E27FC236}">
                <a16:creationId xmlns:a16="http://schemas.microsoft.com/office/drawing/2014/main" id="{A488CD56-B7C7-4247-A0FD-75A71F32A2F6}"/>
              </a:ext>
            </a:extLst>
          </p:cNvPr>
          <p:cNvSpPr/>
          <p:nvPr/>
        </p:nvSpPr>
        <p:spPr>
          <a:xfrm>
            <a:off x="10278839" y="3712220"/>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All reset flavors passing in Sim/Emu</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0" name="Rounded Rectangle 7">
            <a:extLst>
              <a:ext uri="{FF2B5EF4-FFF2-40B4-BE49-F238E27FC236}">
                <a16:creationId xmlns:a16="http://schemas.microsoft.com/office/drawing/2014/main" id="{DEE411CF-DEE4-421C-864C-B02BE28F6072}"/>
              </a:ext>
            </a:extLst>
          </p:cNvPr>
          <p:cNvSpPr/>
          <p:nvPr/>
        </p:nvSpPr>
        <p:spPr>
          <a:xfrm>
            <a:off x="10278839" y="4766890"/>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err="1">
                <a:ln>
                  <a:noFill/>
                </a:ln>
                <a:solidFill>
                  <a:prstClr val="white"/>
                </a:solidFill>
                <a:effectLst>
                  <a:outerShdw blurRad="38100" dist="38100" dir="2700000" algn="tl">
                    <a:srgbClr val="000000">
                      <a:alpha val="43137"/>
                    </a:srgbClr>
                  </a:outerShdw>
                </a:effectLst>
                <a:uLnTx/>
                <a:uFillTx/>
                <a:latin typeface="Intel Clear"/>
                <a:ea typeface="+mn-ea"/>
                <a:cs typeface="+mn-cs"/>
              </a:rPr>
              <a:t>VTPSim</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 capability enabled</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2" name="Rounded Rectangle 7">
            <a:extLst>
              <a:ext uri="{FF2B5EF4-FFF2-40B4-BE49-F238E27FC236}">
                <a16:creationId xmlns:a16="http://schemas.microsoft.com/office/drawing/2014/main" id="{5340927D-9B06-425D-91E4-896111321CC1}"/>
              </a:ext>
            </a:extLst>
          </p:cNvPr>
          <p:cNvSpPr/>
          <p:nvPr/>
        </p:nvSpPr>
        <p:spPr>
          <a:xfrm>
            <a:off x="1989221"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PPV content 100k/10k reviewed</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 </a:t>
            </a:r>
          </a:p>
        </p:txBody>
      </p:sp>
      <p:sp>
        <p:nvSpPr>
          <p:cNvPr id="23" name="Rounded Rectangle 7">
            <a:extLst>
              <a:ext uri="{FF2B5EF4-FFF2-40B4-BE49-F238E27FC236}">
                <a16:creationId xmlns:a16="http://schemas.microsoft.com/office/drawing/2014/main" id="{8231EA65-F69B-47FD-BC25-89EBE41A335D}"/>
              </a:ext>
            </a:extLst>
          </p:cNvPr>
          <p:cNvSpPr/>
          <p:nvPr/>
        </p:nvSpPr>
        <p:spPr>
          <a:xfrm>
            <a:off x="10276282" y="5865286"/>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PPV Test Program development for HST/STHI</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4" name="Rounded Rectangle 7">
            <a:extLst>
              <a:ext uri="{FF2B5EF4-FFF2-40B4-BE49-F238E27FC236}">
                <a16:creationId xmlns:a16="http://schemas.microsoft.com/office/drawing/2014/main" id="{CBAF3DE5-C916-489D-9BF4-117C67EF5DE1}"/>
              </a:ext>
            </a:extLst>
          </p:cNvPr>
          <p:cNvSpPr/>
          <p:nvPr/>
        </p:nvSpPr>
        <p:spPr>
          <a:xfrm>
            <a:off x="3969631" y="4830196"/>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Audit SRF pin map for TIU reuse</a:t>
            </a:r>
          </a:p>
        </p:txBody>
      </p:sp>
      <p:sp>
        <p:nvSpPr>
          <p:cNvPr id="25" name="Rounded Rectangle 7">
            <a:extLst>
              <a:ext uri="{FF2B5EF4-FFF2-40B4-BE49-F238E27FC236}">
                <a16:creationId xmlns:a16="http://schemas.microsoft.com/office/drawing/2014/main" id="{66B0D0B7-B85E-4328-9B40-BBB6D922918C}"/>
              </a:ext>
            </a:extLst>
          </p:cNvPr>
          <p:cNvSpPr/>
          <p:nvPr/>
        </p:nvSpPr>
        <p:spPr>
          <a:xfrm>
            <a:off x="8303630" y="4776660"/>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Mock1 &amp; Mock2 Executed</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6" name="Rounded Rectangle 7">
            <a:extLst>
              <a:ext uri="{FF2B5EF4-FFF2-40B4-BE49-F238E27FC236}">
                <a16:creationId xmlns:a16="http://schemas.microsoft.com/office/drawing/2014/main" id="{14124025-CE39-47EA-95BB-EF1098B98FD3}"/>
              </a:ext>
            </a:extLst>
          </p:cNvPr>
          <p:cNvSpPr/>
          <p:nvPr/>
        </p:nvSpPr>
        <p:spPr>
          <a:xfrm>
            <a:off x="3961477" y="3712220"/>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TVPV infrastructure ready to support HVM content conversion</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7" name="Rounded Rectangle 7">
            <a:extLst>
              <a:ext uri="{FF2B5EF4-FFF2-40B4-BE49-F238E27FC236}">
                <a16:creationId xmlns:a16="http://schemas.microsoft.com/office/drawing/2014/main" id="{8723D4CD-F030-4BDB-AC40-A7300D6468CE}"/>
              </a:ext>
            </a:extLst>
          </p:cNvPr>
          <p:cNvSpPr/>
          <p:nvPr/>
        </p:nvSpPr>
        <p:spPr>
          <a:xfrm>
            <a:off x="3969631"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TP development infra ready</a:t>
            </a:r>
          </a:p>
        </p:txBody>
      </p:sp>
      <p:graphicFrame>
        <p:nvGraphicFramePr>
          <p:cNvPr id="3" name="Object 2">
            <a:extLst>
              <a:ext uri="{FF2B5EF4-FFF2-40B4-BE49-F238E27FC236}">
                <a16:creationId xmlns:a16="http://schemas.microsoft.com/office/drawing/2014/main" id="{96568C1D-7A36-4F44-85BD-D4AC174CC76A}"/>
              </a:ext>
            </a:extLst>
          </p:cNvPr>
          <p:cNvGraphicFramePr>
            <a:graphicFrameLocks noChangeAspect="1"/>
          </p:cNvGraphicFramePr>
          <p:nvPr/>
        </p:nvGraphicFramePr>
        <p:xfrm>
          <a:off x="9361882" y="87622"/>
          <a:ext cx="914400" cy="771525"/>
        </p:xfrm>
        <a:graphic>
          <a:graphicData uri="http://schemas.openxmlformats.org/presentationml/2006/ole">
            <mc:AlternateContent xmlns:mc="http://schemas.openxmlformats.org/markup-compatibility/2006">
              <mc:Choice xmlns:v="urn:schemas-microsoft-com:vml" Requires="v">
                <p:oleObj spid="_x0000_s2050" name="Worksheet" showAsIcon="1" r:id="rId9" imgW="914400" imgH="771525" progId="Excel.Sheet.12">
                  <p:embed/>
                </p:oleObj>
              </mc:Choice>
              <mc:Fallback>
                <p:oleObj name="Worksheet" showAsIcon="1" r:id="rId9" imgW="914400" imgH="771525" progId="Excel.Sheet.12">
                  <p:embed/>
                  <p:pic>
                    <p:nvPicPr>
                      <p:cNvPr id="3" name="Object 2">
                        <a:extLst>
                          <a:ext uri="{FF2B5EF4-FFF2-40B4-BE49-F238E27FC236}">
                            <a16:creationId xmlns:a16="http://schemas.microsoft.com/office/drawing/2014/main" id="{96568C1D-7A36-4F44-85BD-D4AC174CC76A}"/>
                          </a:ext>
                        </a:extLst>
                      </p:cNvPr>
                      <p:cNvPicPr/>
                      <p:nvPr/>
                    </p:nvPicPr>
                    <p:blipFill>
                      <a:blip r:embed="rId10"/>
                      <a:stretch>
                        <a:fillRect/>
                      </a:stretch>
                    </p:blipFill>
                    <p:spPr>
                      <a:xfrm>
                        <a:off x="9361882" y="87622"/>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12127809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2B3749-117A-4D8C-A409-D08857701CC0}"/>
              </a:ext>
            </a:extLst>
          </p:cNvPr>
          <p:cNvSpPr>
            <a:spLocks noGrp="1"/>
          </p:cNvSpPr>
          <p:nvPr>
            <p:ph type="title"/>
          </p:nvPr>
        </p:nvSpPr>
        <p:spPr>
          <a:xfrm>
            <a:off x="571286" y="117309"/>
            <a:ext cx="11010816" cy="952499"/>
          </a:xfrm>
        </p:spPr>
        <p:txBody>
          <a:bodyPr/>
          <a:lstStyle/>
          <a:p>
            <a:r>
              <a:rPr lang="en-US" dirty="0"/>
              <a:t>MFG MPE High Level Tasks </a:t>
            </a:r>
          </a:p>
        </p:txBody>
      </p:sp>
      <p:graphicFrame>
        <p:nvGraphicFramePr>
          <p:cNvPr id="4" name="Content Placeholder 3">
            <a:extLst>
              <a:ext uri="{FF2B5EF4-FFF2-40B4-BE49-F238E27FC236}">
                <a16:creationId xmlns:a16="http://schemas.microsoft.com/office/drawing/2014/main" id="{C7A6EBFA-B1CD-4BD8-A99B-741C00820F87}"/>
              </a:ext>
            </a:extLst>
          </p:cNvPr>
          <p:cNvGraphicFramePr>
            <a:graphicFrameLocks noGrp="1"/>
          </p:cNvGraphicFramePr>
          <p:nvPr>
            <p:ph sz="quarter" idx="28"/>
          </p:nvPr>
        </p:nvGraphicFramePr>
        <p:xfrm>
          <a:off x="571286" y="117310"/>
          <a:ext cx="11010900" cy="245042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Rounded Corners 4">
            <a:extLst>
              <a:ext uri="{FF2B5EF4-FFF2-40B4-BE49-F238E27FC236}">
                <a16:creationId xmlns:a16="http://schemas.microsoft.com/office/drawing/2014/main" id="{1E043FD5-A334-422E-9EE8-A05EB7E4ECF4}"/>
              </a:ext>
            </a:extLst>
          </p:cNvPr>
          <p:cNvSpPr/>
          <p:nvPr/>
        </p:nvSpPr>
        <p:spPr>
          <a:xfrm>
            <a:off x="5870391" y="2645656"/>
            <a:ext cx="304800" cy="4212344"/>
          </a:xfrm>
          <a:prstGeom prst="roundRect">
            <a:avLst/>
          </a:prstGeom>
          <a:solidFill>
            <a:schemeClr val="accent3">
              <a:lumMod val="75000"/>
            </a:schemeClr>
          </a:solidFill>
          <a:ln w="12700">
            <a:miter lim="400000"/>
          </a:ln>
        </p:spPr>
        <p:txBody>
          <a:bodyPr lIns="0" tIns="0" rIns="0" bIns="0" rtlCol="0" anchor="ctr"/>
          <a:lstStyle/>
          <a:p>
            <a:pPr marL="0" marR="0" lvl="0" indent="0" algn="ctr" defTabSz="41275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IntelOne Display Regular"/>
              <a:ea typeface="Helvetica Neue Medium"/>
              <a:cs typeface="Helvetica Neue Medium"/>
              <a:sym typeface="Helvetica Neue Medium"/>
            </a:endParaRPr>
          </a:p>
        </p:txBody>
      </p:sp>
      <p:sp>
        <p:nvSpPr>
          <p:cNvPr id="6" name="Rectangle: Rounded Corners 5">
            <a:extLst>
              <a:ext uri="{FF2B5EF4-FFF2-40B4-BE49-F238E27FC236}">
                <a16:creationId xmlns:a16="http://schemas.microsoft.com/office/drawing/2014/main" id="{D391F65B-CCAF-4288-9296-4D5080F2B2BE}"/>
              </a:ext>
            </a:extLst>
          </p:cNvPr>
          <p:cNvSpPr/>
          <p:nvPr/>
        </p:nvSpPr>
        <p:spPr>
          <a:xfrm>
            <a:off x="0" y="2676024"/>
            <a:ext cx="5757908" cy="928688"/>
          </a:xfrm>
          <a:prstGeom prst="roundRect">
            <a:avLst/>
          </a:prstGeom>
          <a:solidFill>
            <a:schemeClr val="accent6">
              <a:lumMod val="75000"/>
            </a:schemeClr>
          </a:solidFill>
          <a:ln w="28575" cap="flat" cmpd="sng" algn="ctr">
            <a:solidFill>
              <a:schemeClr val="accent2">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rPr>
              <a:t>Full feature A0 Silicon, Content and Test Program (PRQ worthy)</a:t>
            </a:r>
            <a:endParaRPr kumimoji="0" lang="en-US" sz="1800" b="0" i="0" u="none" strike="noStrike" kern="0" cap="none" spc="0" normalizeH="0" baseline="0" noProof="0" dirty="0">
              <a:ln>
                <a:noFill/>
              </a:ln>
              <a:solidFill>
                <a:prstClr val="white"/>
              </a:solidFill>
              <a:effectLst/>
              <a:uLnTx/>
              <a:uFillTx/>
              <a:latin typeface="Intel Clear"/>
              <a:ea typeface="+mn-ea"/>
              <a:cs typeface="+mn-cs"/>
            </a:endParaRPr>
          </a:p>
        </p:txBody>
      </p:sp>
      <p:sp>
        <p:nvSpPr>
          <p:cNvPr id="7" name="Rectangle: Rounded Corners 6">
            <a:extLst>
              <a:ext uri="{FF2B5EF4-FFF2-40B4-BE49-F238E27FC236}">
                <a16:creationId xmlns:a16="http://schemas.microsoft.com/office/drawing/2014/main" id="{F850BC69-AF35-4D2B-BC22-3D1DCA0D4464}"/>
              </a:ext>
            </a:extLst>
          </p:cNvPr>
          <p:cNvSpPr/>
          <p:nvPr/>
        </p:nvSpPr>
        <p:spPr>
          <a:xfrm>
            <a:off x="6223558" y="2676024"/>
            <a:ext cx="5996788" cy="928688"/>
          </a:xfrm>
          <a:prstGeom prst="roundRect">
            <a:avLst/>
          </a:prstGeom>
          <a:solidFill>
            <a:schemeClr val="accent2">
              <a:lumMod val="75000"/>
            </a:schemeClr>
          </a:solidFill>
          <a:ln w="28575" cap="flat" cmpd="sng" algn="ctr">
            <a:solidFill>
              <a:schemeClr val="accent6">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prstClr val="white"/>
                </a:solidFill>
                <a:effectLst/>
                <a:uLnTx/>
                <a:uFillTx/>
                <a:latin typeface="Intel Clear"/>
                <a:ea typeface="+mn-ea"/>
                <a:cs typeface="+mn-cs"/>
              </a:rPr>
              <a:t>Be ready for PO (Final audits, offline Val learnings, Test Cell Validation)</a:t>
            </a:r>
          </a:p>
        </p:txBody>
      </p:sp>
      <p:sp>
        <p:nvSpPr>
          <p:cNvPr id="8" name="Rounded Rectangle 7">
            <a:extLst>
              <a:ext uri="{FF2B5EF4-FFF2-40B4-BE49-F238E27FC236}">
                <a16:creationId xmlns:a16="http://schemas.microsoft.com/office/drawing/2014/main" id="{CAD11AB5-39E8-4C88-BF8C-DD0A3DEB44F6}"/>
              </a:ext>
            </a:extLst>
          </p:cNvPr>
          <p:cNvSpPr/>
          <p:nvPr/>
        </p:nvSpPr>
        <p:spPr>
          <a:xfrm>
            <a:off x="0" y="3724965"/>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HVM DFT and content fully validated.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9" name="Rounded Rectangle 7">
            <a:extLst>
              <a:ext uri="{FF2B5EF4-FFF2-40B4-BE49-F238E27FC236}">
                <a16:creationId xmlns:a16="http://schemas.microsoft.com/office/drawing/2014/main" id="{CEFED265-FCC8-4844-A68D-8F72D69E2FB3}"/>
              </a:ext>
            </a:extLst>
          </p:cNvPr>
          <p:cNvSpPr/>
          <p:nvPr/>
        </p:nvSpPr>
        <p:spPr>
          <a:xfrm>
            <a:off x="1989221" y="3724965"/>
            <a:ext cx="1836644" cy="924498"/>
          </a:xfrm>
          <a:prstGeom prst="rect">
            <a:avLst/>
          </a:prstGeom>
          <a:solidFill>
            <a:schemeClr val="bg2">
              <a:lumMod val="50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Clean Content Gen Infra for Sort/Class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(VTPSIM/Emu)</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0" name="Rounded Rectangle 7">
            <a:extLst>
              <a:ext uri="{FF2B5EF4-FFF2-40B4-BE49-F238E27FC236}">
                <a16:creationId xmlns:a16="http://schemas.microsoft.com/office/drawing/2014/main" id="{62FB1EC4-3A9D-4731-9A62-62929629AA80}"/>
              </a:ext>
            </a:extLst>
          </p:cNvPr>
          <p:cNvSpPr/>
          <p:nvPr/>
        </p:nvSpPr>
        <p:spPr>
          <a:xfrm>
            <a:off x="0" y="4824413"/>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PO/VIS Sku Stack closure.</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1" name="Rounded Rectangle 7">
            <a:extLst>
              <a:ext uri="{FF2B5EF4-FFF2-40B4-BE49-F238E27FC236}">
                <a16:creationId xmlns:a16="http://schemas.microsoft.com/office/drawing/2014/main" id="{AFAD2995-CB8A-49B5-8BE5-0FDF9C9C5D82}"/>
              </a:ext>
            </a:extLst>
          </p:cNvPr>
          <p:cNvSpPr/>
          <p:nvPr/>
        </p:nvSpPr>
        <p:spPr>
          <a:xfrm>
            <a:off x="1989221" y="4824413"/>
            <a:ext cx="1836644" cy="924498"/>
          </a:xfrm>
          <a:prstGeom prst="rect">
            <a:avLst/>
          </a:prstGeom>
          <a:solidFill>
            <a:schemeClr val="tx1">
              <a:lumMod val="85000"/>
              <a:lumOff val="15000"/>
            </a:schemeClr>
          </a:solidFill>
          <a:ln w="28575">
            <a:solidFill>
              <a:schemeClr val="accent2">
                <a:lumMod val="50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Debug content validated (babysteps)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2" name="Rounded Rectangle 7">
            <a:extLst>
              <a:ext uri="{FF2B5EF4-FFF2-40B4-BE49-F238E27FC236}">
                <a16:creationId xmlns:a16="http://schemas.microsoft.com/office/drawing/2014/main" id="{D37B698C-EBE1-45AA-9EF1-E14329C25155}"/>
              </a:ext>
            </a:extLst>
          </p:cNvPr>
          <p:cNvSpPr/>
          <p:nvPr/>
        </p:nvSpPr>
        <p:spPr>
          <a:xfrm>
            <a:off x="0"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Plan B development and validation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What IF... (STF 400/200, SSN 200/100, Tap)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3" name="Rounded Rectangle 7">
            <a:extLst>
              <a:ext uri="{FF2B5EF4-FFF2-40B4-BE49-F238E27FC236}">
                <a16:creationId xmlns:a16="http://schemas.microsoft.com/office/drawing/2014/main" id="{3DF7BE58-2131-46C0-B77D-94A7E10E52AE}"/>
              </a:ext>
            </a:extLst>
          </p:cNvPr>
          <p:cNvSpPr/>
          <p:nvPr/>
        </p:nvSpPr>
        <p:spPr>
          <a:xfrm>
            <a:off x="6223558" y="3713005"/>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SIU/TIU/BIB Validation</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4" name="Rounded Rectangle 7">
            <a:extLst>
              <a:ext uri="{FF2B5EF4-FFF2-40B4-BE49-F238E27FC236}">
                <a16:creationId xmlns:a16="http://schemas.microsoft.com/office/drawing/2014/main" id="{CF1C011E-36FC-46FD-9F47-8B23BAD9DBED}"/>
              </a:ext>
            </a:extLst>
          </p:cNvPr>
          <p:cNvSpPr/>
          <p:nvPr/>
        </p:nvSpPr>
        <p:spPr>
          <a:xfrm>
            <a:off x="6223558" y="4772410"/>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PPV N-1 Pre PO</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5" name="Rounded Rectangle 7">
            <a:extLst>
              <a:ext uri="{FF2B5EF4-FFF2-40B4-BE49-F238E27FC236}">
                <a16:creationId xmlns:a16="http://schemas.microsoft.com/office/drawing/2014/main" id="{9F94D7C9-05DD-455C-9777-2B531ACE4D4E}"/>
              </a:ext>
            </a:extLst>
          </p:cNvPr>
          <p:cNvSpPr/>
          <p:nvPr/>
        </p:nvSpPr>
        <p:spPr>
          <a:xfrm>
            <a:off x="8267310" y="3713005"/>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100% Ready Sort/Class/HBI/PPV TP including content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6" name="Rounded Rectangle 7">
            <a:extLst>
              <a:ext uri="{FF2B5EF4-FFF2-40B4-BE49-F238E27FC236}">
                <a16:creationId xmlns:a16="http://schemas.microsoft.com/office/drawing/2014/main" id="{D9238901-E110-466F-AA9B-E959AB085203}"/>
              </a:ext>
            </a:extLst>
          </p:cNvPr>
          <p:cNvSpPr/>
          <p:nvPr/>
        </p:nvSpPr>
        <p:spPr>
          <a:xfrm>
            <a:off x="8267310" y="4772385"/>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PPV/CMV Python migration/Aguila/Test Cards POC 100% completed</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7" name="Rounded Rectangle 7">
            <a:extLst>
              <a:ext uri="{FF2B5EF4-FFF2-40B4-BE49-F238E27FC236}">
                <a16:creationId xmlns:a16="http://schemas.microsoft.com/office/drawing/2014/main" id="{A073DE75-44B8-4BBD-8239-1327291277FA}"/>
              </a:ext>
            </a:extLst>
          </p:cNvPr>
          <p:cNvSpPr/>
          <p:nvPr/>
        </p:nvSpPr>
        <p:spPr>
          <a:xfrm>
            <a:off x="6223558" y="5865286"/>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Test Cell Validation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Mechanical units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19" name="Rounded Rectangle 7">
            <a:extLst>
              <a:ext uri="{FF2B5EF4-FFF2-40B4-BE49-F238E27FC236}">
                <a16:creationId xmlns:a16="http://schemas.microsoft.com/office/drawing/2014/main" id="{A488CD56-B7C7-4247-A0FD-75A71F32A2F6}"/>
              </a:ext>
            </a:extLst>
          </p:cNvPr>
          <p:cNvSpPr/>
          <p:nvPr/>
        </p:nvSpPr>
        <p:spPr>
          <a:xfrm>
            <a:off x="10278839" y="3712220"/>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Automation for PO data analysis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0" name="Rounded Rectangle 7">
            <a:extLst>
              <a:ext uri="{FF2B5EF4-FFF2-40B4-BE49-F238E27FC236}">
                <a16:creationId xmlns:a16="http://schemas.microsoft.com/office/drawing/2014/main" id="{DEE411CF-DEE4-421C-864C-B02BE28F6072}"/>
              </a:ext>
            </a:extLst>
          </p:cNvPr>
          <p:cNvSpPr/>
          <p:nvPr/>
        </p:nvSpPr>
        <p:spPr>
          <a:xfrm>
            <a:off x="10278839" y="4766890"/>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Debug Tools/Flows Up and running.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(Redline, Blue</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line, MV, etc)</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2" name="Rounded Rectangle 7">
            <a:extLst>
              <a:ext uri="{FF2B5EF4-FFF2-40B4-BE49-F238E27FC236}">
                <a16:creationId xmlns:a16="http://schemas.microsoft.com/office/drawing/2014/main" id="{5340927D-9B06-425D-91E4-896111321CC1}"/>
              </a:ext>
            </a:extLst>
          </p:cNvPr>
          <p:cNvSpPr/>
          <p:nvPr/>
        </p:nvSpPr>
        <p:spPr>
          <a:xfrm>
            <a:off x="1989221"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Online (SPR/ICX)+ Offline </a:t>
            </a: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TP-Prime Code validation</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3" name="Rounded Rectangle 7">
            <a:extLst>
              <a:ext uri="{FF2B5EF4-FFF2-40B4-BE49-F238E27FC236}">
                <a16:creationId xmlns:a16="http://schemas.microsoft.com/office/drawing/2014/main" id="{8231EA65-F69B-47FD-BC25-89EBE41A335D}"/>
              </a:ext>
            </a:extLst>
          </p:cNvPr>
          <p:cNvSpPr/>
          <p:nvPr/>
        </p:nvSpPr>
        <p:spPr>
          <a:xfrm>
            <a:off x="10276282" y="5865286"/>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Handshake with databases (Midas, Brita, Aqua). HRY collateral and baseline stablish.</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4" name="Rounded Rectangle 7">
            <a:extLst>
              <a:ext uri="{FF2B5EF4-FFF2-40B4-BE49-F238E27FC236}">
                <a16:creationId xmlns:a16="http://schemas.microsoft.com/office/drawing/2014/main" id="{CBAF3DE5-C916-489D-9BF4-117C67EF5DE1}"/>
              </a:ext>
            </a:extLst>
          </p:cNvPr>
          <p:cNvSpPr/>
          <p:nvPr/>
        </p:nvSpPr>
        <p:spPr>
          <a:xfrm>
            <a:off x="3969631" y="4830196"/>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rPr>
              <a:t>MTL/7nm or SPR Learnings incorporated</a:t>
            </a: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5" name="Rounded Rectangle 7">
            <a:extLst>
              <a:ext uri="{FF2B5EF4-FFF2-40B4-BE49-F238E27FC236}">
                <a16:creationId xmlns:a16="http://schemas.microsoft.com/office/drawing/2014/main" id="{66B0D0B7-B85E-4328-9B40-BBB6D922918C}"/>
              </a:ext>
            </a:extLst>
          </p:cNvPr>
          <p:cNvSpPr/>
          <p:nvPr/>
        </p:nvSpPr>
        <p:spPr>
          <a:xfrm>
            <a:off x="8267310" y="5865286"/>
            <a:ext cx="1836644" cy="924498"/>
          </a:xfrm>
          <a:prstGeom prst="rect">
            <a:avLst/>
          </a:prstGeom>
          <a:solidFill>
            <a:schemeClr val="tx1">
              <a:lumMod val="85000"/>
              <a:lumOff val="15000"/>
            </a:schemeClr>
          </a:solidFill>
          <a:ln w="28575">
            <a:solidFill>
              <a:schemeClr val="accent6">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Audit</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6" name="Rounded Rectangle 7">
            <a:extLst>
              <a:ext uri="{FF2B5EF4-FFF2-40B4-BE49-F238E27FC236}">
                <a16:creationId xmlns:a16="http://schemas.microsoft.com/office/drawing/2014/main" id="{14124025-CE39-47EA-95BB-EF1098B98FD3}"/>
              </a:ext>
            </a:extLst>
          </p:cNvPr>
          <p:cNvSpPr/>
          <p:nvPr/>
        </p:nvSpPr>
        <p:spPr>
          <a:xfrm>
            <a:off x="3961477" y="3712220"/>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Prime Coding completed for all templates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
        <p:nvSpPr>
          <p:cNvPr id="27" name="Rounded Rectangle 7">
            <a:extLst>
              <a:ext uri="{FF2B5EF4-FFF2-40B4-BE49-F238E27FC236}">
                <a16:creationId xmlns:a16="http://schemas.microsoft.com/office/drawing/2014/main" id="{8723D4CD-F030-4BDB-AC40-A7300D6468CE}"/>
              </a:ext>
            </a:extLst>
          </p:cNvPr>
          <p:cNvSpPr/>
          <p:nvPr/>
        </p:nvSpPr>
        <p:spPr>
          <a:xfrm>
            <a:off x="3969631" y="5874608"/>
            <a:ext cx="1836644" cy="924498"/>
          </a:xfrm>
          <a:prstGeom prst="rect">
            <a:avLst/>
          </a:prstGeom>
          <a:solidFill>
            <a:schemeClr val="tx1">
              <a:lumMod val="85000"/>
              <a:lumOff val="15000"/>
            </a:schemeClr>
          </a:solidFill>
          <a:ln w="28575">
            <a:solidFill>
              <a:schemeClr val="accent2">
                <a:lumMod val="75000"/>
              </a:schemeClr>
            </a:solidFill>
          </a:ln>
          <a:effectLst>
            <a:outerShdw blurRad="57150" dist="19050" dir="5400000" algn="ctr" rotWithShape="0">
              <a:srgbClr val="000000">
                <a:alpha val="63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rPr>
              <a:t>Corner cases (HFM-LFM, PO Fuse String, BI cases)</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0" cap="none" spc="0" normalizeH="0" baseline="0" noProof="0" dirty="0">
              <a:ln>
                <a:noFill/>
              </a:ln>
              <a:solidFill>
                <a:prstClr val="white"/>
              </a:solidFill>
              <a:effectLst>
                <a:outerShdw blurRad="38100" dist="38100" dir="2700000" algn="tl">
                  <a:srgbClr val="000000">
                    <a:alpha val="43137"/>
                  </a:srgbClr>
                </a:outerShdw>
              </a:effectLst>
              <a:uLnTx/>
              <a:uFillTx/>
              <a:latin typeface="Intel Clear"/>
              <a:ea typeface="+mn-ea"/>
              <a:cs typeface="+mn-cs"/>
            </a:endParaRPr>
          </a:p>
        </p:txBody>
      </p:sp>
    </p:spTree>
    <p:extLst>
      <p:ext uri="{BB962C8B-B14F-4D97-AF65-F5344CB8AC3E}">
        <p14:creationId xmlns:p14="http://schemas.microsoft.com/office/powerpoint/2010/main" val="66147475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67969-0570-47AE-B234-3433A094CAF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60B90F-50EB-4487-8243-D3CBEC0B4C48}"/>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A1E27B42-F733-45C6-8907-F585F7ABA0E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106361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a:spLocks noChangeArrowheads="1"/>
          </p:cNvSpPr>
          <p:nvPr/>
        </p:nvSpPr>
        <p:spPr bwMode="auto">
          <a:xfrm>
            <a:off x="0" y="6581002"/>
            <a:ext cx="12192000" cy="276999"/>
          </a:xfrm>
          <a:prstGeom prst="rect">
            <a:avLst/>
          </a:prstGeom>
          <a:solidFill>
            <a:schemeClr val="tx1"/>
          </a:solidFill>
          <a:ln w="9525">
            <a:noFill/>
            <a:miter lim="800000"/>
            <a:headEnd/>
            <a:tailEnd/>
          </a:ln>
        </p:spPr>
        <p:txBody>
          <a:bodyPr wrap="square">
            <a:spAutoFit/>
          </a:bodyPr>
          <a:lstStyle/>
          <a:p>
            <a:pPr marL="0" marR="0" lvl="0" indent="0" algn="l" defTabSz="914377" rtl="0" eaLnBrk="1" fontAlgn="base" latinLnBrk="0" hangingPunct="1">
              <a:lnSpc>
                <a:spcPct val="100000"/>
              </a:lnSpc>
              <a:spcBef>
                <a:spcPct val="0"/>
              </a:spcBef>
              <a:spcAft>
                <a:spcPct val="0"/>
              </a:spcAft>
              <a:buClrTx/>
              <a:buSzTx/>
              <a:buFontTx/>
              <a:buNone/>
              <a:tabLst>
                <a:tab pos="5999013" algn="ctr"/>
                <a:tab pos="8918352" algn="r"/>
              </a:tabLst>
              <a:defRPr/>
            </a:pPr>
            <a:r>
              <a:rPr kumimoji="0" lang="en-US" sz="1200" b="1" i="0" u="none" strike="noStrike" kern="1200" cap="none" spc="0" normalizeH="0" baseline="0" noProof="0" dirty="0">
                <a:ln>
                  <a:noFill/>
                </a:ln>
                <a:solidFill>
                  <a:srgbClr val="FFFFFF"/>
                </a:solidFill>
                <a:effectLst/>
                <a:uLnTx/>
                <a:uFillTx/>
                <a:latin typeface="Intel Clear" panose="020B0604020203020204" pitchFamily="34" charset="0"/>
                <a:ea typeface="+mn-ea"/>
                <a:cs typeface="Arial" charset="0"/>
              </a:rPr>
              <a:t>	</a:t>
            </a:r>
            <a:r>
              <a:rPr kumimoji="0" lang="en-US" sz="1200" b="1" i="0" u="none" strike="noStrike" kern="1200" cap="none" spc="0" normalizeH="0" baseline="0" noProof="0" dirty="0">
                <a:ln>
                  <a:noFill/>
                </a:ln>
                <a:solidFill>
                  <a:srgbClr val="FFFF00"/>
                </a:solidFill>
                <a:effectLst/>
                <a:uLnTx/>
                <a:uFillTx/>
                <a:latin typeface="Intel Clear" panose="020B0604020203020204" pitchFamily="34" charset="0"/>
                <a:ea typeface="+mn-ea"/>
                <a:cs typeface="Arial" charset="0"/>
              </a:rPr>
              <a:t>References are in the Notes section of this slide</a:t>
            </a:r>
            <a:r>
              <a:rPr kumimoji="0" lang="en-US" sz="1200" b="1" i="0" u="none" strike="noStrike" kern="1200" cap="none" spc="0" normalizeH="0" baseline="0" noProof="0" dirty="0">
                <a:ln>
                  <a:noFill/>
                </a:ln>
                <a:solidFill>
                  <a:srgbClr val="FFFFFF"/>
                </a:solidFill>
                <a:effectLst/>
                <a:uLnTx/>
                <a:uFillTx/>
                <a:latin typeface="Intel Clear" panose="020B0604020203020204" pitchFamily="34" charset="0"/>
                <a:ea typeface="+mn-ea"/>
                <a:cs typeface="Arial" charset="0"/>
              </a:rPr>
              <a:t>	               	                Intel Confidential</a:t>
            </a:r>
          </a:p>
        </p:txBody>
      </p:sp>
      <p:sp>
        <p:nvSpPr>
          <p:cNvPr id="10" name="Footer Placeholder 9"/>
          <p:cNvSpPr>
            <a:spLocks noGrp="1"/>
          </p:cNvSpPr>
          <p:nvPr>
            <p:ph type="ftr" sz="quarter" idx="10"/>
          </p:nvPr>
        </p:nvSpPr>
        <p:spPr>
          <a:xfrm>
            <a:off x="0" y="6581002"/>
            <a:ext cx="2895600" cy="276999"/>
          </a:xfrm>
        </p:spPr>
        <p:txBody>
          <a:bodyPr rtlCol="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Intel Clear" panose="020B0604020203020204" pitchFamily="34" charset="0"/>
                <a:ea typeface="+mn-ea"/>
                <a:cs typeface="+mn-cs"/>
              </a:rPr>
              <a:t>UPLC 2.0</a:t>
            </a:r>
          </a:p>
        </p:txBody>
      </p:sp>
      <p:graphicFrame>
        <p:nvGraphicFramePr>
          <p:cNvPr id="6" name="Table 1"/>
          <p:cNvGraphicFramePr>
            <a:graphicFrameLocks noGrp="1"/>
          </p:cNvGraphicFramePr>
          <p:nvPr/>
        </p:nvGraphicFramePr>
        <p:xfrm>
          <a:off x="-10160" y="-52396"/>
          <a:ext cx="12192000" cy="6709751"/>
        </p:xfrm>
        <a:graphic>
          <a:graphicData uri="http://schemas.openxmlformats.org/drawingml/2006/table">
            <a:tbl>
              <a:tblPr firstRow="1" bandRow="1">
                <a:effectLst/>
                <a:tableStyleId>{5C22544A-7EE6-4342-B048-85BDC9FD1C3A}</a:tableStyleId>
              </a:tblPr>
              <a:tblGrid>
                <a:gridCol w="29718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362200">
                  <a:extLst>
                    <a:ext uri="{9D8B030D-6E8A-4147-A177-3AD203B41FA5}">
                      <a16:colId xmlns:a16="http://schemas.microsoft.com/office/drawing/2014/main" val="20003"/>
                    </a:ext>
                  </a:extLst>
                </a:gridCol>
                <a:gridCol w="1981200">
                  <a:extLst>
                    <a:ext uri="{9D8B030D-6E8A-4147-A177-3AD203B41FA5}">
                      <a16:colId xmlns:a16="http://schemas.microsoft.com/office/drawing/2014/main" val="20004"/>
                    </a:ext>
                  </a:extLst>
                </a:gridCol>
              </a:tblGrid>
              <a:tr h="315948">
                <a:tc gridSpan="5">
                  <a:txBody>
                    <a:bodyPr/>
                    <a:lstStyle/>
                    <a:p>
                      <a:pPr marL="0" marR="0" indent="0" algn="l" defTabSz="914400" rtl="0" eaLnBrk="1" fontAlgn="auto" latinLnBrk="0" hangingPunct="1">
                        <a:lnSpc>
                          <a:spcPct val="100000"/>
                        </a:lnSpc>
                        <a:spcBef>
                          <a:spcPts val="0"/>
                        </a:spcBef>
                        <a:spcAft>
                          <a:spcPts val="0"/>
                        </a:spcAft>
                        <a:buClrTx/>
                        <a:buSzTx/>
                        <a:buFontTx/>
                        <a:buNone/>
                        <a:tabLst>
                          <a:tab pos="12006263" algn="r"/>
                        </a:tabLst>
                        <a:defRPr/>
                      </a:pPr>
                      <a:r>
                        <a:rPr lang="en-US" sz="1500" b="1" i="1" kern="1200" noProof="0" dirty="0">
                          <a:solidFill>
                            <a:schemeClr val="bg1"/>
                          </a:solidFill>
                          <a:latin typeface="Intel Clear" panose="020B0604020203020204" pitchFamily="34" charset="0"/>
                          <a:ea typeface="Verdana" panose="020B0604030504040204" pitchFamily="34" charset="0"/>
                          <a:cs typeface="Verdana" panose="020B0604030504040204" pitchFamily="34" charset="0"/>
                        </a:rPr>
                        <a:t>HARDWARE COMPONENTS – Milestone Criteria</a:t>
                      </a:r>
                      <a:r>
                        <a:rPr lang="en-US" sz="1500" b="1" kern="1200" noProof="0" dirty="0">
                          <a:solidFill>
                            <a:schemeClr val="bg1"/>
                          </a:solidFill>
                          <a:latin typeface="Intel Clear" panose="020B0604020203020204" pitchFamily="34" charset="0"/>
                          <a:ea typeface="Verdana" panose="020B0604030504040204" pitchFamily="34" charset="0"/>
                          <a:cs typeface="Verdana" panose="020B0604030504040204" pitchFamily="34" charset="0"/>
                        </a:rPr>
                        <a:t>	</a:t>
                      </a:r>
                      <a:r>
                        <a:rPr lang="en-US" sz="1500" b="1" i="1" kern="1200" noProof="0" dirty="0">
                          <a:solidFill>
                            <a:schemeClr val="bg1"/>
                          </a:solidFill>
                          <a:latin typeface="Intel Clear" panose="020B0604020203020204" pitchFamily="34" charset="0"/>
                          <a:ea typeface="Verdana" panose="020B0604030504040204" pitchFamily="34" charset="0"/>
                          <a:cs typeface="Verdana" panose="020B0604030504040204" pitchFamily="34" charset="0"/>
                        </a:rPr>
                        <a:t>Intel Unified Quality Release Criteria (QRC)</a:t>
                      </a:r>
                    </a:p>
                  </a:txBody>
                  <a:tcPr marL="45720" marR="4572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tx1"/>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prstClr val="white"/>
                        </a:solidFill>
                        <a:effectLst/>
                        <a:uLnTx/>
                        <a:uFillTx/>
                        <a:latin typeface="Intel Clear" panose="020B0604020203020204" pitchFamily="34" charset="0"/>
                        <a:ea typeface="Verdana" panose="020B0604030504040204" pitchFamily="34" charset="0"/>
                        <a:cs typeface="Verdana" panose="020B060403050404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hMerge="1">
                  <a:txBody>
                    <a:bodyPr/>
                    <a:lstStyle/>
                    <a:p>
                      <a:endParaRPr lang="en-US"/>
                    </a:p>
                  </a:txBody>
                  <a:tcPr/>
                </a:tc>
                <a:tc hMerge="1">
                  <a:txBody>
                    <a:bodyPr/>
                    <a:lstStyle/>
                    <a:p>
                      <a:endParaRPr lang="en-US"/>
                    </a:p>
                  </a:txBody>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FFC000"/>
                        </a:solidFill>
                        <a:effectLst/>
                        <a:uLnTx/>
                        <a:uFillTx/>
                        <a:latin typeface="Intel Clear" panose="020B0604020203020204" pitchFamily="34" charset="0"/>
                        <a:ea typeface="Verdana" panose="020B0604030504040204" pitchFamily="34" charset="0"/>
                        <a:cs typeface="Verdana" panose="020B0604030504040204" pitchFamily="34" charset="0"/>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extLst>
                  <a:ext uri="{0D108BD9-81ED-4DB2-BD59-A6C34878D82A}">
                    <a16:rowId xmlns:a16="http://schemas.microsoft.com/office/drawing/2014/main" val="10000"/>
                  </a:ext>
                </a:extLst>
              </a:tr>
              <a:tr h="2287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chemeClr val="bg1"/>
                          </a:solidFill>
                          <a:effectLst/>
                          <a:uLnTx/>
                          <a:uFillTx/>
                          <a:latin typeface="Intel Clear" panose="020B0604020203020204" pitchFamily="34" charset="0"/>
                          <a:ea typeface="Verdana" panose="020B0604030504040204" pitchFamily="34" charset="0"/>
                          <a:cs typeface="Verdana" panose="020B0604030504040204" pitchFamily="34" charset="0"/>
                        </a:rPr>
                        <a:t>Vector</a:t>
                      </a:r>
                    </a:p>
                  </a:txBody>
                  <a:tcPr marL="45720" marR="4572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794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white"/>
                          </a:solidFill>
                          <a:effectLst/>
                          <a:uLnTx/>
                          <a:uFillTx/>
                          <a:latin typeface="Intel Clear" panose="020B0604020203020204" pitchFamily="34" charset="0"/>
                          <a:ea typeface="Verdana" panose="020B0604030504040204" pitchFamily="34" charset="0"/>
                          <a:cs typeface="Verdana" panose="020B0604030504040204" pitchFamily="34" charset="0"/>
                        </a:rPr>
                        <a:t>ES1</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794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white"/>
                          </a:solidFill>
                          <a:effectLst/>
                          <a:uLnTx/>
                          <a:uFillTx/>
                          <a:latin typeface="Intel Clear" panose="020B0604020203020204" pitchFamily="34" charset="0"/>
                          <a:ea typeface="Verdana" panose="020B0604030504040204" pitchFamily="34" charset="0"/>
                          <a:cs typeface="Verdana" panose="020B0604030504040204" pitchFamily="34" charset="0"/>
                        </a:rPr>
                        <a:t>ES2</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794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white"/>
                          </a:solidFill>
                          <a:effectLst/>
                          <a:uLnTx/>
                          <a:uFillTx/>
                          <a:latin typeface="Intel Clear" panose="020B0604020203020204" pitchFamily="34" charset="0"/>
                          <a:ea typeface="Verdana" panose="020B0604030504040204" pitchFamily="34" charset="0"/>
                          <a:cs typeface="Verdana" panose="020B0604030504040204" pitchFamily="34" charset="0"/>
                        </a:rPr>
                        <a:t>QS</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794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prstClr val="white"/>
                          </a:solidFill>
                          <a:effectLst/>
                          <a:uLnTx/>
                          <a:uFillTx/>
                          <a:latin typeface="Intel Clear" panose="020B0604020203020204" pitchFamily="34" charset="0"/>
                          <a:ea typeface="Verdana" panose="020B0604030504040204" pitchFamily="34" charset="0"/>
                          <a:cs typeface="Verdana" panose="020B0604030504040204" pitchFamily="34" charset="0"/>
                        </a:rPr>
                        <a:t>PRQ</a:t>
                      </a:r>
                    </a:p>
                  </a:txBody>
                  <a:tcPr marL="45720" marR="4572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82794A"/>
                    </a:solidFill>
                  </a:tcPr>
                </a:tc>
                <a:extLst>
                  <a:ext uri="{0D108BD9-81ED-4DB2-BD59-A6C34878D82A}">
                    <a16:rowId xmlns:a16="http://schemas.microsoft.com/office/drawing/2014/main" val="10001"/>
                  </a:ext>
                </a:extLst>
              </a:tr>
              <a:tr h="3704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REQUIREMENTS</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Requirements &amp; Change Control (POR and Landing Zone add, drop, &amp; KPI targets)</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gridSpan="3">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a:t>
                      </a:r>
                      <a:r>
                        <a:rPr lang="en-US" sz="1000" i="1"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platform visible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changes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approved by platform CCB</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PRT </a:t>
                      </a:r>
                      <a:r>
                        <a:rPr lang="en-US" sz="1000" i="1" u="none" strike="noStrik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and PSIRT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feedback formally dispositioned and requirements updated</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1</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marL="0" marR="0" indent="0" algn="ctr" defTabSz="914400" rtl="0" eaLnBrk="1" fontAlgn="auto" latinLnBrk="0" hangingPunct="1">
                        <a:lnSpc>
                          <a:spcPct val="100000"/>
                        </a:lnSpc>
                        <a:spcBef>
                          <a:spcPts val="0"/>
                        </a:spcBef>
                        <a:spcAft>
                          <a:spcPts val="0"/>
                        </a:spcAft>
                        <a:buClrTx/>
                        <a:buSzTx/>
                        <a:buFontTx/>
                        <a:buNone/>
                        <a:tabLst/>
                        <a:defRPr/>
                      </a:pPr>
                      <a:endPar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No requirement changes from QS</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PRT/</a:t>
                      </a:r>
                      <a:r>
                        <a:rPr lang="en-US" sz="1000" i="1" u="none" strike="noStrik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PSIRT</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feedback dispositioned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610106">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DEVELOPMENT COMPLETION</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Design, Feature, Configuration Completion, SKU readiness (Silicon, package, programmable logic &amp; reference code)</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i="1" u="none" spc="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Design complete: </a:t>
                      </a:r>
                      <a:r>
                        <a:rPr lang="en-US" sz="1000" i="1" u="none" spc="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No deferred IP/features, Final HW interfaces,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features, and all power management flows enabled and verified per POPL3/EC</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b="1"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Silicon &amp; FW/MCU Feature complete:</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Final package/module, All TTM Si/HW features enabled, Full speed IO,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TTM SKU’s defined and fusing tested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it-IT" sz="1000" b="1"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PRQ Candidate: </a:t>
                      </a:r>
                      <a:r>
                        <a:rPr lang="it-IT"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Silicon, Package, Module, MCU, MRC, &amp; other reference code.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Final configurations: All production fusing &amp; SKU’s verified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b="1" i="1"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Final</a:t>
                      </a:r>
                      <a:r>
                        <a:rPr lang="en-US" sz="1000" i="1"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programmable logic, FW and MCU/binaries. No customer visible HW change from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same SKU at </a:t>
                      </a:r>
                      <a:r>
                        <a:rPr lang="en-US" sz="1000" i="1"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QS. </a:t>
                      </a:r>
                      <a:r>
                        <a:rPr lang="en-US" sz="1000" b="0" i="1" kern="1200" noProof="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LTR checklist complete</a:t>
                      </a:r>
                      <a:r>
                        <a:rPr lang="en-US" sz="1000" b="0" i="1" kern="1200" baseline="30000" noProof="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2</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3704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COLLATERAL</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Design, Tool &amp; Optimization Guides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(Include EDS, PDG, Errata, Operating range limits)</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Design guides updated with post-silicon data and operating limits documented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Tool and optimization guidelines ready for release (EV, thermal, power, turbo)</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Final design, tool, &amp; optimization guides incorporate customer feedback</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No design collateral changes from QS, Errata finalized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68636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DEFECTS/BUGS</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Custo</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mer Impact assessment of ingredient defects</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Intel &amp; Customer Sighting Trends</a:t>
                      </a:r>
                      <a:endParaRPr lang="en-US" sz="1000" i="1" u="non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algn="ct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Do not prevent customer use of Alpha features, including all power mgmt. states. </a:t>
                      </a:r>
                    </a:p>
                    <a:p>
                      <a:pPr algn="ct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Record # by priority and total % open</a:t>
                      </a:r>
                      <a:r>
                        <a:rPr lang="en-US" sz="1000" i="1" kern="1200" baseline="300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3</a:t>
                      </a:r>
                      <a:endPar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Do not prevent use of all PRQ/PV features, or need customer HW change.</a:t>
                      </a:r>
                    </a:p>
                    <a:p>
                      <a:pPr marL="0" marR="0" algn="ctr">
                        <a:spcBef>
                          <a:spcPts val="0"/>
                        </a:spcBef>
                        <a:spcAft>
                          <a:spcPts val="0"/>
                        </a:spcAft>
                      </a:pPr>
                      <a:r>
                        <a:rPr lang="en-US" sz="1000" i="1" kern="12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Record # by priority and total % open</a:t>
                      </a:r>
                      <a:r>
                        <a:rPr lang="en-US" sz="1000" i="1" kern="1200" baseline="300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3</a:t>
                      </a:r>
                      <a:endParaRPr lang="en-US" sz="1100" baseline="30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algn="ctr">
                        <a:spcBef>
                          <a:spcPts val="0"/>
                        </a:spcBef>
                        <a:spcAft>
                          <a:spcPts val="0"/>
                        </a:spcAft>
                      </a:pPr>
                      <a:r>
                        <a:rPr lang="en-US" sz="1000" b="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sightings evaluated, PRQ gates have root cause &amp; proven mitigation</a:t>
                      </a:r>
                      <a:r>
                        <a:rPr lang="en-US" sz="1000" b="0" i="1" u="none" kern="1200" normalizeH="0" baseline="0" noProof="0" dirty="0">
                          <a:solidFill>
                            <a:schemeClr val="tx1"/>
                          </a:solidFill>
                          <a:effectLst/>
                          <a:latin typeface="Intel Clear" panose="020B0604020203020204" pitchFamily="34" charset="0"/>
                          <a:ea typeface="Verdana" panose="020B0604030504040204" pitchFamily="34" charset="0"/>
                          <a:cs typeface="Verdana" panose="020B0604030504040204" pitchFamily="34" charset="0"/>
                        </a:rPr>
                        <a:t>.</a:t>
                      </a:r>
                      <a:br>
                        <a:rPr lang="en-US" sz="1000" i="1" kern="12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br>
                      <a:r>
                        <a:rPr lang="en-US" sz="1000" i="1" kern="12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Record # by priority and total % open</a:t>
                      </a:r>
                      <a:r>
                        <a:rPr lang="en-US" sz="1000" i="1" kern="1200" baseline="300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3</a:t>
                      </a:r>
                      <a:endParaRPr lang="en-US" sz="1100" baseline="30000" dirty="0">
                        <a:solidFill>
                          <a:schemeClr val="tx1"/>
                        </a:solidFill>
                        <a:effectLst/>
                        <a:latin typeface="Calibri" panose="020F0502020204030204" pitchFamily="34" charset="0"/>
                        <a:ea typeface="Times New Roman" panose="02020603050405020304" pitchFamily="18" charset="0"/>
                        <a:cs typeface="Times New Roman" panose="02020603050405020304" pitchFamily="18"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00" i="1"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critical exposure &amp; must-fix/P1 </a:t>
                      </a:r>
                      <a:r>
                        <a:rPr lang="en-US" sz="1000" i="1"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sightings res</a:t>
                      </a:r>
                      <a:r>
                        <a:rPr lang="en-US" sz="1000" i="1"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olved/verified.</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kern="12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Record # by priority &amp; % open</a:t>
                      </a:r>
                      <a:r>
                        <a:rPr lang="en-US" sz="1000" i="1" kern="1200" baseline="30000" dirty="0">
                          <a:solidFill>
                            <a:schemeClr val="tx1"/>
                          </a:solidFill>
                          <a:effectLst/>
                          <a:latin typeface="Intel Clear" panose="020B0604020203020204" pitchFamily="34" charset="0"/>
                          <a:ea typeface="Times New Roman" panose="02020603050405020304" pitchFamily="18" charset="0"/>
                          <a:cs typeface="Verdana" panose="020B0604030504040204" pitchFamily="34" charset="0"/>
                        </a:rPr>
                        <a:t>3</a:t>
                      </a:r>
                      <a:endPar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r h="370421">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STABILITY</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Fail Rate: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Cycling &amp; Duration </a:t>
                      </a:r>
                      <a:b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b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Relevant states/flows/usages, breadth/depth)</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DPMO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2K (recommend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1K, w/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&gt;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Alpha cycles/system), HW limiters root-caused</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DPMO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500 (recommend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250, w/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&gt;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Beta cycles/system), HW limiters root-caused</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DPMO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300 (recommend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150, with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&gt;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QS cycles/system)</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DPMO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200 (recommend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100, with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&gt;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PV cycles/system)</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4</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6"/>
                  </a:ext>
                </a:extLst>
              </a:tr>
              <a:tr h="522948">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KPI</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component KPI’s within X% of target (Power, Performance, Responsiveness) at POR </a:t>
                      </a:r>
                      <a:r>
                        <a:rPr lang="en-US" sz="1000" i="1" u="none" kern="1200" normalizeH="0" baseline="0" noProof="0" dirty="0" err="1">
                          <a:solidFill>
                            <a:schemeClr val="tx1"/>
                          </a:solidFill>
                          <a:latin typeface="Intel Clear" panose="020B0604020203020204" pitchFamily="34" charset="0"/>
                          <a:ea typeface="Verdana" panose="020B0604030504040204" pitchFamily="34" charset="0"/>
                          <a:cs typeface="Verdana" panose="020B0604030504040204" pitchFamily="34" charset="0"/>
                        </a:rPr>
                        <a:t>freq</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voltage, temp conditions</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Targets ratified. All KPIs functional.</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strike="noStrik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Platform-related KPI’s </a:t>
                      </a:r>
                      <a:r>
                        <a:rPr lang="en-US" sz="1000" i="1" u="sng" strike="noStrik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strike="noStrik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50% deviation from PRQ target</a:t>
                      </a:r>
                      <a:endParaRPr lang="en-US" sz="1000" i="1" u="none" strike="sngStrik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TDP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5%, All other </a:t>
                      </a: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35% </a:t>
                      </a:r>
                      <a:b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b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deviation from PRQ target. Do not block any Platform KPI’s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5% deviation from PRQ target. Do not block any Platform KPI’s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&lt;</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5% deviation &amp; No customer visible KPI change from QS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7"/>
                  </a:ext>
                </a:extLst>
              </a:tr>
              <a:tr h="163420">
                <a:tc rowSpan="2">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COMPLIANCE</a:t>
                      </a:r>
                      <a:r>
                        <a:rPr lang="en-US" sz="1000" b="1"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Standards &amp; Cert (IEEE/industry)</a:t>
                      </a:r>
                    </a:p>
                    <a:p>
                      <a:pPr marL="0" marR="0" indent="0" algn="l" defTabSz="914400" rtl="0" eaLnBrk="1" fontAlgn="b"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and Regulatory/Ecology Compliance</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Cert plan ratified, test infra. &amp; SW Ready</a:t>
                      </a:r>
                      <a:endPar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Pre-Cert 100% attempted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Pass all internal Pre-Cert tests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interface cert requirements met</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8"/>
                  </a:ext>
                </a:extLst>
              </a:tr>
              <a:tr h="196105">
                <a:tc vMerge="1">
                  <a:txBody>
                    <a:bodyPr/>
                    <a:lstStyle/>
                    <a:p>
                      <a:pPr marL="0" marR="0" indent="0" algn="l" defTabSz="914400" rtl="0" eaLnBrk="1" fontAlgn="b" latinLnBrk="0" hangingPunct="1">
                        <a:lnSpc>
                          <a:spcPct val="100000"/>
                        </a:lnSpc>
                        <a:spcBef>
                          <a:spcPts val="0"/>
                        </a:spcBef>
                        <a:spcAft>
                          <a:spcPts val="0"/>
                        </a:spcAft>
                        <a:buClrTx/>
                        <a:buSzTx/>
                        <a:buFontTx/>
                        <a:buNone/>
                        <a:tabLst/>
                        <a:defRPr/>
                      </a:pPr>
                      <a:endPar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Reg. plan in CMAP, Initial labels/docs done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Eco. BOM assessed, Reg. prelim test done</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Eco. MRA &amp; PRLC done, Reg. test pass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MDDS, DOC, and Certs completed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extLst>
                  <a:ext uri="{0D108BD9-81ED-4DB2-BD59-A6C34878D82A}">
                    <a16:rowId xmlns:a16="http://schemas.microsoft.com/office/drawing/2014/main" val="2112523285"/>
                  </a:ext>
                </a:extLst>
              </a:tr>
              <a:tr h="381317">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VALIDATION</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Minimum FW/SW quality level,</a:t>
                      </a:r>
                    </a:p>
                    <a:p>
                      <a:pPr marL="0" marR="0" indent="0" algn="l"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Content Attempted</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5</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and % Tests Pass vs. PRQ</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BKC with code complete FW/MCU/MRC,</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≥70% PRQ Plan Attempted</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5</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 50% Pass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All BKC FW/SW </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a:t>
                      </a: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Alpha, </a:t>
                      </a: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100% PRQ Plan Attempted</a:t>
                      </a:r>
                      <a:r>
                        <a:rPr lang="en-US" sz="1000" i="1" u="none" kern="1200"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5</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 80% Pass</a:t>
                      </a:r>
                      <a:endPar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All BKC FW/SW </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a:t>
                      </a: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Beta, </a:t>
                      </a:r>
                      <a:r>
                        <a:rPr lang="en-US" sz="1000" i="1" u="sng"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99%</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Pass, </a:t>
                      </a: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Regression complete on r</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elease SKU </a:t>
                      </a:r>
                      <a:endPar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strike="noStrik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All BKC FW/SW </a:t>
                      </a:r>
                      <a:r>
                        <a:rPr lang="en-US" sz="1000" i="1" u="none"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a:t>
                      </a:r>
                      <a:r>
                        <a:rPr lang="en-US" sz="1000" i="1" strike="noStrik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Prod Candidate</a:t>
                      </a:r>
                      <a:r>
                        <a:rPr lang="en-US" sz="1000" i="1" strike="noStrik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5</a:t>
                      </a:r>
                      <a:endParaRPr lang="en-US" sz="1000" i="1" strike="sngStrik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100% Passed or dispositioned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extLst>
                  <a:ext uri="{0D108BD9-81ED-4DB2-BD59-A6C34878D82A}">
                    <a16:rowId xmlns:a16="http://schemas.microsoft.com/office/drawing/2014/main" val="10009"/>
                  </a:ext>
                </a:extLst>
              </a:tr>
              <a:tr h="305052">
                <a:tc>
                  <a:txBody>
                    <a:bodyPr/>
                    <a:lstStyle/>
                    <a:p>
                      <a:pPr marL="0" marR="0" indent="0" algn="l" defTabSz="914400" rtl="0" eaLnBrk="1" fontAlgn="b" latinLnBrk="0" hangingPunct="1">
                        <a:lnSpc>
                          <a:spcPct val="100000"/>
                        </a:lnSpc>
                        <a:spcBef>
                          <a:spcPts val="0"/>
                        </a:spcBef>
                        <a:spcAft>
                          <a:spcPts val="0"/>
                        </a:spcAft>
                        <a:buClrTx/>
                        <a:buSzTx/>
                        <a:buFontTx/>
                        <a:buNone/>
                        <a:tabLst/>
                        <a:defRPr/>
                      </a:pPr>
                      <a:r>
                        <a:rPr lang="en-US" sz="1000" b="1" i="1" u="sng"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ELECTRICAL</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Spec,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Margin, UPM, BER, Settings</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Acceptable margins at nominal, </a:t>
                      </a:r>
                      <a:b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b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Spot check done on all interfaces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Acceptable margin &amp; spec compliance across PVT</a:t>
                      </a:r>
                      <a:endParaRPr kumimoji="0" lang="en-US" sz="1000" b="0" i="1" u="none" strike="noStrike" kern="1200"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Projections ≤ target (UPM/FIT/BER), </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Final recipe/settings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No marginality changes from QS</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extLst>
                  <a:ext uri="{0D108BD9-81ED-4DB2-BD59-A6C34878D82A}">
                    <a16:rowId xmlns:a16="http://schemas.microsoft.com/office/drawing/2014/main" val="10010"/>
                  </a:ext>
                </a:extLst>
              </a:tr>
              <a:tr h="228789">
                <a:tc>
                  <a:txBody>
                    <a:bodyPr/>
                    <a:lstStyle/>
                    <a:p>
                      <a:pPr algn="l" fontAlgn="b"/>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LEGAL</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Global Tax &amp; Trade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Requirements</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Speed updated, Import/Export approved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Speed updated, Import/Export approved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Finalize classification</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Country-specific approval noted</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extLst>
                  <a:ext uri="{0D108BD9-81ED-4DB2-BD59-A6C34878D82A}">
                    <a16:rowId xmlns:a16="http://schemas.microsoft.com/office/drawing/2014/main" val="10011"/>
                  </a:ext>
                </a:extLst>
              </a:tr>
              <a:tr h="370421">
                <a:tc>
                  <a:txBody>
                    <a:bodyPr/>
                    <a:lstStyle/>
                    <a:p>
                      <a:pPr algn="l" fontAlgn="b"/>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SECURITY</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SDL Lifecycle, Scan &amp; Settings Verification</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algn="ct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S3 done and updated in SDL tool. All IPAS &amp; patch space </a:t>
                      </a:r>
                      <a:r>
                        <a:rPr lang="en-US" sz="1000" i="1" u="none" normalizeH="0" baseline="0" noProof="0" dirty="0" err="1">
                          <a:solidFill>
                            <a:schemeClr val="tx1"/>
                          </a:solidFill>
                          <a:latin typeface="Intel Clear" panose="020B0604020203020204" pitchFamily="34" charset="0"/>
                          <a:ea typeface="Verdana" panose="020B0604030504040204" pitchFamily="34" charset="0"/>
                          <a:cs typeface="Verdana" panose="020B0604030504040204" pitchFamily="34" charset="0"/>
                        </a:rPr>
                        <a:t>reqs</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met</a:t>
                      </a:r>
                      <a:r>
                        <a:rPr lang="en-US" sz="1000" i="1" u="non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algn="ct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Prod fuse/settings defined and tested. All IPAS &amp; patch space </a:t>
                      </a:r>
                      <a:r>
                        <a:rPr lang="en-US" sz="1000" i="1" u="none" normalizeH="0" baseline="0" noProof="0" dirty="0" err="1">
                          <a:solidFill>
                            <a:schemeClr val="tx1"/>
                          </a:solidFill>
                          <a:latin typeface="Intel Clear" panose="020B0604020203020204" pitchFamily="34" charset="0"/>
                          <a:ea typeface="Verdana" panose="020B0604030504040204" pitchFamily="34" charset="0"/>
                          <a:cs typeface="Verdana" panose="020B0604030504040204" pitchFamily="34" charset="0"/>
                        </a:rPr>
                        <a:t>reqs</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met</a:t>
                      </a:r>
                      <a:r>
                        <a:rPr lang="en-US" sz="1000" i="1" u="non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6</a:t>
                      </a:r>
                      <a:endPar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algn="ct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S4 done and updated in SDL tool. All IPAS &amp; patch space </a:t>
                      </a:r>
                      <a:r>
                        <a:rPr lang="en-US" sz="1000" i="1" u="none" normalizeH="0" baseline="0" noProof="0" dirty="0" err="1">
                          <a:solidFill>
                            <a:schemeClr val="tx1"/>
                          </a:solidFill>
                          <a:latin typeface="Intel Clear" panose="020B0604020203020204" pitchFamily="34" charset="0"/>
                          <a:ea typeface="Verdana" panose="020B0604030504040204" pitchFamily="34" charset="0"/>
                          <a:cs typeface="Verdana" panose="020B0604030504040204" pitchFamily="34" charset="0"/>
                        </a:rPr>
                        <a:t>reqs</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met</a:t>
                      </a:r>
                      <a:r>
                        <a:rPr lang="en-US" sz="1000" i="1" u="non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6</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algn="ct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S5 done &amp; updated in SDL tool. All IPAS &amp; patch space </a:t>
                      </a:r>
                      <a:r>
                        <a:rPr lang="en-US" sz="1000" i="1" u="none" normalizeH="0" baseline="0" noProof="0" dirty="0" err="1">
                          <a:solidFill>
                            <a:schemeClr val="tx1"/>
                          </a:solidFill>
                          <a:latin typeface="Intel Clear" panose="020B0604020203020204" pitchFamily="34" charset="0"/>
                          <a:ea typeface="Verdana" panose="020B0604030504040204" pitchFamily="34" charset="0"/>
                          <a:cs typeface="Verdana" panose="020B0604030504040204" pitchFamily="34" charset="0"/>
                        </a:rPr>
                        <a:t>reqs</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met</a:t>
                      </a:r>
                      <a:r>
                        <a:rPr lang="en-US" sz="1000" i="1" u="non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6</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endParaRPr lang="en-US" sz="1000" i="1" u="none" normalizeH="0" baseline="3000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extLst>
                  <a:ext uri="{0D108BD9-81ED-4DB2-BD59-A6C34878D82A}">
                    <a16:rowId xmlns:a16="http://schemas.microsoft.com/office/drawing/2014/main" val="10012"/>
                  </a:ext>
                </a:extLst>
              </a:tr>
              <a:tr h="675475">
                <a:tc>
                  <a:txBody>
                    <a:bodyPr/>
                    <a:lstStyle/>
                    <a:p>
                      <a:pPr algn="l" fontAlgn="b"/>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MANUFACTURING QUALITY</a:t>
                      </a:r>
                      <a:r>
                        <a:rPr lang="en-US" sz="1000" b="1" i="1"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PHI (Tester Coverage and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Assembly quality), Process </a:t>
                      </a:r>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Health (RISO), DPM, TDP &amp; Operating Conditions (Volt/Temp/Freq.)</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PRQ PHI &amp; RISO goals ratified, </a:t>
                      </a:r>
                      <a:r>
                        <a:rPr lang="en-US" sz="1000" i="1" kern="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Test/screen in place with</a:t>
                      </a:r>
                      <a:r>
                        <a:rPr lang="en-US" sz="1000" i="1" kern="1200" baseline="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i="1" kern="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100% breadth @ kill</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p>
                    <a:p>
                      <a:pPr marL="0" marR="0" algn="ctr">
                        <a:spcBef>
                          <a:spcPts val="0"/>
                        </a:spcBef>
                        <a:spcAft>
                          <a:spcPts val="0"/>
                        </a:spcAft>
                      </a:pPr>
                      <a:r>
                        <a:rPr lang="en-US" sz="1000" i="1" u="sng"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&lt;</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50K Outgoing DPM</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p>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Any POR </a:t>
                      </a:r>
                      <a:r>
                        <a:rPr lang="en-US" sz="1000" i="1" dirty="0" err="1">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freq</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&amp; TDP combo, Nominal V/T</a:t>
                      </a:r>
                      <a:endParaRPr lang="en-US" sz="1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PHI &amp; RISO on track, Test/screen</a:t>
                      </a:r>
                      <a:r>
                        <a:rPr lang="en-US" sz="1000" i="1" baseline="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with 100% depth @ kill, </a:t>
                      </a:r>
                      <a:r>
                        <a:rPr lang="en-US" sz="1000" i="1" u="sng"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&lt;</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10K</a:t>
                      </a:r>
                      <a:r>
                        <a:rPr lang="en-US" sz="1000" b="1"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Outgoing</a:t>
                      </a:r>
                      <a:r>
                        <a:rPr lang="en-US" sz="1000" b="1"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DPM</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Non-Turbo frequency in POR range &amp; available across all TTM TDPs</a:t>
                      </a:r>
                      <a:endParaRPr lang="en-US" sz="1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Meet QS PHI goals &amp; RISO target,</a:t>
                      </a:r>
                      <a:endParaRPr lang="en-US" sz="1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p>
                      <a:pPr marL="0" marR="0" algn="ctr">
                        <a:spcBef>
                          <a:spcPts val="0"/>
                        </a:spcBef>
                        <a:spcAft>
                          <a:spcPts val="0"/>
                        </a:spcAft>
                      </a:pPr>
                      <a:r>
                        <a:rPr lang="en-US" sz="1000" i="1" u="sng"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&lt;</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2K Outgoing</a:t>
                      </a:r>
                      <a:r>
                        <a:rPr lang="en-US" sz="1000" b="1"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DPM &amp; Identify P</a:t>
                      </a:r>
                      <a:r>
                        <a:rPr lang="en-US" sz="1000" b="0" i="1" kern="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RQ gaps </a:t>
                      </a:r>
                      <a:endPar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Max Frequency per TDP, V/T meets spec</a:t>
                      </a:r>
                    </a:p>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PRQ screen capacity analysis completed</a:t>
                      </a:r>
                      <a:endParaRPr lang="en-US" sz="1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Meet PRQ PHI Goals &amp; RISO target, </a:t>
                      </a:r>
                      <a:r>
                        <a:rPr lang="en-US" sz="1000" i="1" u="sng"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&lt;</a:t>
                      </a: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 </a:t>
                      </a:r>
                      <a:r>
                        <a:rPr lang="en-US" sz="1000" b="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500 Outgoing DPM</a:t>
                      </a:r>
                      <a:r>
                        <a:rPr lang="en-US" sz="1000" b="1" i="1" baseline="30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7</a:t>
                      </a:r>
                      <a:endParaRPr lang="en-US" sz="1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No V/T/F change from QS,</a:t>
                      </a:r>
                    </a:p>
                    <a:p>
                      <a:pPr marL="0" marR="0" algn="ctr">
                        <a:spcBef>
                          <a:spcPts val="0"/>
                        </a:spcBef>
                        <a:spcAft>
                          <a:spcPts val="0"/>
                        </a:spcAft>
                      </a:pPr>
                      <a:r>
                        <a:rPr lang="en-US" sz="1000" i="1"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ATM approves screening capacity</a:t>
                      </a:r>
                      <a:endParaRPr lang="en-US" sz="10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9525" marR="9525" marT="9525"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extLst>
                  <a:ext uri="{0D108BD9-81ED-4DB2-BD59-A6C34878D82A}">
                    <a16:rowId xmlns:a16="http://schemas.microsoft.com/office/drawing/2014/main" val="10013"/>
                  </a:ext>
                </a:extLst>
              </a:tr>
              <a:tr h="239684">
                <a:tc>
                  <a:txBody>
                    <a:bodyPr/>
                    <a:lstStyle/>
                    <a:p>
                      <a:pPr algn="l" fontAlgn="b"/>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RELIABILITY</a:t>
                      </a: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Early Life &amp; End of Life Failure Rate</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8</a:t>
                      </a:r>
                      <a:endParaRPr lang="en-US" sz="1000" i="1" u="none"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&lt; 50K DPM 30-day failure rate</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8</a:t>
                      </a:r>
                      <a:endPar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&lt; 10K DPM 30-day failure rate</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8</a:t>
                      </a:r>
                      <a:endPar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&lt; 2K DPM 30-day &amp; Meet QS EOL</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8</a:t>
                      </a:r>
                      <a:endPar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&lt; 800 DPM 30-day &amp; Meet EOL</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8</a:t>
                      </a:r>
                      <a:endParaRPr kumimoji="0" lang="en-US" sz="1000" b="0" i="1" u="none" strike="noStrike"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endParaRP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extLst>
                  <a:ext uri="{0D108BD9-81ED-4DB2-BD59-A6C34878D82A}">
                    <a16:rowId xmlns:a16="http://schemas.microsoft.com/office/drawing/2014/main" val="10014"/>
                  </a:ext>
                </a:extLst>
              </a:tr>
              <a:tr h="370421">
                <a:tc>
                  <a:txBody>
                    <a:bodyPr/>
                    <a:lstStyle/>
                    <a:p>
                      <a:pPr algn="l" fontAlgn="b"/>
                      <a:r>
                        <a:rPr lang="en-US" sz="1000" b="1" i="1" u="sng"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CUSTOMER READINESS: </a:t>
                      </a:r>
                    </a:p>
                    <a:p>
                      <a:pPr algn="l" fontAlgn="b"/>
                      <a:r>
                        <a:rPr lang="en-US" sz="1000" i="1" u="none"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Package/Module &amp; SMT Line Cert</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algn="ctr" rtl="0"/>
                      <a:r>
                        <a:rPr kumimoji="0" lang="en-US" sz="1000" b="0" i="1" u="none" strike="noStrike" kern="1200" cap="none" normalizeH="0" baseline="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Package MAS Rev 1.0 published,</a:t>
                      </a:r>
                    </a:p>
                    <a:p>
                      <a:pPr algn="ctr" rtl="0"/>
                      <a:r>
                        <a:rPr kumimoji="0" lang="en-US" sz="1000" b="0" i="1" u="none" strike="noStrike" kern="1200" cap="none" normalizeH="0" baseline="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SMT line piloted Internally</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Customer SMT and design feedback incorporated</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algn="ctr" rtl="0"/>
                      <a:r>
                        <a:rPr kumimoji="0" lang="en-US" sz="1000" b="0" i="1" u="none" strike="noStrike" kern="1200" cap="none" normalizeH="0" baseline="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Package MAS Rev 2.0 published </a:t>
                      </a:r>
                    </a:p>
                    <a:p>
                      <a:pPr algn="ctr" rtl="0"/>
                      <a:r>
                        <a:rPr kumimoji="0" lang="en-US" sz="1000" b="0" i="1" u="none" strike="noStrike" kern="1200" cap="none" normalizeH="0" baseline="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Overall SMT yield target met</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normalizeH="0" baseline="0" noProof="0" dirty="0">
                          <a:ln>
                            <a:noFill/>
                          </a:ln>
                          <a:solidFill>
                            <a:schemeClr val="tx1"/>
                          </a:solidFill>
                          <a:effectLst/>
                          <a:latin typeface="Intel Clear" panose="020B0604020203020204" pitchFamily="34" charset="0"/>
                          <a:ea typeface="Verdana" panose="020B0604030504040204" pitchFamily="34" charset="0"/>
                          <a:cs typeface="Verdana" panose="020B0604030504040204" pitchFamily="34" charset="0"/>
                        </a:rPr>
                        <a:t>Package/Module Cert Complete</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D0D8E8"/>
                    </a:solidFill>
                  </a:tcPr>
                </a:tc>
                <a:extLst>
                  <a:ext uri="{0D108BD9-81ED-4DB2-BD59-A6C34878D82A}">
                    <a16:rowId xmlns:a16="http://schemas.microsoft.com/office/drawing/2014/main" val="10015"/>
                  </a:ext>
                </a:extLst>
              </a:tr>
              <a:tr h="228789">
                <a:tc>
                  <a:txBody>
                    <a:bodyPr/>
                    <a:lstStyle/>
                    <a:p>
                      <a:pPr marL="0" algn="l" defTabSz="914400" rtl="0" eaLnBrk="1" fontAlgn="b" latinLnBrk="0" hangingPunct="1"/>
                      <a:r>
                        <a:rPr lang="en-US" sz="1000" b="1" i="1" u="sng" kern="1200" normalizeH="0" baseline="0" noProof="0" dirty="0">
                          <a:solidFill>
                            <a:schemeClr val="tx1"/>
                          </a:solidFill>
                          <a:latin typeface="Intel Clear" panose="020B0604020203020204" pitchFamily="34" charset="0"/>
                          <a:ea typeface="Verdana" panose="020B0604030504040204" pitchFamily="34" charset="0"/>
                          <a:cs typeface="Verdana" panose="020B0604030504040204" pitchFamily="34" charset="0"/>
                        </a:rPr>
                        <a:t>INTEGRATED PLATFORM:</a:t>
                      </a:r>
                    </a:p>
                  </a:txBody>
                  <a:tcPr marL="45720" marR="45720" marT="36576" marB="36576"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gridSpan="4">
                  <a:txBody>
                    <a:bodyPr/>
                    <a:lstStyle/>
                    <a:p>
                      <a:pPr algn="ctr" rtl="0"/>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Review and disposition component-related defects from latest platform BKC validation using milestone FW/MCU/MRC.</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 </a:t>
                      </a:r>
                      <a:r>
                        <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rPr>
                        <a:t>Platform milestone-gating issues resolved</a:t>
                      </a:r>
                      <a:r>
                        <a:rPr lang="en-US" sz="1000" i="1" u="none" kern="1200" normalizeH="0" baseline="30000" dirty="0">
                          <a:solidFill>
                            <a:schemeClr val="tx1"/>
                          </a:solidFill>
                          <a:latin typeface="Intel Clear" panose="020B0604020203020204" pitchFamily="34" charset="0"/>
                          <a:ea typeface="Verdana" panose="020B0604030504040204" pitchFamily="34" charset="0"/>
                          <a:cs typeface="Verdana" panose="020B0604030504040204" pitchFamily="34" charset="0"/>
                        </a:rPr>
                        <a:t>9</a:t>
                      </a:r>
                    </a:p>
                  </a:txBody>
                  <a:tcPr marL="0" marR="0" marT="0" marB="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9EDF4"/>
                    </a:solidFill>
                  </a:tcPr>
                </a:tc>
                <a:tc hMerge="1">
                  <a:txBody>
                    <a:bodyPr/>
                    <a:lstStyle/>
                    <a:p>
                      <a:pPr algn="ctr" rtl="0"/>
                      <a:endPar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algn="ctr" rtl="0"/>
                      <a:endParaRPr lang="en-US" sz="1000" i="1" u="none" kern="1200" normalizeH="0" baseline="0" dirty="0">
                        <a:solidFill>
                          <a:schemeClr val="tx1"/>
                        </a:solidFill>
                        <a:latin typeface="Intel Clear" panose="020B0604020203020204" pitchFamily="34" charset="0"/>
                        <a:ea typeface="Verdana" panose="020B0604030504040204" pitchFamily="34" charset="0"/>
                        <a:cs typeface="Verdana" panose="020B0604030504040204" pitchFamily="34" charset="0"/>
                      </a:endParaRPr>
                    </a:p>
                  </a:txBody>
                  <a:tcPr marL="45720" marR="45720" anchor="ctr">
                    <a:lnL w="12700" cap="flat" cmpd="sng" algn="ctr">
                      <a:solidFill>
                        <a:schemeClr val="tx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16"/>
                  </a:ext>
                </a:extLst>
              </a:tr>
            </a:tbl>
          </a:graphicData>
        </a:graphic>
      </p:graphicFrame>
      <p:sp>
        <p:nvSpPr>
          <p:cNvPr id="7" name="Right Arrow 6">
            <a:hlinkClick r:id="" action="ppaction://noaction"/>
          </p:cNvPr>
          <p:cNvSpPr/>
          <p:nvPr/>
        </p:nvSpPr>
        <p:spPr>
          <a:xfrm>
            <a:off x="2819400" y="628476"/>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ight Arrow 7">
            <a:hlinkClick r:id="" action="ppaction://noaction"/>
          </p:cNvPr>
          <p:cNvSpPr/>
          <p:nvPr/>
        </p:nvSpPr>
        <p:spPr>
          <a:xfrm>
            <a:off x="2819400" y="1104267"/>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9" name="Right Arrow 8">
            <a:hlinkClick r:id="" action="ppaction://noaction"/>
          </p:cNvPr>
          <p:cNvSpPr/>
          <p:nvPr/>
        </p:nvSpPr>
        <p:spPr>
          <a:xfrm>
            <a:off x="2841171" y="1553529"/>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ight Arrow 10">
            <a:hlinkClick r:id="" action="ppaction://noaction"/>
          </p:cNvPr>
          <p:cNvSpPr/>
          <p:nvPr/>
        </p:nvSpPr>
        <p:spPr>
          <a:xfrm>
            <a:off x="2837544" y="2023173"/>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2" name="Right Arrow 11">
            <a:hlinkClick r:id="" action="ppaction://noaction"/>
          </p:cNvPr>
          <p:cNvSpPr/>
          <p:nvPr/>
        </p:nvSpPr>
        <p:spPr>
          <a:xfrm>
            <a:off x="2819400" y="2891605"/>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4" name="Right Arrow 13">
            <a:hlinkClick r:id="" action="ppaction://noaction"/>
          </p:cNvPr>
          <p:cNvSpPr/>
          <p:nvPr/>
        </p:nvSpPr>
        <p:spPr>
          <a:xfrm>
            <a:off x="2819400" y="3310036"/>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5" name="Right Arrow 14">
            <a:hlinkClick r:id="" action="ppaction://noaction"/>
          </p:cNvPr>
          <p:cNvSpPr/>
          <p:nvPr/>
        </p:nvSpPr>
        <p:spPr>
          <a:xfrm>
            <a:off x="2819400" y="3849230"/>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6" name="Right Arrow 15">
            <a:hlinkClick r:id="" action="ppaction://noaction"/>
          </p:cNvPr>
          <p:cNvSpPr/>
          <p:nvPr/>
        </p:nvSpPr>
        <p:spPr>
          <a:xfrm>
            <a:off x="2819400" y="4230424"/>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7" name="Right Arrow 16">
            <a:hlinkClick r:id="" action="ppaction://noaction"/>
          </p:cNvPr>
          <p:cNvSpPr/>
          <p:nvPr/>
        </p:nvSpPr>
        <p:spPr>
          <a:xfrm>
            <a:off x="2819400" y="4515889"/>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Right Arrow 17">
            <a:hlinkClick r:id="" action="ppaction://noaction"/>
          </p:cNvPr>
          <p:cNvSpPr/>
          <p:nvPr/>
        </p:nvSpPr>
        <p:spPr>
          <a:xfrm>
            <a:off x="2819400" y="4824944"/>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19" name="Right Arrow 18">
            <a:hlinkClick r:id="" action="ppaction://noaction"/>
          </p:cNvPr>
          <p:cNvSpPr/>
          <p:nvPr/>
        </p:nvSpPr>
        <p:spPr>
          <a:xfrm>
            <a:off x="2812143" y="2476213"/>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0" name="Right Arrow 19">
            <a:hlinkClick r:id="" action="ppaction://noaction"/>
          </p:cNvPr>
          <p:cNvSpPr/>
          <p:nvPr/>
        </p:nvSpPr>
        <p:spPr>
          <a:xfrm>
            <a:off x="2819400" y="5376935"/>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1" name="Right Arrow 20">
            <a:hlinkClick r:id="" action="ppaction://noaction"/>
          </p:cNvPr>
          <p:cNvSpPr/>
          <p:nvPr/>
        </p:nvSpPr>
        <p:spPr>
          <a:xfrm>
            <a:off x="2819400" y="6086371"/>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2" name="Right Arrow 21">
            <a:hlinkClick r:id="" action="ppaction://noaction"/>
          </p:cNvPr>
          <p:cNvSpPr/>
          <p:nvPr/>
        </p:nvSpPr>
        <p:spPr>
          <a:xfrm>
            <a:off x="2819400" y="6368706"/>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3" name="Right Arrow 22">
            <a:hlinkClick r:id="" action="ppaction://noaction"/>
          </p:cNvPr>
          <p:cNvSpPr/>
          <p:nvPr/>
        </p:nvSpPr>
        <p:spPr>
          <a:xfrm>
            <a:off x="2819400" y="5774422"/>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4" name="Right Arrow 23">
            <a:hlinkClick r:id="" action="ppaction://noaction"/>
          </p:cNvPr>
          <p:cNvSpPr/>
          <p:nvPr/>
        </p:nvSpPr>
        <p:spPr>
          <a:xfrm>
            <a:off x="2819400" y="3601041"/>
            <a:ext cx="152400" cy="1524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a:ea typeface="+mn-ea"/>
              <a:cs typeface="+mn-cs"/>
            </a:endParaRPr>
          </a:p>
        </p:txBody>
      </p:sp>
      <p:sp>
        <p:nvSpPr>
          <p:cNvPr id="2" name="Rectangle 1">
            <a:extLst>
              <a:ext uri="{FF2B5EF4-FFF2-40B4-BE49-F238E27FC236}">
                <a16:creationId xmlns:a16="http://schemas.microsoft.com/office/drawing/2014/main" id="{F868C3AD-5780-494B-87D2-0BAFB79EE284}"/>
              </a:ext>
            </a:extLst>
          </p:cNvPr>
          <p:cNvSpPr/>
          <p:nvPr/>
        </p:nvSpPr>
        <p:spPr>
          <a:xfrm>
            <a:off x="-10160" y="4157785"/>
            <a:ext cx="12202160" cy="383541"/>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5C8F5A38-D82F-4019-9F7A-22A2466E7963}"/>
              </a:ext>
            </a:extLst>
          </p:cNvPr>
          <p:cNvSpPr/>
          <p:nvPr/>
        </p:nvSpPr>
        <p:spPr>
          <a:xfrm>
            <a:off x="-20320" y="5131848"/>
            <a:ext cx="12202160" cy="661269"/>
          </a:xfrm>
          <a:prstGeom prst="rect">
            <a:avLst/>
          </a:prstGeom>
          <a:noFill/>
          <a:ln>
            <a:solidFill>
              <a:srgbClr val="92D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16945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E87B5D-3BB3-498C-A422-E91711DA4C20}"/>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03B68232-7B8A-4E60-B700-6D3BBF3CA069}"/>
              </a:ext>
            </a:extLst>
          </p:cNvPr>
          <p:cNvSpPr>
            <a:spLocks noGrp="1"/>
          </p:cNvSpPr>
          <p:nvPr>
            <p:ph type="subTitle" idx="1"/>
          </p:nvPr>
        </p:nvSpPr>
        <p:spPr/>
        <p:txBody>
          <a:bodyPr/>
          <a:lstStyle/>
          <a:p>
            <a:endParaRPr lang="en-US"/>
          </a:p>
        </p:txBody>
      </p:sp>
      <p:pic>
        <p:nvPicPr>
          <p:cNvPr id="5" name="Picture 4">
            <a:extLst>
              <a:ext uri="{FF2B5EF4-FFF2-40B4-BE49-F238E27FC236}">
                <a16:creationId xmlns:a16="http://schemas.microsoft.com/office/drawing/2014/main" id="{EA031FCE-D4EE-436A-9ADC-328F06E49100}"/>
              </a:ext>
            </a:extLst>
          </p:cNvPr>
          <p:cNvPicPr>
            <a:picLocks noChangeAspect="1"/>
          </p:cNvPicPr>
          <p:nvPr/>
        </p:nvPicPr>
        <p:blipFill>
          <a:blip r:embed="rId2"/>
          <a:stretch>
            <a:fillRect/>
          </a:stretch>
        </p:blipFill>
        <p:spPr>
          <a:xfrm>
            <a:off x="122991" y="66205"/>
            <a:ext cx="11946017" cy="6725589"/>
          </a:xfrm>
          <a:prstGeom prst="rect">
            <a:avLst/>
          </a:prstGeom>
        </p:spPr>
      </p:pic>
    </p:spTree>
    <p:extLst>
      <p:ext uri="{BB962C8B-B14F-4D97-AF65-F5344CB8AC3E}">
        <p14:creationId xmlns:p14="http://schemas.microsoft.com/office/powerpoint/2010/main" val="1426488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3_BasicWhite">
  <a:themeElements>
    <a:clrScheme name="Custom 71">
      <a:dk1>
        <a:srgbClr val="000000"/>
      </a:dk1>
      <a:lt1>
        <a:srgbClr val="FFFFFF"/>
      </a:lt1>
      <a:dk2>
        <a:srgbClr val="004A86"/>
      </a:dk2>
      <a:lt2>
        <a:srgbClr val="525252"/>
      </a:lt2>
      <a:accent1>
        <a:srgbClr val="0068B5"/>
      </a:accent1>
      <a:accent2>
        <a:srgbClr val="E96115"/>
      </a:accent2>
      <a:accent3>
        <a:srgbClr val="EDB200"/>
      </a:accent3>
      <a:accent4>
        <a:srgbClr val="00C7FD"/>
      </a:accent4>
      <a:accent5>
        <a:srgbClr val="8F5DA2"/>
      </a:accent5>
      <a:accent6>
        <a:srgbClr val="8BAE46"/>
      </a:accent6>
      <a:hlink>
        <a:srgbClr val="00C7FD"/>
      </a:hlink>
      <a:folHlink>
        <a:srgbClr val="00C7FD"/>
      </a:folHlink>
    </a:clrScheme>
    <a:fontScheme name="Intel 2020">
      <a:majorFont>
        <a:latin typeface="IntelOne Display Regular"/>
        <a:ea typeface="Helvetica Neue"/>
        <a:cs typeface="Helvetica Neue"/>
      </a:majorFont>
      <a:minorFont>
        <a:latin typeface="IntelOne Display Light"/>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a:miter lim="400000"/>
        </a:ln>
      </a:spPr>
      <a:bodyPr lIns="0" tIns="0" rIns="0" bIns="0" anchor="ctr"/>
      <a:lstStyle>
        <a:defPPr algn="ctr" defTabSz="412750">
          <a:lnSpc>
            <a:spcPct val="100000"/>
          </a:lnSpc>
          <a:spcBef>
            <a:spcPts val="0"/>
          </a:spcBef>
          <a:defRPr sz="1600" dirty="0">
            <a:solidFill>
              <a:srgbClr val="FFFFFF"/>
            </a:solidFill>
            <a:latin typeface="+mj-lt"/>
            <a:ea typeface="Helvetica Neue Medium"/>
            <a:cs typeface="Helvetica Neue Medium"/>
            <a:sym typeface="Helvetica Neue Medium"/>
          </a:defRPr>
        </a:defPPr>
      </a:lst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MPE Presentation Template September 2021" id="{D8ED73F2-F324-457F-A173-A0A241669F9A}" vid="{648F5F7C-A8CA-4F5D-A06B-43FB6F7D79B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A80A9FE8E47E854D92A6F31317A3C608" ma:contentTypeVersion="12" ma:contentTypeDescription="Crear nuevo documento." ma:contentTypeScope="" ma:versionID="eb3b5722278d597389bdaa75a9ca1ab8">
  <xsd:schema xmlns:xsd="http://www.w3.org/2001/XMLSchema" xmlns:xs="http://www.w3.org/2001/XMLSchema" xmlns:p="http://schemas.microsoft.com/office/2006/metadata/properties" xmlns:ns2="5f2f9a59-a684-4e9c-b66b-f410df88de15" xmlns:ns3="a6390a3d-4008-4861-b6e8-5df78f283c37" targetNamespace="http://schemas.microsoft.com/office/2006/metadata/properties" ma:root="true" ma:fieldsID="3a5f8401c466b18c74bbbb619c95bca2" ns2:_="" ns3:_="">
    <xsd:import namespace="5f2f9a59-a684-4e9c-b66b-f410df88de15"/>
    <xsd:import namespace="a6390a3d-4008-4861-b6e8-5df78f283c37"/>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2f9a59-a684-4e9c-b66b-f410df88de1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MediaServiceSearchProperties" ma:index="18" nillable="true" ma:displayName="MediaServiceSearchProperties" ma:hidden="true" ma:internalName="MediaServiceSearchProperties" ma:readOnly="true">
      <xsd:simpleType>
        <xsd:restriction base="dms:Note"/>
      </xsd:simpleType>
    </xsd:element>
    <xsd:element name="MediaLengthInSeconds" ma:index="19"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a6390a3d-4008-4861-b6e8-5df78f283c37" elementFormDefault="qualified">
    <xsd:import namespace="http://schemas.microsoft.com/office/2006/documentManagement/types"/>
    <xsd:import namespace="http://schemas.microsoft.com/office/infopath/2007/PartnerControls"/>
    <xsd:element name="SharedWithUsers" ma:index="15"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les de uso compartido"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70F55ED9-760B-4589-B5CA-ECDF788B8880}"/>
</file>

<file path=customXml/itemProps2.xml><?xml version="1.0" encoding="utf-8"?>
<ds:datastoreItem xmlns:ds="http://schemas.openxmlformats.org/officeDocument/2006/customXml" ds:itemID="{C4B76AB3-8C5A-401D-9835-0760C30EF5ED}"/>
</file>

<file path=customXml/itemProps3.xml><?xml version="1.0" encoding="utf-8"?>
<ds:datastoreItem xmlns:ds="http://schemas.openxmlformats.org/officeDocument/2006/customXml" ds:itemID="{05AE24A8-502D-4353-8EED-A40C6E275409}"/>
</file>

<file path=docProps/app.xml><?xml version="1.0" encoding="utf-8"?>
<Properties xmlns="http://schemas.openxmlformats.org/officeDocument/2006/extended-properties" xmlns:vt="http://schemas.openxmlformats.org/officeDocument/2006/docPropsVTypes">
  <TotalTime>38</TotalTime>
  <Words>2995</Words>
  <Application>Microsoft Office PowerPoint</Application>
  <PresentationFormat>Widescreen</PresentationFormat>
  <Paragraphs>321</Paragraphs>
  <Slides>7</Slides>
  <Notes>4</Notes>
  <HiddenSlides>0</HiddenSlides>
  <MMClips>0</MMClips>
  <ScaleCrop>false</ScaleCrop>
  <HeadingPairs>
    <vt:vector size="8" baseType="variant">
      <vt:variant>
        <vt:lpstr>Fonts Used</vt:lpstr>
      </vt:variant>
      <vt:variant>
        <vt:i4>11</vt:i4>
      </vt:variant>
      <vt:variant>
        <vt:lpstr>Theme</vt:lpstr>
      </vt:variant>
      <vt:variant>
        <vt:i4>3</vt:i4>
      </vt:variant>
      <vt:variant>
        <vt:lpstr>Embedded OLE Servers</vt:lpstr>
      </vt:variant>
      <vt:variant>
        <vt:i4>1</vt:i4>
      </vt:variant>
      <vt:variant>
        <vt:lpstr>Slide Titles</vt:lpstr>
      </vt:variant>
      <vt:variant>
        <vt:i4>7</vt:i4>
      </vt:variant>
    </vt:vector>
  </HeadingPairs>
  <TitlesOfParts>
    <vt:vector size="22" baseType="lpstr">
      <vt:lpstr>Arial</vt:lpstr>
      <vt:lpstr>Calibri</vt:lpstr>
      <vt:lpstr>Calibri Light</vt:lpstr>
      <vt:lpstr>Helvetica</vt:lpstr>
      <vt:lpstr>Helvetica Neue Medium</vt:lpstr>
      <vt:lpstr>Intel Clear</vt:lpstr>
      <vt:lpstr>IntelOne Display Light</vt:lpstr>
      <vt:lpstr>IntelOne Display Regular</vt:lpstr>
      <vt:lpstr>IntelOne Text</vt:lpstr>
      <vt:lpstr>Verdana</vt:lpstr>
      <vt:lpstr>Wingdings</vt:lpstr>
      <vt:lpstr>Office Theme</vt:lpstr>
      <vt:lpstr>11_Office Theme</vt:lpstr>
      <vt:lpstr>23_BasicWhite</vt:lpstr>
      <vt:lpstr>Worksheet</vt:lpstr>
      <vt:lpstr>Pre-Si schedule</vt:lpstr>
      <vt:lpstr>MFG MPE High Level Tasks </vt:lpstr>
      <vt:lpstr>MFG MPE High Level Tasks </vt:lpstr>
      <vt:lpstr>MFG MPE High Level Tasks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Alvarez Casares, Raul</dc:creator>
  <cp:lastModifiedBy>Chinchilla Vargas, Erick</cp:lastModifiedBy>
  <cp:revision>2</cp:revision>
  <dcterms:created xsi:type="dcterms:W3CDTF">2022-02-21T14:19:27Z</dcterms:created>
  <dcterms:modified xsi:type="dcterms:W3CDTF">2022-07-04T03:56:27Z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0x010100A80A9FE8E47E854D92A6F31317A3C608</vt:lpwstr>
  </property>
</Properties>
</file>